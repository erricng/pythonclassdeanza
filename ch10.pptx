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92" r:id="rId1"/>
  </p:sldMasterIdLst>
  <p:notesMasterIdLst>
    <p:notesMasterId r:id="rId73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443" r:id="rId13"/>
    <p:sldId id="377" r:id="rId14"/>
    <p:sldId id="378" r:id="rId15"/>
    <p:sldId id="379" r:id="rId16"/>
    <p:sldId id="380" r:id="rId17"/>
    <p:sldId id="381" r:id="rId18"/>
    <p:sldId id="445" r:id="rId19"/>
    <p:sldId id="447" r:id="rId20"/>
    <p:sldId id="449" r:id="rId21"/>
    <p:sldId id="450" r:id="rId22"/>
    <p:sldId id="451" r:id="rId23"/>
    <p:sldId id="384" r:id="rId24"/>
    <p:sldId id="452" r:id="rId25"/>
    <p:sldId id="453" r:id="rId26"/>
    <p:sldId id="454" r:id="rId27"/>
    <p:sldId id="386" r:id="rId28"/>
    <p:sldId id="387" r:id="rId29"/>
    <p:sldId id="388" r:id="rId30"/>
    <p:sldId id="389" r:id="rId31"/>
    <p:sldId id="390" r:id="rId32"/>
    <p:sldId id="455" r:id="rId33"/>
    <p:sldId id="394" r:id="rId34"/>
    <p:sldId id="395" r:id="rId35"/>
    <p:sldId id="456" r:id="rId36"/>
    <p:sldId id="396" r:id="rId37"/>
    <p:sldId id="434" r:id="rId38"/>
    <p:sldId id="435" r:id="rId39"/>
    <p:sldId id="458" r:id="rId40"/>
    <p:sldId id="459" r:id="rId41"/>
    <p:sldId id="397" r:id="rId42"/>
    <p:sldId id="398" r:id="rId43"/>
    <p:sldId id="457" r:id="rId44"/>
    <p:sldId id="460" r:id="rId45"/>
    <p:sldId id="402" r:id="rId46"/>
    <p:sldId id="403" r:id="rId47"/>
    <p:sldId id="441" r:id="rId48"/>
    <p:sldId id="404" r:id="rId49"/>
    <p:sldId id="462" r:id="rId50"/>
    <p:sldId id="463" r:id="rId51"/>
    <p:sldId id="464" r:id="rId52"/>
    <p:sldId id="465" r:id="rId53"/>
    <p:sldId id="466" r:id="rId54"/>
    <p:sldId id="467" r:id="rId55"/>
    <p:sldId id="468" r:id="rId56"/>
    <p:sldId id="469" r:id="rId57"/>
    <p:sldId id="470" r:id="rId58"/>
    <p:sldId id="471" r:id="rId59"/>
    <p:sldId id="472" r:id="rId60"/>
    <p:sldId id="473" r:id="rId61"/>
    <p:sldId id="484" r:id="rId62"/>
    <p:sldId id="474" r:id="rId63"/>
    <p:sldId id="483" r:id="rId64"/>
    <p:sldId id="475" r:id="rId65"/>
    <p:sldId id="476" r:id="rId66"/>
    <p:sldId id="477" r:id="rId67"/>
    <p:sldId id="478" r:id="rId68"/>
    <p:sldId id="479" r:id="rId69"/>
    <p:sldId id="480" r:id="rId70"/>
    <p:sldId id="485" r:id="rId71"/>
    <p:sldId id="481" r:id="rId7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33CC"/>
    <a:srgbClr val="865E01"/>
    <a:srgbClr val="333333"/>
    <a:srgbClr val="9933FF"/>
    <a:srgbClr val="9966FF"/>
    <a:srgbClr val="3853A8"/>
    <a:srgbClr val="FFCC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84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3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7D2A705-F38F-44B0-A927-769803BBCEE0}" type="datetimeFigureOut">
              <a:rPr lang="en-US"/>
              <a:pPr>
                <a:defRPr/>
              </a:pPr>
              <a:t>12/28/2017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fld id="{D29D36F4-DC9E-431B-8DD7-B14DA195EE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6875792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D36F4-DC9E-431B-8DD7-B14DA195EEFA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6934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solidFill>
                  <a:srgbClr val="FFFF00"/>
                </a:solidFill>
              </a:defRPr>
            </a:lvl1pPr>
          </a:lstStyle>
          <a:p>
            <a:fld id="{812A15FB-3805-41E6-AD30-A284FF82A97D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BC810C2-70B6-4382-8314-3BDF77433AD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00518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98909" y="3442724"/>
            <a:ext cx="7543800" cy="7257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0317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E716B666-1809-4DC8-A253-EBD4141156DC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A18B9AB3-CF6F-46D9-B671-FD0008AB421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3205741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77886"/>
            <a:ext cx="7543800" cy="1647226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2F897D33-52A4-4145-8931-204C171FD47D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B5D7B3DB-A691-4704-BAE8-061CA729576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01960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="" xmlns:p14="http://schemas.microsoft.com/office/powerpoint/2010/main" val="3242717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2E9D7957-1A22-4561-B596-D80D991ED11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EAA11372-355B-4A80-8A46-617E86BBF7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0042050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DC4FC-7EDD-41F0-8AA5-AA762213A413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877DF-A9C6-45A7-95D4-F61C928A26B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2381" y="6793992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="" xmlns:p14="http://schemas.microsoft.com/office/powerpoint/2010/main" val="2721316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772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8163" y="1256588"/>
            <a:ext cx="40132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56588"/>
            <a:ext cx="40132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382000" y="64008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B5D7B3DB-A691-4704-BAE8-061CA729576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538163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6F5A47F-256C-44C8-ADAA-14EEF020F015}" type="datetime1">
              <a:rPr lang="en-US" altLang="en-US" smtClean="0"/>
              <a:pPr/>
              <a:t>12/28/2017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01915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257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255006"/>
            <a:ext cx="7543801" cy="461408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fld id="{79C6F39A-8839-4205-9553-C037A6A7090B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fld id="{B5D7B3DB-A691-4704-BAE8-061CA729576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1540" y="1133688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1" y="6800964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="" xmlns:p14="http://schemas.microsoft.com/office/powerpoint/2010/main" val="203698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3" r:id="rId1"/>
    <p:sldLayoutId id="2147484194" r:id="rId2"/>
    <p:sldLayoutId id="2147484195" r:id="rId3"/>
    <p:sldLayoutId id="2147484198" r:id="rId4"/>
    <p:sldLayoutId id="2147484199" r:id="rId5"/>
    <p:sldLayoutId id="2147484205" r:id="rId6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Chapter 10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INHERITANCE</a:t>
            </a:r>
            <a:endParaRPr lang="en-US" altLang="en-US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704A-466E-4D24-95EF-BB2FCF9BA4FB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B3DB-A691-4704-BAE8-061CA729576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Chapter Goals</a:t>
            </a:r>
          </a:p>
        </p:txBody>
      </p:sp>
      <p:sp>
        <p:nvSpPr>
          <p:cNvPr id="11267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To learn about inheritance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To implement subclasses that inherit and override superclass methods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To understand the concept of polymorphism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8ECFE-F06C-4D20-ABE1-2D505AE3C893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Contents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Inheritance Hierarchies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Implementing Subclasses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Calling the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constructor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Overriding Methods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Polymorphism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Application: A geometric shape hierarchy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74083-81F1-4F03-B30B-DFF2984E8E91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832"/>
          <a:stretch>
            <a:fillRect/>
          </a:stretch>
        </p:blipFill>
        <p:spPr bwMode="auto">
          <a:xfrm>
            <a:off x="6553200" y="1524000"/>
            <a:ext cx="1725613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itchFamily="34" charset="-128"/>
              </a:rPr>
              <a:t>Inheritance Hierarchies</a:t>
            </a:r>
          </a:p>
        </p:txBody>
      </p:sp>
      <p:sp>
        <p:nvSpPr>
          <p:cNvPr id="13316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5425441" cy="2478794"/>
          </a:xfrm>
        </p:spPr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In object-oriented programming, inheritance is a relationship between:</a:t>
            </a:r>
          </a:p>
          <a:p>
            <a:pPr marL="800100" lvl="1" indent="-342900" eaLnBrk="0" hangingPunct="0">
              <a:spcBef>
                <a:spcPct val="20000"/>
              </a:spcBef>
              <a:buSzPct val="100000"/>
              <a:defRPr/>
            </a:pPr>
            <a:r>
              <a:rPr lang="en-US" kern="0" dirty="0"/>
              <a:t>A </a:t>
            </a:r>
            <a:r>
              <a:rPr lang="en-US" i="1" kern="0" dirty="0"/>
              <a:t>superclass</a:t>
            </a:r>
            <a:r>
              <a:rPr lang="en-US" kern="0" dirty="0"/>
              <a:t>:  a more generalized </a:t>
            </a:r>
            <a:r>
              <a:rPr lang="en-US" kern="0" dirty="0" smtClean="0"/>
              <a:t>class</a:t>
            </a:r>
            <a:endParaRPr lang="en-US" kern="0" dirty="0"/>
          </a:p>
          <a:p>
            <a:pPr marL="800100" lvl="1" indent="-342900" eaLnBrk="0" hangingPunct="0">
              <a:spcBef>
                <a:spcPct val="20000"/>
              </a:spcBef>
              <a:buSzPct val="100000"/>
              <a:defRPr/>
            </a:pPr>
            <a:r>
              <a:rPr lang="en-US" kern="0" dirty="0"/>
              <a:t>A </a:t>
            </a:r>
            <a:r>
              <a:rPr lang="en-US" i="1" kern="0" dirty="0"/>
              <a:t>subclass</a:t>
            </a:r>
            <a:r>
              <a:rPr lang="en-US" kern="0" dirty="0"/>
              <a:t>:  a more specialized </a:t>
            </a:r>
            <a:r>
              <a:rPr lang="en-US" kern="0" dirty="0" smtClean="0"/>
              <a:t>class</a:t>
            </a:r>
            <a:endParaRPr lang="en-US" altLang="en-US" sz="3600" dirty="0" smtClean="0">
              <a:ea typeface="ＭＳ Ｐゴシック" pitchFamily="34" charset="-128"/>
            </a:endParaRPr>
          </a:p>
          <a:p>
            <a:r>
              <a:rPr lang="en-US" altLang="en-US" dirty="0" smtClean="0">
                <a:ea typeface="ＭＳ Ｐゴシック" pitchFamily="34" charset="-128"/>
              </a:rPr>
              <a:t>The subclass </a:t>
            </a:r>
            <a:r>
              <a:rPr lang="en-US" altLang="ja-JP" dirty="0" smtClean="0">
                <a:ea typeface="ＭＳ Ｐゴシック" pitchFamily="34" charset="-128"/>
              </a:rPr>
              <a:t>‘inherits’ data (variables) and behavior (methods) from the superclass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77E1-810F-42D3-9F8E-7E8102ECD7FA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A Vehicle Class Hierarchy</a:t>
            </a:r>
          </a:p>
        </p:txBody>
      </p:sp>
      <p:sp>
        <p:nvSpPr>
          <p:cNvPr id="14339" name="Content Placeholder 9"/>
          <p:cNvSpPr>
            <a:spLocks noGrp="1"/>
          </p:cNvSpPr>
          <p:nvPr>
            <p:ph idx="1"/>
          </p:nvPr>
        </p:nvSpPr>
        <p:spPr>
          <a:xfrm>
            <a:off x="1066800" y="1489640"/>
            <a:ext cx="2819400" cy="3844360"/>
          </a:xfrm>
        </p:spPr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General</a:t>
            </a:r>
          </a:p>
          <a:p>
            <a:endParaRPr lang="en-US" altLang="en-US" dirty="0" smtClean="0">
              <a:solidFill>
                <a:srgbClr val="0033CC"/>
              </a:solidFill>
              <a:ea typeface="ＭＳ Ｐゴシック" pitchFamily="34" charset="-128"/>
            </a:endParaRPr>
          </a:p>
          <a:p>
            <a:endParaRPr lang="en-US" altLang="en-US" dirty="0" smtClean="0">
              <a:solidFill>
                <a:srgbClr val="0033CC"/>
              </a:solidFill>
              <a:ea typeface="ＭＳ Ｐゴシック" pitchFamily="34" charset="-128"/>
            </a:endParaRPr>
          </a:p>
          <a:p>
            <a:r>
              <a:rPr lang="en-US" altLang="en-US" dirty="0" smtClean="0">
                <a:ea typeface="ＭＳ Ｐゴシック" pitchFamily="34" charset="-128"/>
              </a:rPr>
              <a:t>Specialized</a:t>
            </a:r>
          </a:p>
          <a:p>
            <a:endParaRPr lang="en-US" altLang="en-US" dirty="0" smtClean="0">
              <a:ea typeface="ＭＳ Ｐゴシック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en-US" dirty="0" smtClean="0">
                <a:ea typeface="ＭＳ Ｐゴシック" pitchFamily="34" charset="-128"/>
              </a:rPr>
              <a:t>More Specific</a:t>
            </a:r>
          </a:p>
        </p:txBody>
      </p:sp>
      <p:pic>
        <p:nvPicPr>
          <p:cNvPr id="14342" name="Picture 1" descr="bjlo_ch09_vehicles.pd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371600"/>
            <a:ext cx="530383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248A-FD67-42D5-8D85-5E3B67615F77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The Substitution Principle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4968241" cy="4614088"/>
          </a:xfrm>
        </p:spPr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Since the subclass Car </a:t>
            </a:r>
            <a:r>
              <a:rPr lang="ja-JP" altLang="en-US" dirty="0" smtClean="0">
                <a:ea typeface="ＭＳ Ｐゴシック" pitchFamily="34" charset="-128"/>
              </a:rPr>
              <a:t>“</a:t>
            </a:r>
            <a:r>
              <a:rPr lang="en-US" altLang="ja-JP" b="1" dirty="0" smtClean="0">
                <a:ea typeface="ＭＳ Ｐゴシック" pitchFamily="34" charset="-128"/>
              </a:rPr>
              <a:t>is-a</a:t>
            </a:r>
            <a:r>
              <a:rPr lang="ja-JP" altLang="en-US" dirty="0" smtClean="0">
                <a:ea typeface="ＭＳ Ｐゴシック" pitchFamily="34" charset="-128"/>
              </a:rPr>
              <a:t>”</a:t>
            </a:r>
            <a:r>
              <a:rPr lang="en-US" altLang="ja-JP" dirty="0" smtClean="0">
                <a:ea typeface="ＭＳ Ｐゴシック" pitchFamily="34" charset="-128"/>
              </a:rPr>
              <a:t> Vehicle</a:t>
            </a:r>
          </a:p>
          <a:p>
            <a:pPr marL="461963" lvl="1" indent="-231775" eaLnBrk="0" hangingPunct="0">
              <a:spcBef>
                <a:spcPct val="20000"/>
              </a:spcBef>
              <a:buSzPct val="100000"/>
              <a:defRPr/>
            </a:pPr>
            <a:r>
              <a:rPr lang="en-US" kern="0" dirty="0"/>
              <a:t>Car shares common traits with Vehicle</a:t>
            </a:r>
          </a:p>
          <a:p>
            <a:pPr marL="461963" lvl="1" indent="-231775" eaLnBrk="0" hangingPunct="0">
              <a:spcBef>
                <a:spcPct val="20000"/>
              </a:spcBef>
              <a:buSzPct val="100000"/>
              <a:defRPr/>
            </a:pPr>
            <a:r>
              <a:rPr lang="en-US" kern="0" dirty="0"/>
              <a:t>You can substitute a Car object in an algorithm that expects a Vehicle </a:t>
            </a:r>
            <a:r>
              <a:rPr lang="en-US" kern="0" dirty="0" smtClean="0"/>
              <a:t>object</a:t>
            </a:r>
            <a:endParaRPr lang="en-US" kern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5F9A5-6CB6-4024-939B-00AAC534B44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15364" name="TextBox 6"/>
          <p:cNvSpPr txBox="1">
            <a:spLocks noChangeArrowheads="1"/>
          </p:cNvSpPr>
          <p:nvPr/>
        </p:nvSpPr>
        <p:spPr bwMode="auto">
          <a:xfrm>
            <a:off x="805146" y="3962573"/>
            <a:ext cx="5003866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 sz="2000" dirty="0">
                <a:cs typeface="Arial" panose="020B0604020202020204" pitchFamily="34" charset="0"/>
              </a:rPr>
              <a:t>The </a:t>
            </a:r>
            <a:r>
              <a:rPr lang="ja-JP" altLang="en-US" sz="2000" dirty="0">
                <a:cs typeface="Arial" panose="020B0604020202020204" pitchFamily="34" charset="0"/>
              </a:rPr>
              <a:t>‘</a:t>
            </a:r>
            <a:r>
              <a:rPr lang="en-US" altLang="ja-JP" sz="2000" dirty="0">
                <a:cs typeface="Arial" panose="020B0604020202020204" pitchFamily="34" charset="0"/>
              </a:rPr>
              <a:t>is-a</a:t>
            </a:r>
            <a:r>
              <a:rPr lang="ja-JP" altLang="en-US" sz="2000" dirty="0">
                <a:cs typeface="Arial" panose="020B0604020202020204" pitchFamily="34" charset="0"/>
              </a:rPr>
              <a:t>’</a:t>
            </a:r>
            <a:r>
              <a:rPr lang="en-US" altLang="ja-JP" sz="2000" dirty="0">
                <a:cs typeface="Arial" panose="020B0604020202020204" pitchFamily="34" charset="0"/>
              </a:rPr>
              <a:t> relationship is represented by an arrow in a class diagram and means that the subclass can behave as an object of the superclass.</a:t>
            </a:r>
            <a:endParaRPr lang="en-US" altLang="en-US" sz="2000" dirty="0">
              <a:cs typeface="Arial" panose="020B0604020202020204" pitchFamily="34" charset="0"/>
            </a:endParaRPr>
          </a:p>
        </p:txBody>
      </p:sp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832"/>
          <a:stretch>
            <a:fillRect/>
          </a:stretch>
        </p:blipFill>
        <p:spPr bwMode="auto">
          <a:xfrm>
            <a:off x="6172200" y="1678781"/>
            <a:ext cx="21336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467600" y="3200400"/>
            <a:ext cx="715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b="1">
                <a:cs typeface="Arial" panose="020B0604020202020204" pitchFamily="34" charset="0"/>
              </a:rPr>
              <a:t>is-a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1066800" y="2819400"/>
            <a:ext cx="4467689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myCar = Car(. . .)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processVehicle(myCar)</a:t>
            </a:r>
            <a:endParaRPr lang="en-US" b="1" kern="0" dirty="0"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667000"/>
            <a:ext cx="5445125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Quiz Question Hierarchy</a:t>
            </a:r>
          </a:p>
        </p:txBody>
      </p:sp>
      <p:sp>
        <p:nvSpPr>
          <p:cNvPr id="16391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2402594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There are different types of quiz questions: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</a:rPr>
              <a:t>1) Fill-in-the-blank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</a:rPr>
              <a:t>2) Single answer choice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</a:rPr>
              <a:t>3) Multiple answer choice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</a:rPr>
              <a:t>4) Numeric answer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</a:rPr>
              <a:t>5) Free Response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9F8C2-4B32-4E1C-856A-BF6A83ABF86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16388" name="TextBox 6"/>
          <p:cNvSpPr txBox="1">
            <a:spLocks noChangeArrowheads="1"/>
          </p:cNvSpPr>
          <p:nvPr/>
        </p:nvSpPr>
        <p:spPr bwMode="auto">
          <a:xfrm>
            <a:off x="4246562" y="2015197"/>
            <a:ext cx="3352800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  <a:cs typeface="Arial" panose="020B0604020202020204" pitchFamily="34" charset="0"/>
              </a:rPr>
              <a:t>The </a:t>
            </a:r>
            <a:r>
              <a:rPr lang="ja-JP" altLang="en-US" dirty="0">
                <a:latin typeface="+mn-lt"/>
                <a:cs typeface="Arial" panose="020B0604020202020204" pitchFamily="34" charset="0"/>
              </a:rPr>
              <a:t>‘</a:t>
            </a:r>
            <a:r>
              <a:rPr lang="en-US" altLang="ja-JP" dirty="0">
                <a:latin typeface="+mn-lt"/>
                <a:cs typeface="Arial" panose="020B0604020202020204" pitchFamily="34" charset="0"/>
              </a:rPr>
              <a:t>root</a:t>
            </a:r>
            <a:r>
              <a:rPr lang="ja-JP" altLang="en-US" dirty="0">
                <a:latin typeface="+mn-lt"/>
                <a:cs typeface="Arial" panose="020B0604020202020204" pitchFamily="34" charset="0"/>
              </a:rPr>
              <a:t>’</a:t>
            </a:r>
            <a:r>
              <a:rPr lang="en-US" altLang="ja-JP" dirty="0">
                <a:latin typeface="+mn-lt"/>
                <a:cs typeface="Arial" panose="020B0604020202020204" pitchFamily="34" charset="0"/>
              </a:rPr>
              <a:t> of the hierarchy is shown at the top.</a:t>
            </a:r>
            <a:endParaRPr lang="en-US" alt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2958" y="4778986"/>
            <a:ext cx="7543801" cy="1066486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A question can:</a:t>
            </a:r>
          </a:p>
          <a:p>
            <a:pPr lvl="1" fontAlgn="auto"/>
            <a:r>
              <a:rPr lang="en-US" altLang="en-US" dirty="0" smtClean="0">
                <a:ea typeface="ＭＳ Ｐゴシック" pitchFamily="34" charset="-128"/>
              </a:rPr>
              <a:t>Display it</a:t>
            </a:r>
            <a:r>
              <a:rPr lang="en-US" altLang="ja-JP" dirty="0" smtClean="0">
                <a:ea typeface="ＭＳ Ｐゴシック" pitchFamily="34" charset="-128"/>
              </a:rPr>
              <a:t>s text</a:t>
            </a:r>
          </a:p>
          <a:p>
            <a:pPr lvl="1" fontAlgn="auto"/>
            <a:r>
              <a:rPr lang="en-US" altLang="en-US" dirty="0" smtClean="0">
                <a:ea typeface="ＭＳ Ｐゴシック" pitchFamily="34" charset="-128"/>
              </a:rPr>
              <a:t>Check for correct answer</a:t>
            </a:r>
          </a:p>
          <a:p>
            <a:pPr lvl="1" fontAlgn="auto"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 fontAlgn="auto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 fontAlgn="auto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1143000"/>
            <a:ext cx="8164513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itchFamily="34" charset="-128"/>
                <a:cs typeface="Consolas" panose="020B0609020204030204" pitchFamily="49" charset="0"/>
              </a:rPr>
              <a:t>Questions.py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17413" name="Content Placeholder 2"/>
          <p:cNvSpPr>
            <a:spLocks noGrp="1"/>
          </p:cNvSpPr>
          <p:nvPr>
            <p:ph idx="1"/>
          </p:nvPr>
        </p:nvSpPr>
        <p:spPr>
          <a:xfrm>
            <a:off x="5867400" y="3352800"/>
            <a:ext cx="2867114" cy="14634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en-US" sz="1800" smtClean="0">
                <a:ea typeface="ＭＳ Ｐゴシック" pitchFamily="34" charset="-128"/>
              </a:rPr>
              <a:t>Only handles Strings</a:t>
            </a:r>
          </a:p>
          <a:p>
            <a:r>
              <a:rPr lang="en-US" altLang="en-US" sz="1800" smtClean="0">
                <a:ea typeface="ＭＳ Ｐゴシック" pitchFamily="34" charset="-128"/>
              </a:rPr>
              <a:t>No support for:</a:t>
            </a:r>
          </a:p>
          <a:p>
            <a:pPr lvl="1"/>
            <a:r>
              <a:rPr lang="en-US" altLang="en-US" sz="1800" smtClean="0">
                <a:ea typeface="ＭＳ Ｐゴシック" pitchFamily="34" charset="-128"/>
              </a:rPr>
              <a:t>Numeric answers</a:t>
            </a:r>
          </a:p>
          <a:p>
            <a:pPr lvl="1"/>
            <a:r>
              <a:rPr lang="en-US" altLang="en-US" sz="1800" smtClean="0">
                <a:ea typeface="ＭＳ Ｐゴシック" pitchFamily="34" charset="-128"/>
              </a:rPr>
              <a:t>Multiple answer choice</a:t>
            </a:r>
            <a:endParaRPr lang="en-US" altLang="en-US" sz="1800" dirty="0" smtClean="0">
              <a:ea typeface="ＭＳ Ｐゴシック" pitchFamily="34" charset="-128"/>
            </a:endParaRPr>
          </a:p>
        </p:txBody>
      </p:sp>
      <p:sp>
        <p:nvSpPr>
          <p:cNvPr id="17412" name="TextBox 6"/>
          <p:cNvSpPr txBox="1">
            <a:spLocks noChangeArrowheads="1"/>
          </p:cNvSpPr>
          <p:nvPr/>
        </p:nvSpPr>
        <p:spPr bwMode="auto">
          <a:xfrm>
            <a:off x="5486400" y="1981200"/>
            <a:ext cx="34290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 sz="2000" dirty="0">
                <a:cs typeface="Arial" panose="020B0604020202020204" pitchFamily="34" charset="0"/>
              </a:rPr>
              <a:t>The class 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altLang="en-US" sz="2000" dirty="0">
                <a:cs typeface="Arial" panose="020B0604020202020204" pitchFamily="34" charset="0"/>
              </a:rPr>
              <a:t> is the </a:t>
            </a:r>
            <a:r>
              <a:rPr lang="ja-JP" altLang="en-US" sz="2000" dirty="0">
                <a:cs typeface="Arial" panose="020B0604020202020204" pitchFamily="34" charset="0"/>
              </a:rPr>
              <a:t>‘</a:t>
            </a:r>
            <a:r>
              <a:rPr lang="en-US" altLang="ja-JP" sz="2000" dirty="0">
                <a:cs typeface="Arial" panose="020B0604020202020204" pitchFamily="34" charset="0"/>
              </a:rPr>
              <a:t>root</a:t>
            </a:r>
            <a:r>
              <a:rPr lang="ja-JP" altLang="en-US" sz="2000" dirty="0">
                <a:cs typeface="Arial" panose="020B0604020202020204" pitchFamily="34" charset="0"/>
              </a:rPr>
              <a:t>’</a:t>
            </a:r>
            <a:r>
              <a:rPr lang="en-US" altLang="ja-JP" sz="2000" dirty="0">
                <a:cs typeface="Arial" panose="020B0604020202020204" pitchFamily="34" charset="0"/>
              </a:rPr>
              <a:t> of the hierarchy, also known as the </a:t>
            </a:r>
            <a:r>
              <a:rPr lang="en-US" altLang="ja-JP" dirty="0">
                <a:cs typeface="Arial" panose="020B0604020202020204" pitchFamily="34" charset="0"/>
              </a:rPr>
              <a:t>superclass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8BE1-E4C8-4112-A877-23E981EE808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itchFamily="34" charset="-128"/>
                <a:cs typeface="Consolas" panose="020B0609020204030204" pitchFamily="49" charset="0"/>
              </a:rPr>
              <a:t>Questions.py</a:t>
            </a:r>
            <a:endParaRPr lang="en-US" altLang="en-US" dirty="0" smtClean="0">
              <a:latin typeface="Arial Black" panose="020B0A04020102020204" pitchFamily="34" charset="0"/>
              <a:ea typeface="ＭＳ Ｐゴシック" pitchFamily="34" charset="-128"/>
            </a:endParaRPr>
          </a:p>
        </p:txBody>
      </p:sp>
      <p:pic>
        <p:nvPicPr>
          <p:cNvPr id="18437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845"/>
          <a:stretch>
            <a:fillRect/>
          </a:stretch>
        </p:blipFill>
        <p:spPr bwMode="auto">
          <a:xfrm>
            <a:off x="762000" y="1169988"/>
            <a:ext cx="79248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ACF6C-73A6-4750-90BF-650B36A7C283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71577"/>
          <a:stretch>
            <a:fillRect/>
          </a:stretch>
        </p:blipFill>
        <p:spPr bwMode="auto">
          <a:xfrm>
            <a:off x="142875" y="1601788"/>
            <a:ext cx="7010400" cy="221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itchFamily="34" charset="-128"/>
                <a:cs typeface="Consolas" panose="020B0609020204030204" pitchFamily="49" charset="0"/>
              </a:rPr>
              <a:t>Questions.py</a:t>
            </a:r>
            <a:endParaRPr lang="en-US" altLang="en-US" dirty="0" smtClean="0">
              <a:latin typeface="Arial Black" panose="020B0A04020102020204" pitchFamily="34" charset="0"/>
              <a:ea typeface="ＭＳ Ｐゴシック" pitchFamily="34" charset="-128"/>
              <a:cs typeface="Consolas" panose="020B0609020204030204" pitchFamily="49" charset="0"/>
            </a:endParaRPr>
          </a:p>
        </p:txBody>
      </p:sp>
      <p:pic>
        <p:nvPicPr>
          <p:cNvPr id="19462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399" t="74930"/>
          <a:stretch>
            <a:fillRect/>
          </a:stretch>
        </p:blipFill>
        <p:spPr bwMode="auto">
          <a:xfrm>
            <a:off x="142875" y="4002088"/>
            <a:ext cx="6491288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963" y="1258887"/>
            <a:ext cx="3962400" cy="12096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4" name="TextBox 6"/>
          <p:cNvSpPr txBox="1">
            <a:spLocks noChangeArrowheads="1"/>
          </p:cNvSpPr>
          <p:nvPr/>
        </p:nvSpPr>
        <p:spPr bwMode="auto">
          <a:xfrm>
            <a:off x="6324600" y="3245644"/>
            <a:ext cx="2427288" cy="1323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 sz="2000" dirty="0">
                <a:cs typeface="Arial" panose="020B0604020202020204" pitchFamily="34" charset="0"/>
              </a:rPr>
              <a:t>Creates an object of the 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altLang="en-US" sz="2000" dirty="0">
                <a:cs typeface="Arial" panose="020B0604020202020204" pitchFamily="34" charset="0"/>
              </a:rPr>
              <a:t> class and uses methods.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EBB4-083D-42D1-9A2E-D17E85D86278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Programming Tip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762001" y="1255006"/>
            <a:ext cx="7604760" cy="4614088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Use a Single Class for Variation in </a:t>
            </a:r>
            <a:r>
              <a:rPr lang="en-US" altLang="en-US" i="1" dirty="0" smtClean="0">
                <a:ea typeface="ＭＳ Ｐゴシック" pitchFamily="34" charset="-128"/>
              </a:rPr>
              <a:t>Values</a:t>
            </a:r>
            <a:r>
              <a:rPr lang="en-US" altLang="en-US" dirty="0" smtClean="0">
                <a:ea typeface="ＭＳ Ｐゴシック" pitchFamily="34" charset="-128"/>
              </a:rPr>
              <a:t>, Inheritance for Variation in </a:t>
            </a:r>
            <a:r>
              <a:rPr lang="en-US" altLang="en-US" i="1" dirty="0" smtClean="0">
                <a:ea typeface="ＭＳ Ｐゴシック" pitchFamily="34" charset="-128"/>
              </a:rPr>
              <a:t>Behavior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If two vehicles only vary by fuel efficiency, use an instance variable for the variation, not inheritance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If two vehicles behave differently,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</a:rPr>
              <a:t>   use inheritance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447E7-9459-43E4-AC47-C87BCB3C9D0C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295400" y="2570603"/>
            <a:ext cx="4038600" cy="685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solidFill>
                  <a:srgbClr val="00B0F0"/>
                </a:solidFill>
                <a:latin typeface="Consolas" pitchFamily="49" charset="0"/>
              </a:rPr>
              <a:t># Car instance variable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milesPerGallon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sz="2000" kern="0" dirty="0">
              <a:solidFill>
                <a:srgbClr val="333333"/>
              </a:solidFill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sz="2000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20485" name="TextBox 6"/>
          <p:cNvSpPr txBox="1">
            <a:spLocks noChangeArrowheads="1"/>
          </p:cNvSpPr>
          <p:nvPr/>
        </p:nvSpPr>
        <p:spPr bwMode="auto">
          <a:xfrm>
            <a:off x="914400" y="4572000"/>
            <a:ext cx="37338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 sz="2000" i="1" dirty="0">
                <a:cs typeface="Arial" panose="020B0604020202020204" pitchFamily="34" charset="0"/>
              </a:rPr>
              <a:t>Be careful not to over-use inheritance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876800" y="3124200"/>
            <a:ext cx="3300413" cy="2344737"/>
            <a:chOff x="5715000" y="3598863"/>
            <a:chExt cx="3300413" cy="2344737"/>
          </a:xfrm>
        </p:grpSpPr>
        <p:pic>
          <p:nvPicPr>
            <p:cNvPr id="20488" name="Picture 2" descr="bjlo_ch09_vehicles2.pdf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4495800"/>
              <a:ext cx="3300413" cy="144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89" name="Picture 1" descr="bjlo_ch09_car2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3598863"/>
              <a:ext cx="1066800" cy="871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The Cosmic Superclass: </a:t>
            </a:r>
            <a:r>
              <a:rPr lang="en-US" altLang="en-US" sz="3600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object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In Python, every class that is declared without an explicit superclass automatically extends the class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object</a:t>
            </a:r>
            <a:endParaRPr lang="en-US" altLang="en-US" sz="1800" dirty="0" smtClean="0">
              <a:ea typeface="ＭＳ Ｐゴシック" pitchFamily="34" charset="-128"/>
            </a:endParaRPr>
          </a:p>
        </p:txBody>
      </p:sp>
      <p:pic>
        <p:nvPicPr>
          <p:cNvPr id="215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18" y="2057400"/>
            <a:ext cx="7315200" cy="344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BB41E-3D26-4FFA-810B-314694592F8E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Inheriting from the Superclass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239000" cy="5105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 smtClean="0">
                <a:ea typeface="ＭＳ Ｐゴシック" pitchFamily="34" charset="-128"/>
              </a:rPr>
              <a:t>Subclasses inherit from the superclass: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 smtClean="0">
                <a:ea typeface="ＭＳ Ｐゴシック" pitchFamily="34" charset="-128"/>
              </a:rPr>
              <a:t>All methods, unless the subclass overrides the method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 smtClean="0">
                <a:ea typeface="ＭＳ Ｐゴシック" pitchFamily="34" charset="-128"/>
              </a:rPr>
              <a:t>All instance variables</a:t>
            </a:r>
          </a:p>
          <a:p>
            <a:pPr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Subclass can</a:t>
            </a:r>
          </a:p>
          <a:p>
            <a:pPr lvl="1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Add new instance variables</a:t>
            </a:r>
          </a:p>
          <a:p>
            <a:pPr lvl="1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Add new methods</a:t>
            </a:r>
          </a:p>
          <a:p>
            <a:pPr lvl="1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Change the implementation of inherited methods</a:t>
            </a: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latin typeface="Consolas" panose="020B0609020204030204" pitchFamily="49" charset="0"/>
              <a:ea typeface="ＭＳ Ｐゴシック" pitchFamily="34" charset="-128"/>
              <a:cs typeface="Consolas" panose="020B0609020204030204" pitchFamily="49" charset="0"/>
            </a:endParaRP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000" dirty="0" smtClean="0">
                <a:ea typeface="ＭＳ Ｐゴシック" pitchFamily="34" charset="-128"/>
              </a:rPr>
              <a:t>     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23556" name="TextBox 6"/>
          <p:cNvSpPr txBox="1">
            <a:spLocks noChangeArrowheads="1"/>
          </p:cNvSpPr>
          <p:nvPr/>
        </p:nvSpPr>
        <p:spPr bwMode="auto">
          <a:xfrm>
            <a:off x="914400" y="4267200"/>
            <a:ext cx="2590800" cy="1323975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Form a subclass by specifying what is different from the </a:t>
            </a:r>
            <a:r>
              <a:rPr lang="en-US" altLang="en-US" sz="2000" dirty="0" err="1">
                <a:cs typeface="Arial" panose="020B0604020202020204" pitchFamily="34" charset="0"/>
              </a:rPr>
              <a:t>superclass</a:t>
            </a:r>
            <a:r>
              <a:rPr lang="en-US" altLang="en-US" sz="2000" dirty="0"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23559" name="Picture 1" descr="bjlo_ch09_limo.pd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419600"/>
            <a:ext cx="28194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BBE4F-E1A4-434D-A85F-B814BA08D027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Overriding Superclass Methods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543800" cy="4953000"/>
          </a:xfrm>
        </p:spPr>
        <p:txBody>
          <a:bodyPr/>
          <a:lstStyle/>
          <a:p>
            <a:pPr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Can you re-use any methods of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Question</a:t>
            </a:r>
            <a:r>
              <a:rPr lang="en-US" altLang="en-US" dirty="0" smtClean="0">
                <a:ea typeface="ＭＳ Ｐゴシック" pitchFamily="34" charset="-128"/>
              </a:rPr>
              <a:t> class?</a:t>
            </a:r>
          </a:p>
          <a:p>
            <a:pPr lvl="1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Inherited methods perform exactly the same</a:t>
            </a:r>
          </a:p>
          <a:p>
            <a:pPr lvl="1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If you need to change how a method works:</a:t>
            </a:r>
          </a:p>
          <a:p>
            <a:pPr lvl="2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Write a new more specialized method in the subclass</a:t>
            </a:r>
          </a:p>
          <a:p>
            <a:pPr lvl="2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Use the same method name as the superclass method you want to replace:</a:t>
            </a:r>
          </a:p>
          <a:p>
            <a:pPr lvl="3"/>
            <a:r>
              <a:rPr lang="en-US" altLang="en-US" dirty="0" smtClean="0">
                <a:ea typeface="ＭＳ Ｐゴシック" pitchFamily="34" charset="-128"/>
              </a:rPr>
              <a:t>It must take all of the same parameters</a:t>
            </a:r>
          </a:p>
          <a:p>
            <a:pPr lvl="3"/>
            <a:r>
              <a:rPr lang="en-US" altLang="en-US" dirty="0" smtClean="0">
                <a:ea typeface="ＭＳ Ｐゴシック" pitchFamily="34" charset="-128"/>
              </a:rPr>
              <a:t>This will </a:t>
            </a:r>
            <a:r>
              <a:rPr lang="en-US" altLang="en-US" b="1" i="1" dirty="0" smtClean="0">
                <a:ea typeface="ＭＳ Ｐゴシック" pitchFamily="34" charset="-128"/>
              </a:rPr>
              <a:t>override</a:t>
            </a:r>
            <a:r>
              <a:rPr lang="en-US" altLang="en-US" dirty="0" smtClean="0">
                <a:ea typeface="ＭＳ Ｐゴシック" pitchFamily="34" charset="-128"/>
              </a:rPr>
              <a:t> the superclass method</a:t>
            </a:r>
          </a:p>
          <a:p>
            <a:pPr lvl="3"/>
            <a:r>
              <a:rPr lang="en-US" altLang="en-US" dirty="0" smtClean="0">
                <a:ea typeface="ＭＳ Ｐゴシック" pitchFamily="34" charset="-128"/>
              </a:rPr>
              <a:t>The new method will be invoked with the same method name when it is called on a subclass object</a:t>
            </a: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en-US" dirty="0" smtClean="0">
              <a:latin typeface="Consolas" panose="020B0609020204030204" pitchFamily="49" charset="0"/>
              <a:ea typeface="ＭＳ Ｐゴシック" pitchFamily="34" charset="-128"/>
              <a:cs typeface="Consolas" panose="020B0609020204030204" pitchFamily="49" charset="0"/>
            </a:endParaRPr>
          </a:p>
          <a:p>
            <a:pPr lvl="1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2000" dirty="0" smtClean="0">
                <a:ea typeface="ＭＳ Ｐゴシック" pitchFamily="34" charset="-128"/>
              </a:rPr>
              <a:t>     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24580" name="TextBox 6"/>
          <p:cNvSpPr txBox="1">
            <a:spLocks noChangeArrowheads="1"/>
          </p:cNvSpPr>
          <p:nvPr/>
        </p:nvSpPr>
        <p:spPr bwMode="auto">
          <a:xfrm>
            <a:off x="2514600" y="4648200"/>
            <a:ext cx="4038600" cy="1016000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A subclass can override a method of the </a:t>
            </a:r>
            <a:r>
              <a:rPr lang="en-US" altLang="en-US" sz="2000" dirty="0" err="1">
                <a:cs typeface="Arial" panose="020B0604020202020204" pitchFamily="34" charset="0"/>
              </a:rPr>
              <a:t>superclass</a:t>
            </a:r>
            <a:r>
              <a:rPr lang="en-US" altLang="en-US" sz="2000" dirty="0">
                <a:cs typeface="Arial" panose="020B0604020202020204" pitchFamily="34" charset="0"/>
              </a:rPr>
              <a:t> by providing a new implementation.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3A0-98F1-4FD2-9AB2-DA50803D08EB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Planning the Subclass</a:t>
            </a:r>
          </a:p>
        </p:txBody>
      </p:sp>
      <p:sp>
        <p:nvSpPr>
          <p:cNvPr id="25604" name="Content Placeholder 8"/>
          <p:cNvSpPr>
            <a:spLocks noGrp="1"/>
          </p:cNvSpPr>
          <p:nvPr>
            <p:ph idx="1"/>
          </p:nvPr>
        </p:nvSpPr>
        <p:spPr>
          <a:xfrm>
            <a:off x="609600" y="1219200"/>
            <a:ext cx="7772400" cy="1905000"/>
          </a:xfrm>
        </p:spPr>
        <p:txBody>
          <a:bodyPr/>
          <a:lstStyle/>
          <a:p>
            <a:r>
              <a:rPr lang="en-US" altLang="ja-JP" dirty="0" smtClean="0">
                <a:ea typeface="ＭＳ Ｐゴシック" pitchFamily="34" charset="-128"/>
              </a:rPr>
              <a:t>Pass the name of the </a:t>
            </a:r>
            <a:r>
              <a:rPr lang="en-US" altLang="ja-JP" dirty="0" err="1" smtClean="0">
                <a:ea typeface="ＭＳ Ｐゴシック" pitchFamily="34" charset="-128"/>
              </a:rPr>
              <a:t>superclass</a:t>
            </a:r>
            <a:r>
              <a:rPr lang="en-US" altLang="ja-JP" dirty="0" smtClean="0">
                <a:ea typeface="ＭＳ Ｐゴシック" pitchFamily="34" charset="-128"/>
              </a:rPr>
              <a:t> </a:t>
            </a:r>
            <a:r>
              <a:rPr lang="en-US" altLang="ja-JP" dirty="0" smtClean="0">
                <a:solidFill>
                  <a:srgbClr val="00B050"/>
                </a:solidFill>
                <a:latin typeface="Consolas" panose="020B0609020204030204" pitchFamily="49" charset="0"/>
                <a:ea typeface="ＭＳ Ｐゴシック" pitchFamily="34" charset="-128"/>
              </a:rPr>
              <a:t>Question </a:t>
            </a:r>
            <a:r>
              <a:rPr lang="en-US" altLang="ja-JP" dirty="0" smtClean="0">
                <a:ea typeface="ＭＳ Ｐゴシック" pitchFamily="34" charset="-128"/>
              </a:rPr>
              <a:t>as part of the definition of the subclass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Inherits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</a:rPr>
              <a:t>text</a:t>
            </a:r>
            <a:r>
              <a:rPr lang="en-US" altLang="en-US" dirty="0" smtClean="0">
                <a:ea typeface="ＭＳ Ｐゴシック" pitchFamily="34" charset="-128"/>
              </a:rPr>
              <a:t> and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</a:rPr>
              <a:t>answer</a:t>
            </a:r>
            <a:r>
              <a:rPr lang="en-US" altLang="en-US" dirty="0" smtClean="0">
                <a:ea typeface="ＭＳ Ｐゴシック" pitchFamily="34" charset="-128"/>
              </a:rPr>
              <a:t> variables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Add new instance variable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</a:rPr>
              <a:t>choices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9600" y="2667000"/>
            <a:ext cx="7543800" cy="3581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class ChoiceQuestion(</a:t>
            </a:r>
            <a:r>
              <a:rPr lang="en-US" kern="0" dirty="0">
                <a:solidFill>
                  <a:srgbClr val="00B050"/>
                </a:solidFill>
                <a:latin typeface="Consolas" pitchFamily="49" charset="0"/>
              </a:rPr>
              <a:t>Question</a:t>
            </a:r>
            <a:r>
              <a:rPr lang="en-US" kern="0" dirty="0">
                <a:latin typeface="Consolas" pitchFamily="49" charset="0"/>
              </a:rPr>
              <a:t>):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# The subclass has its own constructor.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. . .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# This instance variable is added to the subclass.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self._choices = []</a:t>
            </a:r>
          </a:p>
          <a:p>
            <a:pPr>
              <a:defRPr/>
            </a:pPr>
            <a:endParaRPr lang="en-US" kern="0" dirty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  # </a:t>
            </a:r>
            <a:r>
              <a:rPr lang="en-US" b="1" kern="0" dirty="0">
                <a:solidFill>
                  <a:srgbClr val="00B0F0"/>
                </a:solidFill>
                <a:latin typeface="Consolas" pitchFamily="49" charset="0"/>
              </a:rPr>
              <a:t>This method is added </a:t>
            </a: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to the subclass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def addChoice(self, choice, correct)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. . .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  # </a:t>
            </a:r>
            <a:r>
              <a:rPr lang="en-US" b="1" kern="0" dirty="0">
                <a:solidFill>
                  <a:srgbClr val="00B0F0"/>
                </a:solidFill>
                <a:latin typeface="Consolas" pitchFamily="49" charset="0"/>
              </a:rPr>
              <a:t>This method overrides </a:t>
            </a: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a method from the superclass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def void display(self)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. . . 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latin typeface="Consolas" pitchFamily="49" charset="0"/>
            </a:endParaRPr>
          </a:p>
        </p:txBody>
      </p:sp>
      <p:pic>
        <p:nvPicPr>
          <p:cNvPr id="25607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538" y="2057400"/>
            <a:ext cx="3065462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258-F967-43C1-831C-E7652BC62BA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smtClean="0">
                <a:ea typeface="ＭＳ Ｐゴシック" pitchFamily="34" charset="-128"/>
              </a:rPr>
              <a:t>Syntax 10.1: Subclass Definition</a:t>
            </a:r>
          </a:p>
        </p:txBody>
      </p:sp>
      <p:sp>
        <p:nvSpPr>
          <p:cNvPr id="26627" name="Content Placeholder 7"/>
          <p:cNvSpPr>
            <a:spLocks noGrp="1"/>
          </p:cNvSpPr>
          <p:nvPr>
            <p:ph idx="1"/>
          </p:nvPr>
        </p:nvSpPr>
        <p:spPr>
          <a:xfrm>
            <a:off x="914400" y="1143000"/>
            <a:ext cx="7239000" cy="8382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The class name inside parentheses in the class header denotes inheritance.</a:t>
            </a:r>
          </a:p>
        </p:txBody>
      </p:sp>
      <p:pic>
        <p:nvPicPr>
          <p:cNvPr id="26630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467600" cy="406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7B366-0ECC-4817-8EFE-4D8CA43E5CCC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Implementing </a:t>
            </a:r>
            <a:r>
              <a:rPr lang="en-US" altLang="en-US" smtClean="0">
                <a:solidFill>
                  <a:srgbClr val="00B050"/>
                </a:solidFill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AddChoice()</a:t>
            </a:r>
          </a:p>
        </p:txBody>
      </p:sp>
      <p:sp>
        <p:nvSpPr>
          <p:cNvPr id="27652" name="Content Placeholder 8"/>
          <p:cNvSpPr>
            <a:spLocks noGrp="1"/>
          </p:cNvSpPr>
          <p:nvPr>
            <p:ph idx="1"/>
          </p:nvPr>
        </p:nvSpPr>
        <p:spPr>
          <a:xfrm>
            <a:off x="838200" y="1066800"/>
            <a:ext cx="7467600" cy="205740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method will receive three parameters</a:t>
            </a:r>
            <a:endParaRPr lang="en-US" altLang="en-US" dirty="0" smtClean="0">
              <a:solidFill>
                <a:srgbClr val="00B050"/>
              </a:solidFill>
              <a:latin typeface="Consolas" panose="020B0609020204030204" pitchFamily="49" charset="0"/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As usual for a class method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itchFamily="34" charset="-128"/>
              </a:rPr>
              <a:t> parameter is required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text for the choice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A Boolean denoting if it is the correct choice or not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It appends the text as a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_choice</a:t>
            </a:r>
            <a:r>
              <a:rPr lang="en-US" altLang="en-US" dirty="0" smtClean="0">
                <a:ea typeface="ＭＳ Ｐゴシック" pitchFamily="34" charset="-128"/>
              </a:rPr>
              <a:t>, sets choice number to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_answer </a:t>
            </a:r>
            <a:r>
              <a:rPr lang="en-US" altLang="en-US" dirty="0" smtClean="0">
                <a:ea typeface="ＭＳ Ｐゴシック" pitchFamily="34" charset="-128"/>
              </a:rPr>
              <a:t>and calls the inherited </a:t>
            </a:r>
            <a:r>
              <a:rPr lang="en-US" altLang="en-US" dirty="0" err="1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setAnswer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 method: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914400" y="3276600"/>
            <a:ext cx="7086600" cy="1981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addChoice(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self, choice, correct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self._choices.append(choice)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if correct :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# Convert the length of the list to a string.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choiceString = str(len(self._choices))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setAnswer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(choiceString)</a:t>
            </a:r>
            <a:endParaRPr lang="en-US" kern="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FCE1-92C4-4EB0-8F33-85ED65E484F5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itchFamily="34" charset="-128"/>
              </a:rPr>
              <a:t>10.3  Calling the Superclass Constructor (1)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7467600" cy="51054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A subclass constructor can only define the instance variables of the subclass. 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But the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instance variables also need to be defined.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The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is responsible for defining its own instance variables. 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Because this is done within its constructor, the constructor of the subclass must explicitly call the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constructor.</a:t>
            </a:r>
          </a:p>
          <a:p>
            <a:pPr marL="228600" lvl="1">
              <a:spcBef>
                <a:spcPts val="1200"/>
              </a:spcBef>
              <a:spcAft>
                <a:spcPts val="200"/>
              </a:spcAft>
              <a:buSzPct val="100000"/>
            </a:pPr>
            <a:r>
              <a:rPr lang="en-US" altLang="en-US" dirty="0" smtClean="0">
                <a:ea typeface="ＭＳ Ｐゴシック" pitchFamily="34" charset="-128"/>
              </a:rPr>
              <a:t>To distinguish between super- and sub- class constructor use the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super()</a:t>
            </a:r>
            <a:r>
              <a:rPr lang="en-US" altLang="en-US" dirty="0" smtClean="0">
                <a:ea typeface="ＭＳ Ｐゴシック" pitchFamily="34" charset="-128"/>
              </a:rPr>
              <a:t> function in place of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itchFamily="34" charset="-128"/>
              </a:rPr>
              <a:t> reference when calling the constructor: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4AD-51F0-42DC-B376-48D13FEFF7D1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286000" y="4419600"/>
            <a:ext cx="4572000" cy="1293121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ChoiceQuestion(Question)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super()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._ _init_ _()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self._choices = []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itchFamily="34" charset="-128"/>
              </a:rPr>
              <a:t>10.3  Calling the Superclass Constructor (2)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/>
            <a:r>
              <a:rPr lang="en-US" altLang="en-US" dirty="0" smtClean="0">
                <a:ea typeface="ＭＳ Ｐゴシック" pitchFamily="34" charset="-128"/>
              </a:rPr>
              <a:t>The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constructor should be called before the subclass defines its own instance variables.</a:t>
            </a:r>
          </a:p>
          <a:p>
            <a:pPr fontAlgn="auto"/>
            <a:r>
              <a:rPr lang="en-US" altLang="en-US" dirty="0" smtClean="0">
                <a:ea typeface="ＭＳ Ｐゴシック" pitchFamily="34" charset="-128"/>
              </a:rPr>
              <a:t>If a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constructor requires arguments, you must provide those arguments to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_ _init_ _()</a:t>
            </a:r>
            <a:r>
              <a:rPr lang="en-US" altLang="en-US" dirty="0" smtClean="0">
                <a:ea typeface="ＭＳ Ｐゴシック" pitchFamily="34" charset="-128"/>
                <a:cs typeface="Consolas" panose="020B0609020204030204" pitchFamily="49" charset="0"/>
              </a:rPr>
              <a:t> method.</a:t>
            </a:r>
          </a:p>
          <a:p>
            <a:pPr marL="342900" lvl="1" indent="-342900">
              <a:buSzPct val="60000"/>
              <a:buNone/>
            </a:pP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755DD-C656-4456-A755-8667FA7D8A82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14938" y="3581400"/>
            <a:ext cx="7543801" cy="16002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600200" y="2667000"/>
            <a:ext cx="556260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ChoiceQuestion(Question)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_(self, questionText)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super()._ _init_ _(questionText)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self._choices = []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smtClean="0">
                <a:ea typeface="ＭＳ Ｐゴシック" pitchFamily="34" charset="-128"/>
              </a:rPr>
              <a:t>Syntax 10.2: Subclass Constructor</a:t>
            </a:r>
          </a:p>
        </p:txBody>
      </p:sp>
      <p:pic>
        <p:nvPicPr>
          <p:cNvPr id="33797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19200"/>
            <a:ext cx="8534400" cy="3846513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ED32-56F3-43A5-986D-D9611D3496B8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itchFamily="34" charset="-128"/>
              </a:rPr>
              <a:t>Example: Superclass Constructor (1)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107194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Suppose we have defined a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Vehicle</a:t>
            </a:r>
            <a:r>
              <a:rPr lang="en-US" altLang="en-US" dirty="0" smtClean="0">
                <a:ea typeface="ＭＳ Ｐゴシック" pitchFamily="34" charset="-128"/>
              </a:rPr>
              <a:t> class and the constructor which requires an argument:</a:t>
            </a:r>
          </a:p>
          <a:p>
            <a:endParaRPr lang="en-US" altLang="en-US" dirty="0" smtClean="0">
              <a:ea typeface="ＭＳ Ｐゴシック" pitchFamily="34" charset="-128"/>
            </a:endParaRPr>
          </a:p>
          <a:p>
            <a:endParaRPr lang="en-US" altLang="en-US" dirty="0" smtClean="0">
              <a:ea typeface="ＭＳ Ｐゴシック" pitchFamily="34" charset="-128"/>
            </a:endParaRPr>
          </a:p>
          <a:p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66800" y="1905000"/>
            <a:ext cx="6172200" cy="1219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Vehicle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_(self, numberOfTires)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self._numberOfTires = numberOfTires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. . .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90601" y="3886200"/>
            <a:ext cx="48006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Car(Vehicle)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_(self) : 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1</a:t>
            </a:r>
          </a:p>
        </p:txBody>
      </p:sp>
      <p:pic>
        <p:nvPicPr>
          <p:cNvPr id="3482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11646" b="67776"/>
          <a:stretch>
            <a:fillRect/>
          </a:stretch>
        </p:blipFill>
        <p:spPr bwMode="auto">
          <a:xfrm>
            <a:off x="4724400" y="4648200"/>
            <a:ext cx="3603625" cy="139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2DFEB-C1B2-4336-8169-B444AC80BA9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21</a:t>
            </a:fld>
            <a:endParaRPr lang="en-US" alt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3505200"/>
            <a:ext cx="7543801" cy="4572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itchFamily="34" charset="-128"/>
              </a:rPr>
              <a:t>We can extend the Vehicle class by defining a Car </a:t>
            </a:r>
            <a:r>
              <a:rPr lang="en-US" altLang="en-US" dirty="0" smtClean="0">
                <a:ea typeface="ＭＳ Ｐゴシック" pitchFamily="34" charset="-128"/>
              </a:rPr>
              <a:t>subclass</a:t>
            </a:r>
            <a:endParaRPr lang="en-US" alt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itchFamily="34" charset="-128"/>
              </a:rPr>
              <a:t>Example: Superclass Constructor (2)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Now as the subclass is defined, the parts of the object are added as attributes to the object: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990601" y="1905000"/>
            <a:ext cx="6934200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#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Call the superclass constructor to define its     </a:t>
            </a:r>
          </a:p>
          <a:p>
            <a:pPr>
              <a:defRPr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#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instance variable.</a:t>
            </a:r>
          </a:p>
          <a:p>
            <a:pPr>
              <a:defRPr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super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()._ _init_ _(4) 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2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#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This instance variable is added by the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subclass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.</a:t>
            </a:r>
          </a:p>
          <a:p>
            <a:pPr>
              <a:defRPr/>
            </a:pP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._plateNumber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= "??????"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3</a:t>
            </a:r>
            <a:endParaRPr lang="en-US" kern="0" dirty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434" t="33862" r="11867" b="33069"/>
          <a:stretch>
            <a:fillRect/>
          </a:stretch>
        </p:blipFill>
        <p:spPr bwMode="auto">
          <a:xfrm>
            <a:off x="381000" y="3886200"/>
            <a:ext cx="4603750" cy="186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8512" r="11966"/>
          <a:stretch>
            <a:fillRect/>
          </a:stretch>
        </p:blipFill>
        <p:spPr bwMode="auto">
          <a:xfrm>
            <a:off x="4114800" y="4572000"/>
            <a:ext cx="4675187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F224-4B37-41D3-8296-EC79C1F7CBF1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10.4  Overriding Methods</a:t>
            </a:r>
          </a:p>
        </p:txBody>
      </p:sp>
      <p:sp>
        <p:nvSpPr>
          <p:cNvPr id="36867" name="Content Placeholder 6"/>
          <p:cNvSpPr>
            <a:spLocks noGrp="1"/>
          </p:cNvSpPr>
          <p:nvPr>
            <p:ph idx="1"/>
          </p:nvPr>
        </p:nvSpPr>
        <p:spPr>
          <a:xfrm>
            <a:off x="762000" y="1219200"/>
            <a:ext cx="7620000" cy="472440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</a:t>
            </a:r>
            <a:r>
              <a:rPr lang="en-US" altLang="en-US" dirty="0" err="1" smtClean="0">
                <a:solidFill>
                  <a:srgbClr val="92D050"/>
                </a:solidFill>
                <a:latin typeface="Consolas" panose="020B0609020204030204" pitchFamily="49" charset="0"/>
                <a:ea typeface="ＭＳ Ｐゴシック" pitchFamily="34" charset="-128"/>
              </a:rPr>
              <a:t>ChoiceQuestion</a:t>
            </a:r>
            <a:r>
              <a:rPr lang="en-US" altLang="en-US" dirty="0" smtClean="0">
                <a:ea typeface="ＭＳ Ｐゴシック" pitchFamily="34" charset="-128"/>
              </a:rPr>
              <a:t> class needs a </a:t>
            </a:r>
            <a:r>
              <a:rPr lang="en-US" altLang="en-US" dirty="0" smtClean="0">
                <a:solidFill>
                  <a:srgbClr val="92D050"/>
                </a:solidFill>
                <a:latin typeface="Consolas" panose="020B0609020204030204" pitchFamily="49" charset="0"/>
                <a:ea typeface="ＭＳ Ｐゴシック" pitchFamily="34" charset="-128"/>
              </a:rPr>
              <a:t>display()</a:t>
            </a:r>
            <a:r>
              <a:rPr lang="en-US" altLang="en-US" dirty="0" smtClean="0">
                <a:solidFill>
                  <a:srgbClr val="92D050"/>
                </a:solidFill>
                <a:ea typeface="ＭＳ Ｐゴシック" pitchFamily="34" charset="-128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method that overrides the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display()</a:t>
            </a:r>
            <a:r>
              <a:rPr lang="en-US" altLang="en-US" dirty="0" smtClean="0">
                <a:ea typeface="ＭＳ Ｐゴシック" pitchFamily="34" charset="-128"/>
              </a:rPr>
              <a:t> method of the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Question</a:t>
            </a:r>
            <a:r>
              <a:rPr lang="en-US" altLang="en-US" dirty="0" smtClean="0">
                <a:ea typeface="ＭＳ Ｐゴシック" pitchFamily="34" charset="-128"/>
              </a:rPr>
              <a:t> class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They are two different method implementations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two methods named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</a:rPr>
              <a:t>display</a:t>
            </a:r>
            <a:r>
              <a:rPr lang="en-US" altLang="en-US" dirty="0" smtClean="0">
                <a:ea typeface="ＭＳ Ｐゴシック" pitchFamily="34" charset="-128"/>
              </a:rPr>
              <a:t> are: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Question display()</a:t>
            </a:r>
          </a:p>
          <a:p>
            <a:pPr lvl="2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Displays the text of the private attribute of class </a:t>
            </a:r>
            <a:r>
              <a:rPr lang="en-US" altLang="en-US" dirty="0" smtClean="0">
                <a:solidFill>
                  <a:srgbClr val="0033CC"/>
                </a:solidFill>
                <a:ea typeface="ＭＳ Ｐゴシック" pitchFamily="34" charset="-128"/>
              </a:rPr>
              <a:t>Question</a:t>
            </a:r>
          </a:p>
          <a:p>
            <a:pPr lvl="1">
              <a:spcBef>
                <a:spcPts val="200"/>
              </a:spcBef>
            </a:pPr>
            <a:r>
              <a:rPr lang="en-US" altLang="en-US" dirty="0" err="1" smtClean="0">
                <a:solidFill>
                  <a:srgbClr val="92D050"/>
                </a:solidFill>
                <a:latin typeface="Consolas" panose="020B0609020204030204" pitchFamily="49" charset="0"/>
                <a:ea typeface="ＭＳ Ｐゴシック" pitchFamily="34" charset="-128"/>
              </a:rPr>
              <a:t>ChoiceQuestion</a:t>
            </a:r>
            <a:r>
              <a:rPr lang="en-US" altLang="en-US" dirty="0" smtClean="0">
                <a:solidFill>
                  <a:srgbClr val="00B050"/>
                </a:solidFill>
                <a:latin typeface="Consolas" panose="020B0609020204030204" pitchFamily="49" charset="0"/>
                <a:ea typeface="ＭＳ Ｐゴシック" pitchFamily="34" charset="-128"/>
              </a:rPr>
              <a:t> </a:t>
            </a:r>
            <a:r>
              <a:rPr lang="en-US" altLang="en-US" dirty="0" smtClean="0">
                <a:solidFill>
                  <a:srgbClr val="92D050"/>
                </a:solidFill>
                <a:latin typeface="Consolas" panose="020B0609020204030204" pitchFamily="49" charset="0"/>
                <a:ea typeface="ＭＳ Ｐゴシック" pitchFamily="34" charset="-128"/>
              </a:rPr>
              <a:t>display()</a:t>
            </a:r>
          </a:p>
          <a:p>
            <a:pPr lvl="2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Overrides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Question display </a:t>
            </a:r>
            <a:r>
              <a:rPr lang="en-US" altLang="en-US" dirty="0" smtClean="0">
                <a:ea typeface="ＭＳ Ｐゴシック" pitchFamily="34" charset="-128"/>
              </a:rPr>
              <a:t>method</a:t>
            </a:r>
          </a:p>
          <a:p>
            <a:pPr lvl="2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Displays the instance variable text String</a:t>
            </a:r>
          </a:p>
          <a:p>
            <a:pPr lvl="2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Displays the list of choices which is an attribute of </a:t>
            </a:r>
            <a:r>
              <a:rPr lang="en-US" altLang="en-US" dirty="0" err="1" smtClean="0">
                <a:solidFill>
                  <a:srgbClr val="92D050"/>
                </a:solidFill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ChoiceQuestion</a:t>
            </a:r>
            <a:endParaRPr lang="en-US" altLang="en-US" dirty="0" smtClean="0">
              <a:solidFill>
                <a:srgbClr val="92D050"/>
              </a:solidFill>
              <a:latin typeface="Consolas" panose="020B0609020204030204" pitchFamily="49" charset="0"/>
              <a:ea typeface="ＭＳ Ｐゴシック" pitchFamily="34" charset="-128"/>
              <a:cs typeface="Consolas" panose="020B0609020204030204" pitchFamily="49" charset="0"/>
            </a:endParaRPr>
          </a:p>
          <a:p>
            <a:pPr lvl="1">
              <a:spcBef>
                <a:spcPts val="200"/>
              </a:spcBef>
            </a:pPr>
            <a:endParaRPr lang="en-US" altLang="en-US" dirty="0" smtClean="0">
              <a:ea typeface="ＭＳ Ｐゴシック" pitchFamily="34" charset="-128"/>
            </a:endParaRPr>
          </a:p>
          <a:p>
            <a:pPr>
              <a:spcBef>
                <a:spcPts val="200"/>
              </a:spcBef>
            </a:pP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DADF-803C-47B0-A94A-D5098546E0DF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 smtClean="0"/>
              <a:t>Tasks Needed for </a:t>
            </a:r>
            <a:r>
              <a:rPr lang="en-US" sz="3600" dirty="0" smtClean="0">
                <a:latin typeface="Consolas" pitchFamily="49" charset="0"/>
                <a:cs typeface="Consolas" pitchFamily="49" charset="0"/>
              </a:rPr>
              <a:t>Display()</a:t>
            </a:r>
            <a:r>
              <a:rPr lang="en-US" sz="3600" dirty="0" smtClean="0">
                <a:latin typeface="+mn-lt"/>
                <a:cs typeface="Consolas" pitchFamily="49" charset="0"/>
              </a:rPr>
              <a:t>: 1</a:t>
            </a:r>
            <a:endParaRPr lang="en-US" sz="3600" dirty="0">
              <a:latin typeface="+mn-lt"/>
              <a:cs typeface="Consolas" pitchFamily="49" charset="0"/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92D050"/>
                </a:solidFill>
                <a:latin typeface="Comic Sans MS" panose="030F0702030302020204" pitchFamily="66" charset="0"/>
                <a:ea typeface="ＭＳ Ｐゴシック" pitchFamily="34" charset="-128"/>
              </a:rPr>
              <a:t>Display the question text.</a:t>
            </a:r>
          </a:p>
          <a:p>
            <a:r>
              <a:rPr lang="en-US" altLang="en-US" dirty="0" smtClean="0">
                <a:solidFill>
                  <a:srgbClr val="0033CC"/>
                </a:solidFill>
                <a:latin typeface="Comic Sans MS" panose="030F0702030302020204" pitchFamily="66" charset="0"/>
                <a:ea typeface="ＭＳ Ｐゴシック" pitchFamily="34" charset="-128"/>
              </a:rPr>
              <a:t>Display the answer choices.</a:t>
            </a:r>
          </a:p>
          <a:p>
            <a:endParaRPr lang="en-US" altLang="en-US" dirty="0" smtClean="0">
              <a:latin typeface="Comic Sans MS" panose="030F0702030302020204" pitchFamily="66" charset="0"/>
              <a:ea typeface="ＭＳ Ｐゴシック" pitchFamily="34" charset="-128"/>
            </a:endParaRP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The second part is easy because the answer choices are an instance variable of the subclass.</a:t>
            </a:r>
            <a:endParaRPr lang="en-US" altLang="en-US" dirty="0" smtClean="0">
              <a:latin typeface="Comic Sans MS" panose="030F0702030302020204" pitchFamily="66" charset="0"/>
              <a:ea typeface="ＭＳ Ｐゴシック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90600" y="3124200"/>
            <a:ext cx="7391400" cy="2895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ChoiceQuestion(Question)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. . 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display(self) :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# Display the question text.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. . .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# Display the answer choices.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for i in range(len(self._choices())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 choiceNumber = i + 1</a:t>
            </a:r>
          </a:p>
          <a:p>
            <a:pPr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           print("%d: %s" % (choiceNumber, </a:t>
            </a:r>
          </a:p>
          <a:p>
            <a:pPr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              self._choices[i]))</a:t>
            </a:r>
            <a:endParaRPr lang="en-US" b="1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Right Arrow 2"/>
          <p:cNvSpPr/>
          <p:nvPr/>
        </p:nvSpPr>
        <p:spPr>
          <a:xfrm rot="10800000">
            <a:off x="5257800" y="1828800"/>
            <a:ext cx="609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C608-674A-40F4-AB04-B112EE79C425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Tasks Needed for </a:t>
            </a:r>
            <a:r>
              <a:rPr lang="en-US" altLang="en-US" sz="360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Display()</a:t>
            </a:r>
            <a:r>
              <a:rPr lang="en-US" altLang="en-US" sz="3600" smtClean="0">
                <a:ea typeface="ＭＳ Ｐゴシック" pitchFamily="34" charset="-128"/>
                <a:cs typeface="Consolas" panose="020B0609020204030204" pitchFamily="49" charset="0"/>
              </a:rPr>
              <a:t>: 2</a:t>
            </a:r>
            <a:endParaRPr lang="en-US" altLang="en-US" sz="3600" smtClean="0">
              <a:latin typeface="Consolas" panose="020B0609020204030204" pitchFamily="49" charset="0"/>
              <a:ea typeface="ＭＳ Ｐゴシック" pitchFamily="34" charset="-128"/>
              <a:cs typeface="Consolas" panose="020B0609020204030204" pitchFamily="49" charset="0"/>
            </a:endParaRP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rgbClr val="92D050"/>
                </a:solidFill>
                <a:latin typeface="Comic Sans MS" panose="030F0702030302020204" pitchFamily="66" charset="0"/>
                <a:ea typeface="ＭＳ Ｐゴシック" pitchFamily="34" charset="-128"/>
              </a:rPr>
              <a:t>Display the question text.</a:t>
            </a:r>
          </a:p>
          <a:p>
            <a:r>
              <a:rPr lang="en-US" altLang="en-US" dirty="0" smtClean="0">
                <a:solidFill>
                  <a:srgbClr val="0033CC"/>
                </a:solidFill>
                <a:latin typeface="Comic Sans MS" panose="030F0702030302020204" pitchFamily="66" charset="0"/>
                <a:ea typeface="ＭＳ Ｐゴシック" pitchFamily="34" charset="-128"/>
              </a:rPr>
              <a:t>Display the answer choices.</a:t>
            </a:r>
          </a:p>
          <a:p>
            <a:endParaRPr lang="en-US" altLang="en-US" dirty="0" smtClean="0">
              <a:latin typeface="Comic Sans MS" panose="030F0702030302020204" pitchFamily="66" charset="0"/>
              <a:ea typeface="ＭＳ Ｐゴシック" pitchFamily="34" charset="-128"/>
            </a:endParaRP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The first part is trickier!</a:t>
            </a:r>
          </a:p>
          <a:p>
            <a:pPr lvl="2"/>
            <a:r>
              <a:rPr lang="en-US" altLang="en-US" dirty="0" smtClean="0">
                <a:ea typeface="ＭＳ Ｐゴシック" pitchFamily="34" charset="-128"/>
              </a:rPr>
              <a:t>You can’t access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text</a:t>
            </a:r>
            <a:r>
              <a:rPr lang="en-US" altLang="en-US" sz="1200" dirty="0" smtClean="0">
                <a:ea typeface="ＭＳ Ｐゴシック" pitchFamily="34" charset="-128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variable of the superclass directly because it is private.</a:t>
            </a:r>
          </a:p>
          <a:p>
            <a:pPr lvl="2"/>
            <a:r>
              <a:rPr lang="en-US" altLang="en-US" dirty="0" smtClean="0">
                <a:ea typeface="ＭＳ Ｐゴシック" pitchFamily="34" charset="-128"/>
              </a:rPr>
              <a:t>Call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display()</a:t>
            </a:r>
            <a:r>
              <a:rPr lang="en-US" altLang="en-US" dirty="0" smtClean="0">
                <a:ea typeface="ＭＳ Ｐゴシック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method of the superclass, using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super()</a:t>
            </a:r>
            <a:r>
              <a:rPr lang="en-US" altLang="en-US" dirty="0" smtClean="0">
                <a:ea typeface="ＭＳ Ｐゴシック" pitchFamily="34" charset="-128"/>
              </a:rPr>
              <a:t> function:</a:t>
            </a:r>
            <a:endParaRPr lang="en-US" altLang="en-US" dirty="0" smtClean="0">
              <a:latin typeface="Comic Sans MS" panose="030F0702030302020204" pitchFamily="66" charset="0"/>
              <a:ea typeface="ＭＳ Ｐゴシック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0" y="4114800"/>
            <a:ext cx="6262687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display(self) :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Display the question text.</a:t>
            </a:r>
          </a:p>
          <a:p>
            <a:pPr>
              <a:defRPr/>
            </a:pPr>
            <a:r>
              <a:rPr lang="en-US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super().display()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OK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Display the answer choices.</a:t>
            </a:r>
            <a:endParaRPr lang="en-US" b="1" kern="0" dirty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ight Arrow 6"/>
          <p:cNvSpPr/>
          <p:nvPr/>
        </p:nvSpPr>
        <p:spPr>
          <a:xfrm rot="10800000">
            <a:off x="5000625" y="1295400"/>
            <a:ext cx="609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4D147-D76C-42A9-B10E-B9A92948B21F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Tasks Needed for </a:t>
            </a:r>
            <a:r>
              <a:rPr lang="en-US" altLang="en-US" sz="360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Display()</a:t>
            </a:r>
            <a:r>
              <a:rPr lang="en-US" altLang="en-US" sz="3600" smtClean="0">
                <a:ea typeface="ＭＳ Ｐゴシック" pitchFamily="34" charset="-128"/>
                <a:cs typeface="Consolas" panose="020B0609020204030204" pitchFamily="49" charset="0"/>
              </a:rPr>
              <a:t>: 3</a:t>
            </a:r>
            <a:endParaRPr lang="en-US" altLang="en-US" sz="3600" smtClean="0">
              <a:latin typeface="Consolas" panose="020B0609020204030204" pitchFamily="49" charset="0"/>
              <a:ea typeface="ＭＳ Ｐゴシック" pitchFamily="34" charset="-128"/>
              <a:cs typeface="Consolas" panose="020B0609020204030204" pitchFamily="49" charset="0"/>
            </a:endParaRP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92D050"/>
                </a:solidFill>
                <a:latin typeface="Comic Sans MS" panose="030F0702030302020204" pitchFamily="66" charset="0"/>
                <a:ea typeface="ＭＳ Ｐゴシック" pitchFamily="34" charset="-128"/>
              </a:rPr>
              <a:t>Display the question text.</a:t>
            </a:r>
          </a:p>
          <a:p>
            <a:r>
              <a:rPr lang="en-US" altLang="en-US" smtClean="0">
                <a:solidFill>
                  <a:srgbClr val="0033CC"/>
                </a:solidFill>
                <a:latin typeface="Comic Sans MS" panose="030F0702030302020204" pitchFamily="66" charset="0"/>
                <a:ea typeface="ＭＳ Ｐゴシック" pitchFamily="34" charset="-128"/>
              </a:rPr>
              <a:t>Display the answer choices.</a:t>
            </a:r>
          </a:p>
          <a:p>
            <a:endParaRPr lang="en-US" altLang="en-US" smtClean="0">
              <a:latin typeface="Comic Sans MS" panose="030F0702030302020204" pitchFamily="66" charset="0"/>
              <a:ea typeface="ＭＳ Ｐゴシック" pitchFamily="34" charset="-128"/>
            </a:endParaRPr>
          </a:p>
          <a:p>
            <a:pPr lvl="1"/>
            <a:r>
              <a:rPr lang="en-US" altLang="en-US" smtClean="0">
                <a:ea typeface="ＭＳ Ｐゴシック" pitchFamily="34" charset="-128"/>
              </a:rPr>
              <a:t>The first part is trickier! (Continued)</a:t>
            </a:r>
          </a:p>
          <a:p>
            <a:pPr lvl="2"/>
            <a:r>
              <a:rPr lang="en-US" altLang="en-US" smtClean="0">
                <a:ea typeface="ＭＳ Ｐゴシック" pitchFamily="34" charset="-128"/>
              </a:rPr>
              <a:t>If you use 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self</a:t>
            </a:r>
            <a:r>
              <a:rPr lang="en-US" altLang="en-US" sz="1200" smtClean="0">
                <a:ea typeface="ＭＳ Ｐゴシック" pitchFamily="34" charset="-128"/>
              </a:rPr>
              <a:t> </a:t>
            </a:r>
            <a:r>
              <a:rPr lang="en-US" altLang="en-US" smtClean="0">
                <a:ea typeface="ＭＳ Ｐゴシック" pitchFamily="34" charset="-128"/>
              </a:rPr>
              <a:t>reference instead of the </a:t>
            </a:r>
            <a:r>
              <a:rPr lang="en-US" altLang="en-US" sz="240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super()</a:t>
            </a:r>
            <a:r>
              <a:rPr lang="en-US" altLang="en-US" sz="2400" smtClean="0">
                <a:ea typeface="ＭＳ Ｐゴシック" pitchFamily="34" charset="-128"/>
              </a:rPr>
              <a:t> </a:t>
            </a:r>
            <a:r>
              <a:rPr lang="en-US" altLang="en-US" smtClean="0">
                <a:ea typeface="ＭＳ Ｐゴシック" pitchFamily="34" charset="-128"/>
              </a:rPr>
              <a:t>function, then the method will not work as intended.</a:t>
            </a:r>
            <a:endParaRPr lang="en-US" altLang="en-US" smtClean="0">
              <a:latin typeface="Comic Sans MS" panose="030F0702030302020204" pitchFamily="66" charset="0"/>
              <a:ea typeface="ＭＳ Ｐゴシック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219200" y="3898900"/>
            <a:ext cx="6934200" cy="15113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</a:t>
            </a:r>
            <a:r>
              <a:rPr lang="en-US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display(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: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# Display the question text.</a:t>
            </a:r>
          </a:p>
          <a:p>
            <a:pPr>
              <a:defRPr/>
            </a:pPr>
            <a:r>
              <a:rPr lang="en-US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   self.display()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# Error—invokes </a:t>
            </a:r>
            <a:r>
              <a:rPr lang="en-US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display()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of </a:t>
            </a:r>
            <a:r>
              <a:rPr lang="en-US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ChoiceQuestion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. . .</a:t>
            </a:r>
            <a:endParaRPr lang="en-US" b="1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ight Arrow 6"/>
          <p:cNvSpPr/>
          <p:nvPr/>
        </p:nvSpPr>
        <p:spPr>
          <a:xfrm rot="10800000">
            <a:off x="5000625" y="1295400"/>
            <a:ext cx="609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07C63-881C-4EE4-A6D3-5C9AF2000C8E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7391400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smtClean="0">
                <a:latin typeface="Arial Black" panose="020B0A04020102020204" pitchFamily="34" charset="0"/>
                <a:ea typeface="ＭＳ Ｐゴシック" pitchFamily="34" charset="-128"/>
              </a:rPr>
              <a:t>Questiondemo2.py (1)</a:t>
            </a:r>
          </a:p>
        </p:txBody>
      </p: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4114800" y="5791200"/>
            <a:ext cx="4572000" cy="369332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Calls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presentQuestion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en-US" dirty="0">
                <a:cs typeface="Arial" panose="020B0604020202020204" pitchFamily="34" charset="0"/>
              </a:rPr>
              <a:t> - next page</a:t>
            </a:r>
          </a:p>
        </p:txBody>
      </p:sp>
      <p:sp>
        <p:nvSpPr>
          <p:cNvPr id="40967" name="TextBox 7"/>
          <p:cNvSpPr txBox="1">
            <a:spLocks noChangeArrowheads="1"/>
          </p:cNvSpPr>
          <p:nvPr/>
        </p:nvSpPr>
        <p:spPr bwMode="auto">
          <a:xfrm>
            <a:off x="4876800" y="3200400"/>
            <a:ext cx="3200400" cy="923925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Creates two objects of the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ChoiceQuestion</a:t>
            </a:r>
            <a:r>
              <a:rPr lang="en-US" altLang="en-US" dirty="0">
                <a:cs typeface="Arial" panose="020B0604020202020204" pitchFamily="34" charset="0"/>
              </a:rPr>
              <a:t> class, uses new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addChoice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en-US" dirty="0">
                <a:cs typeface="Arial" panose="020B0604020202020204" pitchFamily="34" charset="0"/>
              </a:rPr>
              <a:t> method.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2FD8C-FE92-4FE3-8D37-68586C71D3A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27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7" descr="U:\PC\publisher\2013 wiley slides\my pics\chapter10\question demo 2 program picture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6806753" cy="260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smtClean="0">
                <a:latin typeface="Arial Black" panose="020B0A04020102020204" pitchFamily="34" charset="0"/>
                <a:ea typeface="ＭＳ Ｐゴシック" pitchFamily="34" charset="-128"/>
              </a:rPr>
              <a:t>Questiondemo2.py (2)</a:t>
            </a:r>
          </a:p>
        </p:txBody>
      </p:sp>
      <p:sp>
        <p:nvSpPr>
          <p:cNvPr id="41990" name="TextBox 5"/>
          <p:cNvSpPr txBox="1">
            <a:spLocks noChangeArrowheads="1"/>
          </p:cNvSpPr>
          <p:nvPr/>
        </p:nvSpPr>
        <p:spPr bwMode="auto">
          <a:xfrm>
            <a:off x="5638800" y="1676400"/>
            <a:ext cx="2971800" cy="1016000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Uses </a:t>
            </a: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ChoiceQuestion</a:t>
            </a:r>
            <a:r>
              <a:rPr lang="en-US" altLang="en-US" sz="2000" dirty="0">
                <a:cs typeface="Arial" panose="020B0604020202020204" pitchFamily="34" charset="0"/>
              </a:rPr>
              <a:t> (subclass) 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display()</a:t>
            </a:r>
            <a:r>
              <a:rPr lang="en-US" altLang="en-US" sz="2000" dirty="0">
                <a:cs typeface="Arial" panose="020B0604020202020204" pitchFamily="34" charset="0"/>
              </a:rPr>
              <a:t> method.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C70B0-FB2D-47CB-9D5C-33F5D83D44F0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10" descr="U:\PC\publisher\2013 wiley slides\my pics\chapter10\questions program picture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55499"/>
          <a:stretch>
            <a:fillRect/>
          </a:stretch>
        </p:blipFill>
        <p:spPr bwMode="auto">
          <a:xfrm>
            <a:off x="838200" y="3581400"/>
            <a:ext cx="7469188" cy="1900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9" descr="U:\PC\publisher\2013 wiley slides\my pics\chapter10\questions program picture 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5851997" cy="2074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smtClean="0">
                <a:latin typeface="Arial Black" panose="020B0A04020102020204" pitchFamily="34" charset="0"/>
                <a:ea typeface="ＭＳ Ｐゴシック" pitchFamily="34" charset="-128"/>
              </a:rPr>
              <a:t>Questions.py (1)</a:t>
            </a:r>
          </a:p>
        </p:txBody>
      </p:sp>
      <p:sp>
        <p:nvSpPr>
          <p:cNvPr id="43015" name="TextBox 7"/>
          <p:cNvSpPr txBox="1">
            <a:spLocks noChangeArrowheads="1"/>
          </p:cNvSpPr>
          <p:nvPr/>
        </p:nvSpPr>
        <p:spPr bwMode="auto">
          <a:xfrm>
            <a:off x="4800600" y="1752600"/>
            <a:ext cx="3810000" cy="369332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Inherits from 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altLang="en-US" dirty="0">
                <a:cs typeface="Arial" panose="020B0604020202020204" pitchFamily="34" charset="0"/>
              </a:rPr>
              <a:t> class.</a:t>
            </a:r>
          </a:p>
        </p:txBody>
      </p:sp>
      <p:sp>
        <p:nvSpPr>
          <p:cNvPr id="43016" name="TextBox 6"/>
          <p:cNvSpPr txBox="1">
            <a:spLocks noChangeArrowheads="1"/>
          </p:cNvSpPr>
          <p:nvPr/>
        </p:nvSpPr>
        <p:spPr bwMode="auto">
          <a:xfrm>
            <a:off x="4953000" y="3276600"/>
            <a:ext cx="3124200" cy="369332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New 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addChoice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en-US" dirty="0">
                <a:cs typeface="Arial" panose="020B0604020202020204" pitchFamily="34" charset="0"/>
              </a:rPr>
              <a:t> method.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D66F-FA7A-4F86-B798-96BBE458E34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29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8" descr="U:\PC\publisher\2013 wiley slides\my pics\chapter10\questions program picture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3927"/>
          <a:stretch>
            <a:fillRect/>
          </a:stretch>
        </p:blipFill>
        <p:spPr bwMode="auto">
          <a:xfrm>
            <a:off x="762000" y="1295400"/>
            <a:ext cx="7162800" cy="2295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smtClean="0">
                <a:latin typeface="Arial Black" panose="020B0A04020102020204" pitchFamily="34" charset="0"/>
                <a:ea typeface="ＭＳ Ｐゴシック" pitchFamily="34" charset="-128"/>
              </a:rPr>
              <a:t>Questions.py (2)</a:t>
            </a:r>
          </a:p>
        </p:txBody>
      </p:sp>
      <p:sp>
        <p:nvSpPr>
          <p:cNvPr id="44038" name="TextBox 7"/>
          <p:cNvSpPr txBox="1">
            <a:spLocks noChangeArrowheads="1"/>
          </p:cNvSpPr>
          <p:nvPr/>
        </p:nvSpPr>
        <p:spPr bwMode="auto">
          <a:xfrm>
            <a:off x="5410200" y="1371600"/>
            <a:ext cx="3048000" cy="646331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Overridden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display()</a:t>
            </a:r>
            <a:r>
              <a:rPr lang="en-US" altLang="en-US" dirty="0">
                <a:cs typeface="Arial" panose="020B0604020202020204" pitchFamily="34" charset="0"/>
              </a:rPr>
              <a:t> method.</a:t>
            </a:r>
          </a:p>
        </p:txBody>
      </p:sp>
      <p:pic>
        <p:nvPicPr>
          <p:cNvPr id="44041" name="Picture 9" descr="U:\PC\publisher\2013 wiley slides\my pics\chapter10\questions program execu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49650"/>
            <a:ext cx="4568825" cy="289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4EC8-E7DE-49BD-AC7F-1BFDCC67511C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Common Error 10.2  (1)</a:t>
            </a:r>
          </a:p>
        </p:txBody>
      </p:sp>
      <p:sp>
        <p:nvSpPr>
          <p:cNvPr id="45059" name="Content Placeholder 9"/>
          <p:cNvSpPr>
            <a:spLocks noGrp="1"/>
          </p:cNvSpPr>
          <p:nvPr>
            <p:ph idx="1"/>
          </p:nvPr>
        </p:nvSpPr>
        <p:spPr>
          <a:xfrm>
            <a:off x="533400" y="4808621"/>
            <a:ext cx="7848600" cy="830179"/>
          </a:xfrm>
        </p:spPr>
        <p:txBody>
          <a:bodyPr/>
          <a:lstStyle/>
          <a:p>
            <a:pPr lvl="1"/>
            <a:r>
              <a:rPr lang="en-US" altLang="en-US" dirty="0" smtClean="0">
                <a:ea typeface="ＭＳ Ｐゴシック" pitchFamily="34" charset="-128"/>
              </a:rPr>
              <a:t>Here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itchFamily="34" charset="-128"/>
              </a:rPr>
              <a:t> refers to an object of type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Manager</a:t>
            </a:r>
            <a:r>
              <a:rPr lang="en-US" altLang="en-US" dirty="0" smtClean="0">
                <a:ea typeface="ＭＳ Ｐゴシック" pitchFamily="34" charset="-128"/>
              </a:rPr>
              <a:t> and there is a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getSalary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 method in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Manager</a:t>
            </a:r>
            <a:r>
              <a:rPr lang="en-US" altLang="en-US" dirty="0" smtClean="0">
                <a:ea typeface="ＭＳ Ｐゴシック" pitchFamily="34" charset="-128"/>
              </a:rPr>
              <a:t> class.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38200" y="2667000"/>
            <a:ext cx="7467600" cy="1828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Manager(Employee)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. . 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getSalary(self)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base =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self.getSalary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()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Error: should be super().getSalary()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return base + self._bonus</a:t>
            </a:r>
            <a:endParaRPr lang="en-US" dirty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45063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190500"/>
            <a:ext cx="19716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39AF-BE6D-442F-8A3E-6F374E0A27E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31</a:t>
            </a:fld>
            <a:endParaRPr lang="en-US" altLang="en-US" dirty="0"/>
          </a:p>
        </p:txBody>
      </p:sp>
      <p:sp>
        <p:nvSpPr>
          <p:cNvPr id="8" name="Content Placeholder 9"/>
          <p:cNvSpPr txBox="1">
            <a:spLocks/>
          </p:cNvSpPr>
          <p:nvPr/>
        </p:nvSpPr>
        <p:spPr>
          <a:xfrm>
            <a:off x="838200" y="1143000"/>
            <a:ext cx="7467600" cy="19812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itchFamily="34" charset="-128"/>
              </a:rPr>
              <a:t>Extending the functionality of a superclass method but forgetting to call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super()</a:t>
            </a:r>
            <a:r>
              <a:rPr lang="en-US" altLang="en-US" dirty="0" smtClean="0">
                <a:ea typeface="ＭＳ Ｐゴシック" pitchFamily="34" charset="-128"/>
              </a:rPr>
              <a:t> method. </a:t>
            </a:r>
          </a:p>
          <a:p>
            <a:pPr fontAlgn="auto"/>
            <a:r>
              <a:rPr lang="en-US" altLang="en-US" dirty="0" smtClean="0">
                <a:ea typeface="ＭＳ Ｐゴシック" pitchFamily="34" charset="-128"/>
              </a:rPr>
              <a:t>For example, to compute the salary of a manager, get the salary of the underlying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Employee</a:t>
            </a:r>
            <a:r>
              <a:rPr lang="en-US" altLang="en-US" dirty="0" smtClean="0">
                <a:ea typeface="ＭＳ Ｐゴシック" pitchFamily="34" charset="-128"/>
              </a:rPr>
              <a:t> object and add a bonus: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Common Error 10.2  (2)</a:t>
            </a:r>
          </a:p>
        </p:txBody>
      </p:sp>
      <p:sp>
        <p:nvSpPr>
          <p:cNvPr id="46083" name="Content Placeholder 9"/>
          <p:cNvSpPr>
            <a:spLocks noGrp="1"/>
          </p:cNvSpPr>
          <p:nvPr>
            <p:ph idx="1"/>
          </p:nvPr>
        </p:nvSpPr>
        <p:spPr>
          <a:xfrm>
            <a:off x="838200" y="1219200"/>
            <a:ext cx="7543800" cy="4953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Whenever you call a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method from a subclass method with the same name, be sure to use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super()</a:t>
            </a:r>
            <a:r>
              <a:rPr lang="en-US" altLang="en-US" dirty="0" smtClean="0">
                <a:ea typeface="ＭＳ Ｐゴシック" pitchFamily="34" charset="-128"/>
              </a:rPr>
              <a:t> function in place of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itchFamily="34" charset="-128"/>
              </a:rPr>
              <a:t> reference.</a:t>
            </a:r>
          </a:p>
          <a:p>
            <a:endParaRPr lang="en-US" altLang="en-US" dirty="0" smtClean="0">
              <a:ea typeface="ＭＳ Ｐゴシック" pitchFamily="34" charset="-128"/>
            </a:endParaRPr>
          </a:p>
          <a:p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24000" y="2209800"/>
            <a:ext cx="5715000" cy="1524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Manager(Employee)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. . 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getSalary(self)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base =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super().getSalary()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return base + self._bonus</a:t>
            </a:r>
            <a:endParaRPr lang="en-US" dirty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46087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190500"/>
            <a:ext cx="19716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5E4B-0C59-4BAC-A7F3-70417E547483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10.5 Polymorphism</a:t>
            </a:r>
          </a:p>
        </p:txBody>
      </p:sp>
      <p:sp>
        <p:nvSpPr>
          <p:cNvPr id="37892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7467600" cy="4038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QuestionDemo2</a:t>
            </a:r>
            <a:r>
              <a:rPr lang="en-US" dirty="0">
                <a:cs typeface="Consolas" pitchFamily="49" charset="0"/>
              </a:rPr>
              <a:t> </a:t>
            </a:r>
            <a:r>
              <a:rPr lang="en-US" dirty="0" smtClean="0"/>
              <a:t>passed two </a:t>
            </a:r>
            <a:r>
              <a:rPr lang="en-US" dirty="0" smtClean="0">
                <a:solidFill>
                  <a:srgbClr val="00B050"/>
                </a:solidFill>
                <a:latin typeface="Consolas" pitchFamily="49" charset="0"/>
              </a:rPr>
              <a:t>ChoiceQuestion</a:t>
            </a:r>
            <a:r>
              <a:rPr lang="en-US" dirty="0" smtClean="0"/>
              <a:t> objects to the </a:t>
            </a:r>
            <a:r>
              <a:rPr lang="en-US" dirty="0" smtClean="0">
                <a:solidFill>
                  <a:srgbClr val="865E01"/>
                </a:solidFill>
                <a:latin typeface="Consolas" pitchFamily="49" charset="0"/>
                <a:cs typeface="Consolas" pitchFamily="49" charset="0"/>
              </a:rPr>
              <a:t>presentQuestion()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method</a:t>
            </a:r>
          </a:p>
          <a:p>
            <a:pPr lvl="1">
              <a:defRPr/>
            </a:pPr>
            <a:r>
              <a:rPr lang="en-US" dirty="0" smtClean="0"/>
              <a:t>Can we write a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presentQuestion()</a:t>
            </a:r>
            <a:r>
              <a:rPr lang="en-US" dirty="0" smtClean="0"/>
              <a:t> method that displays both </a:t>
            </a:r>
            <a:r>
              <a:rPr lang="en-US" dirty="0" smtClean="0">
                <a:solidFill>
                  <a:srgbClr val="92D050"/>
                </a:solidFill>
                <a:latin typeface="Consolas" pitchFamily="49" charset="0"/>
                <a:ea typeface="+mn-ea"/>
                <a:cs typeface="+mn-cs"/>
              </a:rPr>
              <a:t>Question</a:t>
            </a:r>
            <a:r>
              <a:rPr lang="en-US" dirty="0" smtClean="0">
                <a:ea typeface="+mn-ea"/>
                <a:cs typeface="+mn-cs"/>
              </a:rPr>
              <a:t> </a:t>
            </a:r>
            <a:r>
              <a:rPr lang="en-US" dirty="0" smtClean="0"/>
              <a:t>and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</a:rPr>
              <a:t>ChoiceQuestion</a:t>
            </a:r>
            <a:r>
              <a:rPr lang="en-US" dirty="0"/>
              <a:t> </a:t>
            </a:r>
            <a:r>
              <a:rPr lang="en-US" dirty="0" smtClean="0"/>
              <a:t>types?</a:t>
            </a:r>
          </a:p>
          <a:p>
            <a:pPr lvl="1">
              <a:defRPr/>
            </a:pPr>
            <a:r>
              <a:rPr lang="en-US" b="1" dirty="0"/>
              <a:t>With inheritance, this goal is very easy to </a:t>
            </a:r>
            <a:r>
              <a:rPr lang="en-US" b="1" dirty="0" smtClean="0"/>
              <a:t>realize!</a:t>
            </a:r>
          </a:p>
          <a:p>
            <a:pPr lvl="1">
              <a:defRPr/>
            </a:pPr>
            <a:r>
              <a:rPr lang="en-US" dirty="0" smtClean="0"/>
              <a:t>In </a:t>
            </a:r>
            <a:r>
              <a:rPr lang="en-US" dirty="0"/>
              <a:t>order to present a question </a:t>
            </a:r>
            <a:r>
              <a:rPr lang="en-US" dirty="0" smtClean="0"/>
              <a:t>to the </a:t>
            </a:r>
            <a:r>
              <a:rPr lang="en-US" dirty="0"/>
              <a:t>user, we need not know the exact type of the question. 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We </a:t>
            </a:r>
            <a:r>
              <a:rPr lang="en-US" dirty="0"/>
              <a:t>just display the </a:t>
            </a:r>
            <a:r>
              <a:rPr lang="en-US" dirty="0" smtClean="0"/>
              <a:t>question and </a:t>
            </a:r>
            <a:r>
              <a:rPr lang="en-US" dirty="0"/>
              <a:t>check whether the user supplied the correct answer.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24000" y="4114800"/>
            <a:ext cx="601980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presentQuestion(q)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q.display()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response = input("Your answer: ")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q.checkAnswer(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response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)</a:t>
            </a:r>
            <a:endParaRPr lang="en-US" dirty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269F-0667-42E8-9BA6-E4A172F04E97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7620000" cy="715962"/>
          </a:xfrm>
        </p:spPr>
        <p:txBody>
          <a:bodyPr/>
          <a:lstStyle/>
          <a:p>
            <a:r>
              <a:rPr lang="en-US" altLang="en-US" sz="3400" dirty="0" smtClean="0">
                <a:ea typeface="ＭＳ Ｐゴシック" pitchFamily="34" charset="-128"/>
              </a:rPr>
              <a:t>Which </a:t>
            </a:r>
            <a:r>
              <a:rPr lang="en-US" altLang="en-US" sz="3400" dirty="0" smtClean="0">
                <a:latin typeface="Consolas" panose="020B0609020204030204" pitchFamily="49" charset="0"/>
                <a:ea typeface="ＭＳ Ｐゴシック" pitchFamily="34" charset="-128"/>
              </a:rPr>
              <a:t>Display()</a:t>
            </a:r>
            <a:r>
              <a:rPr lang="en-US" altLang="en-US" sz="3400" dirty="0" smtClean="0">
                <a:ea typeface="ＭＳ Ｐゴシック" pitchFamily="34" charset="-128"/>
              </a:rPr>
              <a:t> method was called?</a:t>
            </a:r>
          </a:p>
        </p:txBody>
      </p:sp>
      <p:sp>
        <p:nvSpPr>
          <p:cNvPr id="48136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8001000" cy="999876"/>
          </a:xfrm>
        </p:spPr>
        <p:txBody>
          <a:bodyPr>
            <a:normAutofit/>
          </a:bodyPr>
          <a:lstStyle/>
          <a:p>
            <a:r>
              <a:rPr lang="en-US" altLang="en-US" dirty="0" err="1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presentQuestion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()</a:t>
            </a:r>
            <a:r>
              <a:rPr lang="en-US" altLang="en-US" dirty="0" smtClean="0">
                <a:solidFill>
                  <a:srgbClr val="0033CC"/>
                </a:solidFill>
                <a:ea typeface="ＭＳ Ｐゴシック" pitchFamily="34" charset="-128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simply calls the </a:t>
            </a:r>
            <a:r>
              <a:rPr lang="en-US" altLang="en-US" dirty="0" smtClean="0">
                <a:solidFill>
                  <a:srgbClr val="C00000"/>
                </a:solidFill>
                <a:latin typeface="Consolas" panose="020B0609020204030204" pitchFamily="49" charset="0"/>
                <a:ea typeface="ＭＳ Ｐゴシック" pitchFamily="34" charset="-128"/>
              </a:rPr>
              <a:t>display()</a:t>
            </a:r>
            <a:r>
              <a:rPr lang="en-US" altLang="en-US" dirty="0" smtClean="0">
                <a:ea typeface="ＭＳ Ｐゴシック" pitchFamily="34" charset="-128"/>
              </a:rPr>
              <a:t> method of whatever type is passed:</a:t>
            </a:r>
          </a:p>
          <a:p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066800" y="1905000"/>
            <a:ext cx="6553200" cy="1219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def presentQuestion(q)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  <a:r>
              <a:rPr lang="en-US" kern="0" dirty="0">
                <a:solidFill>
                  <a:srgbClr val="C00000"/>
                </a:solidFill>
                <a:latin typeface="Consolas" pitchFamily="49" charset="0"/>
              </a:rPr>
              <a:t>q.display()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. . .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sz="2000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971800" y="2362200"/>
            <a:ext cx="5791200" cy="1524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200"/>
              </a:spcBef>
              <a:buClr>
                <a:srgbClr val="835E01"/>
              </a:buClr>
              <a:buSzPct val="60000"/>
              <a:buFont typeface="Wingdings" pitchFamily="2" charset="2"/>
              <a:buChar char="q"/>
              <a:defRPr/>
            </a:pPr>
            <a:r>
              <a:rPr lang="en-US" sz="2000" kern="0" dirty="0">
                <a:latin typeface="+mn-lt"/>
              </a:rPr>
              <a:t>If passed an object of the </a:t>
            </a:r>
            <a:r>
              <a:rPr lang="en-US" sz="2000" kern="0" dirty="0">
                <a:latin typeface="Consolas" pitchFamily="49" charset="0"/>
                <a:cs typeface="Consolas" pitchFamily="49" charset="0"/>
              </a:rPr>
              <a:t>Question</a:t>
            </a:r>
            <a:r>
              <a:rPr lang="en-US" sz="2000" kern="0" dirty="0">
                <a:latin typeface="+mn-lt"/>
              </a:rPr>
              <a:t> class:</a:t>
            </a:r>
          </a:p>
          <a:p>
            <a:pPr marL="742950" lvl="1" indent="-285750" eaLnBrk="0" hangingPunct="0">
              <a:spcBef>
                <a:spcPts val="200"/>
              </a:spcBef>
              <a:buClr>
                <a:srgbClr val="835E01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2000" kern="0" dirty="0">
                <a:solidFill>
                  <a:srgbClr val="92D050"/>
                </a:solidFill>
                <a:latin typeface="Consolas" pitchFamily="49" charset="0"/>
              </a:rPr>
              <a:t>Question display()</a:t>
            </a:r>
          </a:p>
          <a:p>
            <a:pPr marL="342900" indent="-342900" eaLnBrk="0" hangingPunct="0">
              <a:spcBef>
                <a:spcPts val="200"/>
              </a:spcBef>
              <a:buClr>
                <a:srgbClr val="835E01"/>
              </a:buClr>
              <a:buSzPct val="60000"/>
              <a:buFont typeface="Wingdings" pitchFamily="2" charset="2"/>
              <a:buChar char="q"/>
              <a:defRPr/>
            </a:pPr>
            <a:r>
              <a:rPr lang="en-US" sz="2000" kern="0" dirty="0">
                <a:latin typeface="+mn-lt"/>
              </a:rPr>
              <a:t>If passed an object of the </a:t>
            </a:r>
            <a:r>
              <a:rPr lang="en-US" sz="2000" kern="0" dirty="0">
                <a:latin typeface="Consolas" pitchFamily="49" charset="0"/>
                <a:cs typeface="Consolas" pitchFamily="49" charset="0"/>
              </a:rPr>
              <a:t>ChoiceQuestion</a:t>
            </a:r>
            <a:r>
              <a:rPr lang="en-US" sz="2000" kern="0" dirty="0">
                <a:latin typeface="+mn-lt"/>
              </a:rPr>
              <a:t> class:</a:t>
            </a:r>
          </a:p>
          <a:p>
            <a:pPr marL="742950" lvl="1" indent="-285750" eaLnBrk="0" hangingPunct="0">
              <a:spcBef>
                <a:spcPts val="200"/>
              </a:spcBef>
              <a:buClr>
                <a:srgbClr val="835E01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2000" kern="0" dirty="0">
                <a:solidFill>
                  <a:srgbClr val="00B050"/>
                </a:solidFill>
                <a:latin typeface="Consolas" pitchFamily="49" charset="0"/>
              </a:rPr>
              <a:t>ChoiceQuestion display()</a:t>
            </a:r>
          </a:p>
          <a:p>
            <a:pPr marL="742950" lvl="1" indent="-285750" eaLnBrk="0" hangingPunct="0">
              <a:spcBef>
                <a:spcPts val="200"/>
              </a:spcBef>
              <a:buClr>
                <a:srgbClr val="835E01"/>
              </a:buClr>
              <a:buSzPct val="100000"/>
              <a:buFont typeface="Wingdings" pitchFamily="2" charset="2"/>
              <a:buChar char="§"/>
              <a:defRPr/>
            </a:pPr>
            <a:endParaRPr lang="en-US" sz="2000" kern="0" dirty="0">
              <a:solidFill>
                <a:srgbClr val="00B050"/>
              </a:solidFill>
              <a:latin typeface="Consolas" pitchFamily="49" charset="0"/>
            </a:endParaRPr>
          </a:p>
        </p:txBody>
      </p:sp>
      <p:grpSp>
        <p:nvGrpSpPr>
          <p:cNvPr id="48135" name="Group 2"/>
          <p:cNvGrpSpPr>
            <a:grpSpLocks/>
          </p:cNvGrpSpPr>
          <p:nvPr/>
        </p:nvGrpSpPr>
        <p:grpSpPr bwMode="auto">
          <a:xfrm>
            <a:off x="1371600" y="4343400"/>
            <a:ext cx="6324600" cy="1700213"/>
            <a:chOff x="1371601" y="4419600"/>
            <a:chExt cx="6324600" cy="1699680"/>
          </a:xfrm>
        </p:grpSpPr>
        <p:pic>
          <p:nvPicPr>
            <p:cNvPr id="48137" name="Picture 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1" y="4419600"/>
              <a:ext cx="6324600" cy="169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5334001" y="5719355"/>
              <a:ext cx="2362200" cy="3999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742950" lvl="1" indent="-285750" eaLnBrk="0" hangingPunct="0">
                <a:spcBef>
                  <a:spcPts val="200"/>
                </a:spcBef>
                <a:buClr>
                  <a:srgbClr val="835E01"/>
                </a:buClr>
                <a:buSzPct val="100000"/>
                <a:defRPr/>
              </a:pPr>
              <a:r>
                <a:rPr lang="en-US" sz="2000" kern="0" dirty="0">
                  <a:latin typeface="Consolas" pitchFamily="49" charset="0"/>
                </a:rPr>
                <a:t>display()</a:t>
              </a:r>
            </a:p>
          </p:txBody>
        </p:sp>
        <p:sp>
          <p:nvSpPr>
            <p:cNvPr id="48139" name="TextBox 1"/>
            <p:cNvSpPr txBox="1">
              <a:spLocks noChangeArrowheads="1"/>
            </p:cNvSpPr>
            <p:nvPr/>
          </p:nvSpPr>
          <p:spPr bwMode="auto">
            <a:xfrm>
              <a:off x="5783223" y="49530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/>
                <a:t>_</a:t>
              </a:r>
            </a:p>
          </p:txBody>
        </p:sp>
        <p:sp>
          <p:nvSpPr>
            <p:cNvPr id="48140" name="TextBox 12"/>
            <p:cNvSpPr txBox="1">
              <a:spLocks noChangeArrowheads="1"/>
            </p:cNvSpPr>
            <p:nvPr/>
          </p:nvSpPr>
          <p:spPr bwMode="auto">
            <a:xfrm>
              <a:off x="5600700" y="5181572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/>
                <a:t>_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6D07A-8023-4B5D-978F-B7B86533F19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09600" y="3810000"/>
            <a:ext cx="8153400" cy="73797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variable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q</a:t>
            </a:r>
            <a:r>
              <a:rPr lang="en-US" altLang="en-US" dirty="0" smtClean="0">
                <a:ea typeface="ＭＳ Ｐゴシック" pitchFamily="34" charset="-128"/>
              </a:rPr>
              <a:t> does not know the type of object to which it refers:</a:t>
            </a:r>
          </a:p>
          <a:p>
            <a:pPr lvl="1" fontAlgn="auto"/>
            <a:endParaRPr lang="en-US" altLang="en-US" dirty="0" smtClean="0">
              <a:solidFill>
                <a:srgbClr val="00B050"/>
              </a:solidFill>
              <a:latin typeface="Consolas" panose="020B0609020204030204" pitchFamily="49" charset="0"/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Why Does This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183394"/>
          </a:xfrm>
        </p:spPr>
        <p:txBody>
          <a:bodyPr/>
          <a:lstStyle/>
          <a:p>
            <a:pPr>
              <a:defRPr/>
            </a:pPr>
            <a:r>
              <a:rPr lang="en-US" dirty="0"/>
              <a:t>As discussed in Section 10.1, we can substitute a subclass object whenever a </a:t>
            </a:r>
            <a:r>
              <a:rPr lang="en-US" dirty="0" smtClean="0"/>
              <a:t>superclass object </a:t>
            </a:r>
            <a:r>
              <a:rPr lang="en-US" dirty="0"/>
              <a:t>is expected</a:t>
            </a:r>
            <a:r>
              <a:rPr lang="en-US" dirty="0" smtClean="0"/>
              <a:t>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22959" y="2133600"/>
            <a:ext cx="7406641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second =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ChoiceQuestion()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presentQuestion(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second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) 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OK to pass a ChoiceQuestion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D11A0-BBC9-4ECE-AC92-84DF5959F38B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35</a:t>
            </a:fld>
            <a:endParaRPr lang="en-US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8" y="3124200"/>
            <a:ext cx="7543801" cy="18877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dirty="0" smtClean="0"/>
              <a:t>Note however you cannot substitute a superclass object when a subclass object is expected.</a:t>
            </a:r>
          </a:p>
          <a:p>
            <a:pPr lvl="1" fontAlgn="auto">
              <a:defRPr/>
            </a:pPr>
            <a:r>
              <a:rPr lang="en-US" dirty="0" smtClean="0"/>
              <a:t>An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AttributeError</a:t>
            </a:r>
            <a:r>
              <a:rPr lang="en-US" dirty="0" smtClean="0"/>
              <a:t> exception will be raised.</a:t>
            </a:r>
          </a:p>
          <a:p>
            <a:pPr lvl="1" fontAlgn="auto">
              <a:defRPr/>
            </a:pPr>
            <a:r>
              <a:rPr lang="en-US" dirty="0" smtClean="0"/>
              <a:t>The parent class has fewer capabilities than the child class (you cannot invoke a method on an object that has not been defined by that object’s class).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Polymorphism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 Python, method calls </a:t>
            </a:r>
            <a:r>
              <a:rPr lang="en-US" i="1" dirty="0" smtClean="0"/>
              <a:t>are always determined by the type of the actual object, </a:t>
            </a:r>
            <a:r>
              <a:rPr lang="en-US" b="1" dirty="0" smtClean="0"/>
              <a:t>not </a:t>
            </a:r>
            <a:r>
              <a:rPr lang="en-US" dirty="0" smtClean="0"/>
              <a:t>the type of the variable containing the object reference </a:t>
            </a:r>
          </a:p>
          <a:p>
            <a:pPr lvl="1">
              <a:defRPr/>
            </a:pPr>
            <a:r>
              <a:rPr lang="en-US" dirty="0" smtClean="0">
                <a:ea typeface="+mn-ea"/>
                <a:cs typeface="+mn-cs"/>
              </a:rPr>
              <a:t>This is called </a:t>
            </a:r>
            <a:r>
              <a:rPr lang="en-US" i="1" dirty="0" smtClean="0">
                <a:ea typeface="+mn-ea"/>
                <a:cs typeface="+mn-cs"/>
              </a:rPr>
              <a:t>dynamic method lookup</a:t>
            </a:r>
          </a:p>
          <a:p>
            <a:pPr lvl="1">
              <a:defRPr/>
            </a:pPr>
            <a:r>
              <a:rPr lang="en-US" dirty="0" smtClean="0">
                <a:ea typeface="+mn-ea"/>
                <a:cs typeface="+mn-cs"/>
              </a:rPr>
              <a:t>Dynamic method lookup allows us to treat objects of different classes in a uniform way </a:t>
            </a:r>
          </a:p>
          <a:p>
            <a:pPr>
              <a:defRPr/>
            </a:pPr>
            <a:r>
              <a:rPr lang="en-US" dirty="0" smtClean="0"/>
              <a:t>This feature is called </a:t>
            </a:r>
            <a:r>
              <a:rPr lang="en-US" b="1" dirty="0" smtClean="0"/>
              <a:t>polymorphism </a:t>
            </a:r>
          </a:p>
          <a:p>
            <a:pPr>
              <a:defRPr/>
            </a:pPr>
            <a:r>
              <a:rPr lang="en-US" dirty="0" smtClean="0"/>
              <a:t>We ask multiple objects to carry out a task, and each object does so in its own way</a:t>
            </a:r>
          </a:p>
          <a:p>
            <a:pPr>
              <a:defRPr/>
            </a:pPr>
            <a:r>
              <a:rPr lang="en-US" dirty="0" smtClean="0"/>
              <a:t>Polymorphism makes programs </a:t>
            </a:r>
            <a:r>
              <a:rPr lang="en-US" i="1" dirty="0" smtClean="0"/>
              <a:t>easily extensible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BF4-173E-4605-9CF1-583732724F5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7010400" cy="4390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smtClean="0">
                <a:latin typeface="Arial Black" panose="020B0A04020102020204" pitchFamily="34" charset="0"/>
                <a:ea typeface="ＭＳ Ｐゴシック" pitchFamily="34" charset="-128"/>
              </a:rPr>
              <a:t>Questiondemo3.py (1)</a:t>
            </a:r>
          </a:p>
        </p:txBody>
      </p:sp>
      <p:sp>
        <p:nvSpPr>
          <p:cNvPr id="51204" name="TextBox 5"/>
          <p:cNvSpPr txBox="1">
            <a:spLocks noChangeArrowheads="1"/>
          </p:cNvSpPr>
          <p:nvPr/>
        </p:nvSpPr>
        <p:spPr bwMode="auto">
          <a:xfrm>
            <a:off x="3581400" y="2514600"/>
            <a:ext cx="4495800" cy="369332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Creates an object of the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altLang="en-US" dirty="0">
                <a:cs typeface="Arial" panose="020B0604020202020204" pitchFamily="34" charset="0"/>
              </a:rPr>
              <a:t> class</a:t>
            </a:r>
          </a:p>
        </p:txBody>
      </p:sp>
      <p:sp>
        <p:nvSpPr>
          <p:cNvPr id="51205" name="TextBox 7"/>
          <p:cNvSpPr txBox="1">
            <a:spLocks noChangeArrowheads="1"/>
          </p:cNvSpPr>
          <p:nvPr/>
        </p:nvSpPr>
        <p:spPr bwMode="auto">
          <a:xfrm>
            <a:off x="4572000" y="3205163"/>
            <a:ext cx="4572000" cy="646112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>
                <a:cs typeface="Arial" panose="020B0604020202020204" pitchFamily="34" charset="0"/>
              </a:rPr>
              <a:t>Creates an object of the </a:t>
            </a:r>
            <a:r>
              <a:rPr lang="en-US" altLang="en-US">
                <a:latin typeface="Consolas" panose="020B0609020204030204" pitchFamily="49" charset="0"/>
                <a:cs typeface="Consolas" panose="020B0609020204030204" pitchFamily="49" charset="0"/>
              </a:rPr>
              <a:t>ChoiceQuestion</a:t>
            </a:r>
            <a:r>
              <a:rPr lang="en-US" altLang="en-US">
                <a:cs typeface="Arial" panose="020B0604020202020204" pitchFamily="34" charset="0"/>
              </a:rPr>
              <a:t> class, uses new </a:t>
            </a:r>
            <a:r>
              <a:rPr lang="en-US" altLang="en-US">
                <a:latin typeface="Consolas" panose="020B0609020204030204" pitchFamily="49" charset="0"/>
                <a:cs typeface="Consolas" panose="020B0609020204030204" pitchFamily="49" charset="0"/>
              </a:rPr>
              <a:t>addChoice()</a:t>
            </a:r>
            <a:r>
              <a:rPr lang="en-US" altLang="en-US">
                <a:cs typeface="Arial" panose="020B0604020202020204" pitchFamily="34" charset="0"/>
              </a:rPr>
              <a:t> method.</a:t>
            </a:r>
          </a:p>
        </p:txBody>
      </p:sp>
      <p:sp>
        <p:nvSpPr>
          <p:cNvPr id="51206" name="TextBox 8"/>
          <p:cNvSpPr txBox="1">
            <a:spLocks noChangeArrowheads="1"/>
          </p:cNvSpPr>
          <p:nvPr/>
        </p:nvSpPr>
        <p:spPr bwMode="auto">
          <a:xfrm>
            <a:off x="4038600" y="4876800"/>
            <a:ext cx="3962400" cy="646113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dirty="0" smtClean="0">
                <a:cs typeface="Arial" charset="0"/>
              </a:rPr>
              <a:t>Calls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presentQuestion()</a:t>
            </a:r>
            <a:r>
              <a:rPr lang="en-US" dirty="0" smtClean="0">
                <a:latin typeface="+mn-lt"/>
                <a:cs typeface="Consolas" pitchFamily="49" charset="0"/>
              </a:rPr>
              <a:t> </a:t>
            </a:r>
            <a:r>
              <a:rPr lang="en-US" dirty="0" smtClean="0">
                <a:cs typeface="Arial" charset="0"/>
              </a:rPr>
              <a:t>- next page  - passed both types of objects.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31A91-3D3A-42F2-A18D-8D09B5EE7967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37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431" b="68065"/>
          <a:stretch>
            <a:fillRect/>
          </a:stretch>
        </p:blipFill>
        <p:spPr bwMode="auto">
          <a:xfrm>
            <a:off x="914400" y="1295400"/>
            <a:ext cx="7389794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Title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smtClean="0">
                <a:latin typeface="Arial Black" panose="020B0A04020102020204" pitchFamily="34" charset="0"/>
                <a:ea typeface="ＭＳ Ｐゴシック" pitchFamily="34" charset="-128"/>
              </a:rPr>
              <a:t>Questiondemo3.py (2)</a:t>
            </a: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3962400" y="1600200"/>
            <a:ext cx="2971800" cy="646331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Receives a parameter of the super-class type</a:t>
            </a:r>
          </a:p>
        </p:txBody>
      </p:sp>
      <p:pic>
        <p:nvPicPr>
          <p:cNvPr id="52231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797" t="86870" r="365"/>
          <a:stretch>
            <a:fillRect/>
          </a:stretch>
        </p:blipFill>
        <p:spPr bwMode="auto">
          <a:xfrm>
            <a:off x="914400" y="2971800"/>
            <a:ext cx="7240588" cy="744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2" name="TextBox 5"/>
          <p:cNvSpPr txBox="1">
            <a:spLocks noChangeArrowheads="1"/>
          </p:cNvSpPr>
          <p:nvPr/>
        </p:nvSpPr>
        <p:spPr bwMode="auto">
          <a:xfrm>
            <a:off x="5410200" y="2895600"/>
            <a:ext cx="1752600" cy="1200329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Uses appropriate display method.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58FB-B843-470F-8891-B60653744F3B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Special Topic 10.2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3408961"/>
            <a:ext cx="7543801" cy="1887786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sz="2000" dirty="0" smtClean="0"/>
          </a:p>
          <a:p>
            <a:pPr lvl="2" indent="-285750">
              <a:defRPr/>
            </a:pPr>
            <a:r>
              <a:rPr lang="en-US" sz="1800" dirty="0" smtClean="0"/>
              <a:t>will </a:t>
            </a:r>
            <a:r>
              <a:rPr lang="en-US" sz="1800" dirty="0"/>
              <a:t>return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True</a:t>
            </a:r>
            <a:r>
              <a:rPr lang="en-US" sz="1800" dirty="0"/>
              <a:t> if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q</a:t>
            </a:r>
            <a:r>
              <a:rPr lang="en-US" sz="1800" dirty="0"/>
              <a:t> is an instance of the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Question</a:t>
            </a:r>
            <a:r>
              <a:rPr lang="en-US" sz="1800" dirty="0"/>
              <a:t> class or of any subclass that extends the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Question</a:t>
            </a:r>
            <a:r>
              <a:rPr lang="en-US" sz="1800" dirty="0" smtClean="0"/>
              <a:t> class,</a:t>
            </a:r>
          </a:p>
          <a:p>
            <a:pPr lvl="2">
              <a:defRPr/>
            </a:pPr>
            <a:r>
              <a:rPr lang="en-US" sz="1800" dirty="0"/>
              <a:t>o</a:t>
            </a:r>
            <a:r>
              <a:rPr lang="en-US" sz="1800" dirty="0" smtClean="0"/>
              <a:t>therwise</a:t>
            </a:r>
            <a:r>
              <a:rPr lang="en-US" sz="1800" dirty="0"/>
              <a:t>, it returns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False</a:t>
            </a:r>
            <a:r>
              <a:rPr lang="en-US" sz="1800" dirty="0" smtClean="0"/>
              <a:t>.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123950" y="3352800"/>
            <a:ext cx="3829050" cy="3429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isinstance(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q, Question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969B3-AF74-41A6-B5DE-E6DF91843E64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39</a:t>
            </a:fld>
            <a:endParaRPr lang="en-US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75359" y="1407406"/>
            <a:ext cx="7543801" cy="461408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dirty="0" smtClean="0"/>
              <a:t>Subclasses and Instances:</a:t>
            </a:r>
          </a:p>
          <a:p>
            <a:pPr lvl="1" fontAlgn="auto">
              <a:defRPr/>
            </a:pPr>
            <a:r>
              <a:rPr lang="en-US" dirty="0" smtClean="0"/>
              <a:t>You learned that the </a:t>
            </a:r>
            <a:r>
              <a:rPr lang="en-US" dirty="0" err="1" smtClean="0">
                <a:solidFill>
                  <a:srgbClr val="0033CC"/>
                </a:solidFill>
              </a:rPr>
              <a:t>i</a:t>
            </a:r>
            <a:r>
              <a:rPr lang="en-US" dirty="0" err="1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sinstance</a:t>
            </a:r>
            <a:r>
              <a:rPr lang="en-US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() </a:t>
            </a:r>
            <a:r>
              <a:rPr lang="en-US" dirty="0" smtClean="0"/>
              <a:t>function can be used to determine if an object is an instance of a specific class. </a:t>
            </a:r>
          </a:p>
          <a:p>
            <a:pPr lvl="1" fontAlgn="auto">
              <a:defRPr/>
            </a:pPr>
            <a:r>
              <a:rPr lang="en-US" dirty="0" smtClean="0"/>
              <a:t>But the </a:t>
            </a:r>
            <a:r>
              <a:rPr lang="en-US" dirty="0" err="1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isinstance</a:t>
            </a:r>
            <a:r>
              <a:rPr lang="en-US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()</a:t>
            </a:r>
            <a:r>
              <a:rPr lang="en-US" dirty="0" smtClean="0">
                <a:solidFill>
                  <a:srgbClr val="0033CC"/>
                </a:solidFill>
              </a:rPr>
              <a:t>  </a:t>
            </a:r>
            <a:r>
              <a:rPr lang="en-US" dirty="0" smtClean="0"/>
              <a:t>function can also be used to determine if an object is an instance of a subclass. </a:t>
            </a:r>
          </a:p>
          <a:p>
            <a:pPr lvl="1" fontAlgn="auto">
              <a:defRPr/>
            </a:pPr>
            <a:r>
              <a:rPr lang="en-US" dirty="0" smtClean="0"/>
              <a:t>For example, the function call: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Use of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Isinstance()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SzPct val="60000"/>
              <a:buFont typeface="Wingdings" panose="05000000000000000000" pitchFamily="2" charset="2"/>
              <a:buChar char="q"/>
            </a:pPr>
            <a:r>
              <a:rPr lang="en-US" altLang="en-US" dirty="0" smtClean="0">
                <a:ea typeface="ＭＳ Ｐゴシック" pitchFamily="34" charset="-128"/>
              </a:rPr>
              <a:t>A common use of the </a:t>
            </a:r>
            <a:r>
              <a:rPr lang="en-US" altLang="en-US" dirty="0" err="1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isinstance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  function is to verify that the arguments passed to a function or method are of the correct type.</a:t>
            </a:r>
          </a:p>
          <a:p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38200" y="2057400"/>
            <a:ext cx="756285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presentQuestion(q)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if not isintance(q, Question)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raise TypeError("The argument is not a Question or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one of its subclasses.")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5705-8930-495B-B613-FF8664B706E4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Special Topic 10.3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7772400" cy="11430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Dynamic Method Lookup </a:t>
            </a:r>
          </a:p>
          <a:p>
            <a:pPr lvl="1"/>
            <a:r>
              <a:rPr lang="en-US" altLang="en-US" sz="2000" dirty="0" smtClean="0">
                <a:ea typeface="ＭＳ Ｐゴシック" pitchFamily="34" charset="-128"/>
              </a:rPr>
              <a:t>Suppose we move the </a:t>
            </a:r>
            <a:r>
              <a:rPr lang="en-US" altLang="en-US" sz="2000" dirty="0" err="1" smtClean="0">
                <a:latin typeface="Consolas" panose="020B0609020204030204" pitchFamily="49" charset="0"/>
                <a:ea typeface="ＭＳ Ｐゴシック" pitchFamily="34" charset="-128"/>
              </a:rPr>
              <a:t>presentQuestion</a:t>
            </a:r>
            <a:r>
              <a:rPr lang="en-US" altLang="en-US" sz="2000" dirty="0" smtClean="0">
                <a:latin typeface="Consolas" panose="020B0609020204030204" pitchFamily="49" charset="0"/>
                <a:ea typeface="ＭＳ Ｐゴシック" pitchFamily="34" charset="-128"/>
              </a:rPr>
              <a:t>()</a:t>
            </a:r>
            <a:r>
              <a:rPr lang="en-US" altLang="en-US" sz="2000" dirty="0" smtClean="0">
                <a:ea typeface="ＭＳ Ｐゴシック" pitchFamily="34" charset="-128"/>
              </a:rPr>
              <a:t> method to inside the </a:t>
            </a:r>
            <a:r>
              <a:rPr lang="en-US" altLang="en-US" sz="2000" dirty="0" smtClean="0">
                <a:latin typeface="Consolas" panose="020B0609020204030204" pitchFamily="49" charset="0"/>
                <a:ea typeface="ＭＳ Ｐゴシック" pitchFamily="34" charset="-128"/>
              </a:rPr>
              <a:t>Question</a:t>
            </a:r>
            <a:r>
              <a:rPr lang="en-US" altLang="en-US" sz="2000" dirty="0" smtClean="0">
                <a:ea typeface="ＭＳ Ｐゴシック" pitchFamily="34" charset="-128"/>
              </a:rPr>
              <a:t> class and call it as follows: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57200" y="2286000"/>
            <a:ext cx="8382000" cy="1219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cq = ChoiceQuestion()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cq.setText("In which country was the inventor of Python born?")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. . .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cq.presentQuestion()</a:t>
            </a: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600200" y="3657600"/>
            <a:ext cx="5867400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def presentQuestion(self)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display()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response = input(</a:t>
            </a:r>
            <a:r>
              <a:rPr lang="en-US" dirty="0"/>
              <a:t>"Your answer: "</a:t>
            </a:r>
            <a:r>
              <a:rPr lang="en-US" kern="0" dirty="0">
                <a:latin typeface="Consolas" pitchFamily="49" charset="0"/>
              </a:rPr>
              <a:t>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print(self.</a:t>
            </a:r>
            <a:r>
              <a:rPr lang="en-US" kern="0" dirty="0">
                <a:solidFill>
                  <a:srgbClr val="00B050"/>
                </a:solidFill>
                <a:latin typeface="Consolas" pitchFamily="49" charset="0"/>
              </a:rPr>
              <a:t>checkAnswer</a:t>
            </a:r>
            <a:r>
              <a:rPr lang="en-US" kern="0" dirty="0">
                <a:latin typeface="Consolas" pitchFamily="49" charset="0"/>
              </a:rPr>
              <a:t>(response))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7FB5-2A9F-4B90-AD93-081A9066F18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41</a:t>
            </a:fld>
            <a:endParaRPr lang="en-US" alt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33400" y="5105400"/>
            <a:ext cx="8229600" cy="76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itchFamily="34" charset="-128"/>
              </a:rPr>
              <a:t>Which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display()</a:t>
            </a:r>
            <a:r>
              <a:rPr lang="en-US" altLang="en-US" dirty="0" smtClean="0">
                <a:ea typeface="ＭＳ Ｐゴシック" pitchFamily="34" charset="-128"/>
              </a:rPr>
              <a:t> and </a:t>
            </a:r>
            <a:r>
              <a:rPr lang="en-US" altLang="en-US" dirty="0" err="1" smtClean="0">
                <a:solidFill>
                  <a:srgbClr val="00B050"/>
                </a:solidFill>
                <a:latin typeface="Consolas" panose="020B0609020204030204" pitchFamily="49" charset="0"/>
                <a:ea typeface="ＭＳ Ｐゴシック" pitchFamily="34" charset="-128"/>
              </a:rPr>
              <a:t>checkAnswer</a:t>
            </a:r>
            <a:r>
              <a:rPr lang="en-US" altLang="en-US" dirty="0" smtClean="0">
                <a:solidFill>
                  <a:srgbClr val="00B050"/>
                </a:solidFill>
                <a:latin typeface="Consolas" panose="020B0609020204030204" pitchFamily="49" charset="0"/>
                <a:ea typeface="ＭＳ Ｐゴシック" pitchFamily="34" charset="-128"/>
              </a:rPr>
              <a:t>()</a:t>
            </a:r>
            <a:r>
              <a:rPr lang="en-US" altLang="en-US" dirty="0" smtClean="0">
                <a:solidFill>
                  <a:srgbClr val="00B050"/>
                </a:solidFill>
                <a:ea typeface="ＭＳ Ｐゴシック" pitchFamily="34" charset="-128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methods will be called?</a:t>
            </a:r>
          </a:p>
          <a:p>
            <a:pPr lvl="1" fontAlgn="auto"/>
            <a:endParaRPr lang="en-US" alt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Dynamic Method Lookup 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7543800" cy="4953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If you look at the code of the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presentQuestion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</a:t>
            </a:r>
            <a:r>
              <a:rPr lang="en-US" dirty="0" smtClean="0"/>
              <a:t> method, you can see that these methods are executed on the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 smtClean="0"/>
              <a:t> reference parameter.</a:t>
            </a:r>
          </a:p>
          <a:p>
            <a:pPr lvl="1">
              <a:defRPr/>
            </a:pPr>
            <a:r>
              <a:rPr lang="en-US" sz="2000" dirty="0" smtClean="0">
                <a:ea typeface="+mn-ea"/>
                <a:cs typeface="+mn-cs"/>
              </a:rPr>
              <a:t>Because of dynamic method lookup, the </a:t>
            </a:r>
            <a:r>
              <a:rPr lang="en-US" sz="2000" dirty="0" err="1" smtClean="0">
                <a:latin typeface="Consolas" pitchFamily="49" charset="0"/>
                <a:ea typeface="+mn-ea"/>
                <a:cs typeface="+mn-cs"/>
              </a:rPr>
              <a:t>ChoiceQuestion</a:t>
            </a:r>
            <a:r>
              <a:rPr lang="en-US" sz="2000" dirty="0" smtClean="0">
                <a:ea typeface="+mn-ea"/>
                <a:cs typeface="+mn-cs"/>
              </a:rPr>
              <a:t> versions of the </a:t>
            </a:r>
            <a:r>
              <a:rPr lang="en-US" sz="2000" dirty="0" smtClean="0">
                <a:solidFill>
                  <a:srgbClr val="0033CC"/>
                </a:solidFill>
                <a:latin typeface="Consolas" pitchFamily="49" charset="0"/>
                <a:ea typeface="+mn-ea"/>
                <a:cs typeface="+mn-cs"/>
              </a:rPr>
              <a:t>display()</a:t>
            </a:r>
            <a:r>
              <a:rPr lang="en-US" sz="2000" dirty="0" smtClean="0">
                <a:ea typeface="+mn-ea"/>
                <a:cs typeface="+mn-cs"/>
              </a:rPr>
              <a:t> and </a:t>
            </a:r>
            <a:r>
              <a:rPr lang="en-US" sz="2000" dirty="0" err="1" smtClean="0">
                <a:solidFill>
                  <a:srgbClr val="00B050"/>
                </a:solidFill>
                <a:latin typeface="Consolas" pitchFamily="49" charset="0"/>
                <a:ea typeface="+mn-ea"/>
                <a:cs typeface="+mn-cs"/>
              </a:rPr>
              <a:t>checkAnswer</a:t>
            </a:r>
            <a:r>
              <a:rPr lang="en-US" sz="2000" dirty="0" smtClean="0">
                <a:solidFill>
                  <a:srgbClr val="00B050"/>
                </a:solidFill>
                <a:latin typeface="Consolas" pitchFamily="49" charset="0"/>
                <a:ea typeface="+mn-ea"/>
                <a:cs typeface="+mn-cs"/>
              </a:rPr>
              <a:t>()</a:t>
            </a:r>
            <a:r>
              <a:rPr lang="en-US" sz="2000" dirty="0" smtClean="0">
                <a:ea typeface="+mn-ea"/>
                <a:cs typeface="+mn-cs"/>
              </a:rPr>
              <a:t> methods are called automatically. </a:t>
            </a:r>
          </a:p>
          <a:p>
            <a:pPr lvl="1">
              <a:defRPr/>
            </a:pPr>
            <a:r>
              <a:rPr lang="en-US" sz="2000" dirty="0" smtClean="0">
                <a:ea typeface="+mn-ea"/>
                <a:cs typeface="+mn-cs"/>
              </a:rPr>
              <a:t>This happens even though the </a:t>
            </a:r>
            <a:r>
              <a:rPr lang="en-US" sz="2000" dirty="0" smtClean="0">
                <a:latin typeface="Consolas" pitchFamily="49" charset="0"/>
                <a:ea typeface="+mn-ea"/>
                <a:cs typeface="+mn-cs"/>
              </a:rPr>
              <a:t>presentQuestion()</a:t>
            </a:r>
            <a:r>
              <a:rPr lang="en-US" sz="2000" dirty="0" smtClean="0"/>
              <a:t> </a:t>
            </a:r>
            <a:r>
              <a:rPr lang="en-US" sz="2000" dirty="0" smtClean="0">
                <a:ea typeface="+mn-ea"/>
                <a:cs typeface="+mn-cs"/>
              </a:rPr>
              <a:t>method is declared in the </a:t>
            </a:r>
            <a:r>
              <a:rPr lang="en-US" sz="2000" dirty="0" smtClean="0">
                <a:latin typeface="Consolas" pitchFamily="49" charset="0"/>
                <a:ea typeface="+mn-ea"/>
                <a:cs typeface="+mn-cs"/>
              </a:rPr>
              <a:t>Question</a:t>
            </a:r>
            <a:r>
              <a:rPr lang="en-US" sz="2000" dirty="0" smtClean="0">
                <a:ea typeface="+mn-ea"/>
                <a:cs typeface="+mn-cs"/>
              </a:rPr>
              <a:t> class, which has no knowledge of the </a:t>
            </a:r>
            <a:r>
              <a:rPr lang="en-US" sz="2000" dirty="0" smtClean="0">
                <a:latin typeface="Consolas" pitchFamily="49" charset="0"/>
                <a:ea typeface="+mn-ea"/>
                <a:cs typeface="+mn-cs"/>
              </a:rPr>
              <a:t>ChoiceQuestion</a:t>
            </a:r>
            <a:r>
              <a:rPr lang="en-US" sz="2000" dirty="0" smtClean="0">
                <a:ea typeface="+mn-ea"/>
                <a:cs typeface="+mn-cs"/>
              </a:rPr>
              <a:t> class.</a:t>
            </a:r>
            <a:endParaRPr lang="en-US" sz="2000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143000" y="4038600"/>
            <a:ext cx="7010400" cy="1524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class Question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def presentQuestion(self)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self.display()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response = input("Your answer: ")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print(</a:t>
            </a:r>
            <a:r>
              <a:rPr lang="en-US" kern="0" dirty="0">
                <a:solidFill>
                  <a:srgbClr val="00B050"/>
                </a:solidFill>
                <a:latin typeface="Consolas" pitchFamily="49" charset="0"/>
              </a:rPr>
              <a:t>self.checkAnswer</a:t>
            </a:r>
            <a:r>
              <a:rPr lang="en-US" kern="0" dirty="0">
                <a:latin typeface="Consolas" pitchFamily="49" charset="0"/>
              </a:rPr>
              <a:t>(response))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</a:p>
        </p:txBody>
      </p:sp>
      <p:pic>
        <p:nvPicPr>
          <p:cNvPr id="56327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9525"/>
            <a:ext cx="10287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709B7-3AFC-47BD-9DF5-5E24CF148498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Special Topic 10.4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Abstract </a:t>
            </a:r>
            <a:r>
              <a:rPr lang="en-US" altLang="en-US" dirty="0" smtClean="0">
                <a:ea typeface="ＭＳ Ｐゴシック" pitchFamily="34" charset="-128"/>
              </a:rPr>
              <a:t>methods</a:t>
            </a:r>
            <a:endParaRPr lang="en-US" altLang="en-US" dirty="0" smtClean="0">
              <a:ea typeface="ＭＳ Ｐゴシック" pitchFamily="34" charset="-128"/>
            </a:endParaRP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If it is desirable to </a:t>
            </a:r>
            <a:r>
              <a:rPr lang="en-US" altLang="en-US" b="1" i="1" dirty="0" smtClean="0">
                <a:ea typeface="ＭＳ Ｐゴシック" pitchFamily="34" charset="-128"/>
              </a:rPr>
              <a:t>force</a:t>
            </a:r>
            <a:r>
              <a:rPr lang="en-US" altLang="en-US" dirty="0" smtClean="0">
                <a:ea typeface="ＭＳ Ｐゴシック" pitchFamily="34" charset="-128"/>
              </a:rPr>
              <a:t> subclasses to override a method of a base class, you can declare a method as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abstract</a:t>
            </a:r>
            <a:r>
              <a:rPr lang="en-US" altLang="en-US" dirty="0" smtClean="0">
                <a:ea typeface="ＭＳ Ｐゴシック" pitchFamily="34" charset="-128"/>
              </a:rPr>
              <a:t>.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You can instantiate an object that has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itchFamily="34" charset="-128"/>
              </a:rPr>
              <a:t>abstract</a:t>
            </a:r>
            <a:r>
              <a:rPr lang="en-US" altLang="en-US" dirty="0" smtClean="0">
                <a:ea typeface="ＭＳ Ｐゴシック" pitchFamily="34" charset="-128"/>
              </a:rPr>
              <a:t> methods</a:t>
            </a:r>
          </a:p>
          <a:p>
            <a:pPr lvl="2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But there will be an exception if the abstract method is called. </a:t>
            </a:r>
          </a:p>
          <a:p>
            <a:pPr lvl="2"/>
            <a:r>
              <a:rPr lang="en-US" altLang="en-US" dirty="0" smtClean="0">
                <a:ea typeface="ＭＳ Ｐゴシック" pitchFamily="34" charset="-128"/>
              </a:rPr>
              <a:t>It’s a tool to force programmers to create subclasses  and it prevents the </a:t>
            </a:r>
            <a:r>
              <a:rPr lang="en-US" altLang="en-US" dirty="0" err="1" smtClean="0">
                <a:ea typeface="ＭＳ Ｐゴシック" pitchFamily="34" charset="-128"/>
              </a:rPr>
              <a:t>superclass</a:t>
            </a:r>
            <a:r>
              <a:rPr lang="en-US" altLang="en-US" dirty="0" smtClean="0">
                <a:ea typeface="ＭＳ Ｐゴシック" pitchFamily="34" charset="-128"/>
              </a:rPr>
              <a:t> from having unnecessary methods</a:t>
            </a:r>
          </a:p>
          <a:p>
            <a:pPr lvl="2"/>
            <a:r>
              <a:rPr lang="en-US" altLang="en-US" dirty="0" smtClean="0">
                <a:ea typeface="ＭＳ Ｐゴシック" pitchFamily="34" charset="-128"/>
              </a:rPr>
              <a:t>To create an abstract class you need to use methods in the Abstract Base Class (</a:t>
            </a:r>
            <a:r>
              <a:rPr lang="en-US" altLang="en-US" dirty="0" err="1" smtClean="0">
                <a:ea typeface="ＭＳ Ｐゴシック" pitchFamily="34" charset="-128"/>
              </a:rPr>
              <a:t>abc</a:t>
            </a:r>
            <a:r>
              <a:rPr lang="en-US" altLang="en-US" dirty="0" smtClean="0">
                <a:ea typeface="ＭＳ Ｐゴシック" pitchFamily="34" charset="-128"/>
              </a:rPr>
              <a:t>) module (covered in CIS 41B)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In Python a method is </a:t>
            </a:r>
            <a:r>
              <a:rPr lang="en-US" altLang="en-US" dirty="0" err="1" smtClean="0">
                <a:ea typeface="ＭＳ Ｐゴシック" pitchFamily="34" charset="-128"/>
              </a:rPr>
              <a:t>is</a:t>
            </a:r>
            <a:r>
              <a:rPr lang="en-US" altLang="en-US" dirty="0" smtClean="0">
                <a:ea typeface="ＭＳ Ｐゴシック" pitchFamily="34" charset="-128"/>
              </a:rPr>
              <a:t> an abstract method when it raises a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NotImplementedError</a:t>
            </a:r>
            <a:r>
              <a:rPr lang="en-US" altLang="en-US" dirty="0" smtClean="0">
                <a:ea typeface="ＭＳ Ｐゴシック" pitchFamily="34" charset="-128"/>
              </a:rPr>
              <a:t> exception as its only statement:</a:t>
            </a:r>
          </a:p>
          <a:p>
            <a:pPr lvl="1">
              <a:spcBef>
                <a:spcPts val="200"/>
              </a:spcBef>
            </a:pPr>
            <a:endParaRPr lang="en-US" altLang="en-US" sz="2000" dirty="0" smtClean="0"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</a:pPr>
            <a:endParaRPr lang="en-US" altLang="en-US" sz="2000" dirty="0" smtClean="0"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</a:pPr>
            <a:endParaRPr lang="en-US" altLang="en-US" sz="2000" dirty="0" smtClean="0"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</a:pPr>
            <a:endParaRPr lang="en-US" altLang="en-US" sz="2000" dirty="0" smtClean="0">
              <a:ea typeface="ＭＳ Ｐゴシック" pitchFamily="34" charset="-128"/>
            </a:endParaRPr>
          </a:p>
        </p:txBody>
      </p:sp>
      <p:pic>
        <p:nvPicPr>
          <p:cNvPr id="57351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9525"/>
            <a:ext cx="10287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65B2-9B8B-4F61-8132-6776F9D9598A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43</a:t>
            </a:fld>
            <a:endParaRPr lang="en-US" alt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371600" y="4800600"/>
            <a:ext cx="66294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Account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. . 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deductFees(self)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raise NotImplementedError</a:t>
            </a:r>
            <a:endParaRPr lang="en-US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Common Error 10.3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696201" cy="1259594"/>
          </a:xfrm>
        </p:spPr>
        <p:txBody>
          <a:bodyPr/>
          <a:lstStyle/>
          <a:p>
            <a:pPr lvl="1"/>
            <a:r>
              <a:rPr lang="en-US" altLang="en-US" dirty="0" smtClean="0">
                <a:ea typeface="ＭＳ Ｐゴシック" pitchFamily="34" charset="-128"/>
              </a:rPr>
              <a:t>It is not a good idea to use specific type tests in order to implement behavior that varies with each class:</a:t>
            </a:r>
          </a:p>
        </p:txBody>
      </p:sp>
      <p:pic>
        <p:nvPicPr>
          <p:cNvPr id="58374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52400"/>
            <a:ext cx="19716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295401" y="1828800"/>
            <a:ext cx="71628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if isinstance(q, ChoiceQuestion)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:         # Bad idea!</a:t>
            </a:r>
            <a:endParaRPr lang="en-US" dirty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# Do the task the ChoiceQuestion way.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elif isinstance(q, Question)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# Do the task the Question way.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219200" y="3657600"/>
            <a:ext cx="75438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elif isinstance(q, NumericQuestion)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:  # high maintenance!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# Do the task the NumericQuestion way.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81210-288C-4FB8-B4EB-C2FB1D6F3107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44</a:t>
            </a:fld>
            <a:endParaRPr lang="en-US" alt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85800" y="3048000"/>
            <a:ext cx="7696201" cy="6858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itchFamily="34" charset="-128"/>
              </a:rPr>
              <a:t>If a new class such as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NumericQuestion</a:t>
            </a:r>
            <a:r>
              <a:rPr lang="en-US" altLang="en-US" dirty="0" smtClean="0">
                <a:ea typeface="ＭＳ Ｐゴシック" pitchFamily="34" charset="-128"/>
              </a:rPr>
              <a:t> is added, then you need to add another case to all places in the program that has a type test: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85800" y="4495800"/>
            <a:ext cx="7848600" cy="91440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/>
          <a:p>
            <a:pPr marL="457200" marR="0" lvl="1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Instead of using type tests in a hierarchy of classes, use polymorphism  </a:t>
            </a:r>
          </a:p>
          <a:p>
            <a:pPr marL="457200" marR="0" lvl="1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Declare a method </a:t>
            </a:r>
            <a:r>
              <a:rPr kumimoji="0" lang="en-US" alt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doTheTask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 in the </a:t>
            </a:r>
            <a:r>
              <a:rPr kumimoji="0" lang="en-US" alt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superclass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ＭＳ Ｐゴシック" pitchFamily="34" charset="-128"/>
                <a:cs typeface="+mn-cs"/>
              </a:rPr>
              <a:t>, override it in the subclasses, and simply call: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1143000" y="5410200"/>
            <a:ext cx="7515225" cy="3429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q.doTheTask()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7467600" cy="715962"/>
          </a:xfrm>
        </p:spPr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Steps to Using Inheritance</a:t>
            </a:r>
          </a:p>
        </p:txBody>
      </p:sp>
      <p:sp>
        <p:nvSpPr>
          <p:cNvPr id="60419" name="Content Placeholder 10"/>
          <p:cNvSpPr>
            <a:spLocks noGrp="1"/>
          </p:cNvSpPr>
          <p:nvPr>
            <p:ph idx="1"/>
          </p:nvPr>
        </p:nvSpPr>
        <p:spPr>
          <a:xfrm>
            <a:off x="685800" y="1219200"/>
            <a:ext cx="7924800" cy="50292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As an example, we will consider a bank that offers customers the following account types: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  <a:cs typeface="Times New Roman" panose="02020603050405020304" pitchFamily="18" charset="0"/>
              </a:rPr>
              <a:t>1) A savings account that earns interest. The interest compounds monthly and is based on the minimum monthly balance.</a:t>
            </a:r>
          </a:p>
          <a:p>
            <a:pPr lvl="1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itchFamily="34" charset="-128"/>
                <a:cs typeface="Times New Roman" panose="02020603050405020304" pitchFamily="18" charset="0"/>
              </a:rPr>
              <a:t>2) A checking account that has no interest, gives you three free withdrawals per month, and charges a $1 transaction fee for each additional withdrawal.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program will manage a set of accounts of both types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It should be structured so that other account types can be added without affecting the main processing loop. 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The menu:    D)</a:t>
            </a:r>
            <a:r>
              <a:rPr lang="en-US" altLang="en-US" dirty="0" err="1" smtClean="0">
                <a:ea typeface="ＭＳ Ｐゴシック" pitchFamily="34" charset="-128"/>
              </a:rPr>
              <a:t>eposit</a:t>
            </a:r>
            <a:r>
              <a:rPr lang="en-US" altLang="en-US" dirty="0" smtClean="0">
                <a:ea typeface="ＭＳ Ｐゴシック" pitchFamily="34" charset="-128"/>
              </a:rPr>
              <a:t> W)</a:t>
            </a:r>
            <a:r>
              <a:rPr lang="en-US" altLang="en-US" dirty="0" err="1" smtClean="0">
                <a:ea typeface="ＭＳ Ｐゴシック" pitchFamily="34" charset="-128"/>
              </a:rPr>
              <a:t>ithdraw</a:t>
            </a:r>
            <a:r>
              <a:rPr lang="en-US" altLang="en-US" dirty="0" smtClean="0">
                <a:ea typeface="ＭＳ Ｐゴシック" pitchFamily="34" charset="-128"/>
              </a:rPr>
              <a:t> M)</a:t>
            </a:r>
            <a:r>
              <a:rPr lang="en-US" altLang="en-US" dirty="0" err="1" smtClean="0">
                <a:ea typeface="ＭＳ Ｐゴシック" pitchFamily="34" charset="-128"/>
              </a:rPr>
              <a:t>onth</a:t>
            </a:r>
            <a:r>
              <a:rPr lang="en-US" altLang="en-US" dirty="0" smtClean="0">
                <a:ea typeface="ＭＳ Ｐゴシック" pitchFamily="34" charset="-128"/>
              </a:rPr>
              <a:t> end Q)</a:t>
            </a:r>
            <a:r>
              <a:rPr lang="en-US" altLang="en-US" dirty="0" err="1" smtClean="0">
                <a:ea typeface="ＭＳ Ｐゴシック" pitchFamily="34" charset="-128"/>
              </a:rPr>
              <a:t>uit</a:t>
            </a:r>
            <a:endParaRPr lang="en-US" altLang="en-US" dirty="0" smtClean="0">
              <a:ea typeface="ＭＳ Ｐゴシック" pitchFamily="34" charset="-128"/>
            </a:endParaRP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For deposits and withdrawals, query the account number and amount. Print the balance of the account after each transaction.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itchFamily="34" charset="-128"/>
              </a:rPr>
              <a:t>In the </a:t>
            </a:r>
            <a:r>
              <a:rPr lang="ja-JP" altLang="en-US" dirty="0" smtClean="0">
                <a:ea typeface="ＭＳ Ｐゴシック" pitchFamily="34" charset="-128"/>
              </a:rPr>
              <a:t>“</a:t>
            </a:r>
            <a:r>
              <a:rPr lang="en-US" altLang="ja-JP" dirty="0" smtClean="0">
                <a:ea typeface="ＭＳ Ｐゴシック" pitchFamily="34" charset="-128"/>
              </a:rPr>
              <a:t>Month end</a:t>
            </a:r>
            <a:r>
              <a:rPr lang="ja-JP" altLang="en-US" dirty="0" smtClean="0">
                <a:ea typeface="ＭＳ Ｐゴシック" pitchFamily="34" charset="-128"/>
              </a:rPr>
              <a:t>”</a:t>
            </a:r>
            <a:r>
              <a:rPr lang="en-US" altLang="ja-JP" dirty="0" smtClean="0">
                <a:ea typeface="ＭＳ Ｐゴシック" pitchFamily="34" charset="-128"/>
              </a:rPr>
              <a:t> command, accumulate interest or clear the transaction counter, depending on the type of the bank account. Then print the balance of all accounts.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39CC-43C5-4295-85C9-62129A202FD2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7467600" cy="715962"/>
          </a:xfrm>
        </p:spPr>
        <p:txBody>
          <a:bodyPr/>
          <a:lstStyle/>
          <a:p>
            <a:r>
              <a:rPr lang="en-US" altLang="en-US" sz="3600" dirty="0" smtClean="0">
                <a:ea typeface="ＭＳ Ｐゴシック" pitchFamily="34" charset="-128"/>
              </a:rPr>
              <a:t>Steps to Using Inheritance</a:t>
            </a:r>
          </a:p>
        </p:txBody>
      </p:sp>
      <p:sp>
        <p:nvSpPr>
          <p:cNvPr id="5325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696200" cy="449580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List </a:t>
            </a:r>
            <a:r>
              <a:rPr lang="en-US" dirty="0"/>
              <a:t>the classes that are part of the </a:t>
            </a:r>
            <a:r>
              <a:rPr lang="en-US" dirty="0" smtClean="0"/>
              <a:t>hierarchy:  </a:t>
            </a:r>
            <a:br>
              <a:rPr lang="en-US" dirty="0" smtClean="0"/>
            </a:br>
            <a:r>
              <a:rPr lang="en-US" dirty="0" smtClean="0"/>
              <a:t>       </a:t>
            </a:r>
            <a:r>
              <a:rPr lang="en-US" dirty="0" err="1" smtClean="0"/>
              <a:t>SavingsAccount</a:t>
            </a:r>
            <a:r>
              <a:rPr lang="en-US" dirty="0" smtClean="0"/>
              <a:t>  and  </a:t>
            </a:r>
            <a:r>
              <a:rPr lang="en-US" dirty="0" err="1" smtClean="0"/>
              <a:t>CheckingAccount</a:t>
            </a:r>
            <a:endParaRPr lang="en-US" dirty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Organize </a:t>
            </a:r>
            <a:r>
              <a:rPr lang="en-US" dirty="0"/>
              <a:t>the classes into an </a:t>
            </a:r>
            <a:r>
              <a:rPr lang="en-US" dirty="0" smtClean="0"/>
              <a:t>inheritance hierarchy</a:t>
            </a:r>
            <a:r>
              <a:rPr lang="en-US" dirty="0"/>
              <a:t> </a:t>
            </a:r>
            <a:r>
              <a:rPr lang="en-US" dirty="0" smtClean="0"/>
              <a:t>based </a:t>
            </a:r>
            <a:r>
              <a:rPr lang="en-US" dirty="0"/>
              <a:t>on </a:t>
            </a:r>
            <a:r>
              <a:rPr lang="en-US" dirty="0" smtClean="0"/>
              <a:t>the </a:t>
            </a:r>
            <a:r>
              <a:rPr lang="en-US" dirty="0" err="1" smtClean="0"/>
              <a:t>superclass</a:t>
            </a:r>
            <a:r>
              <a:rPr lang="en-US" dirty="0" smtClean="0"/>
              <a:t> </a:t>
            </a:r>
            <a:r>
              <a:rPr lang="en-US" dirty="0" err="1" smtClean="0"/>
              <a:t>BankAccount</a:t>
            </a: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Determine the common responsibilities.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 smtClean="0"/>
              <a:t>   a. Write </a:t>
            </a:r>
            <a:r>
              <a:rPr lang="en-US" dirty="0" err="1" smtClean="0"/>
              <a:t>p</a:t>
            </a:r>
            <a:r>
              <a:rPr lang="en-US" dirty="0" err="1" smtClean="0">
                <a:cs typeface="Comic Sans MS"/>
              </a:rPr>
              <a:t>seudocode</a:t>
            </a:r>
            <a:r>
              <a:rPr lang="en-US" dirty="0" smtClean="0"/>
              <a:t>  for each task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 smtClean="0"/>
              <a:t>   b. Find common tasks</a:t>
            </a:r>
            <a:endParaRPr lang="en-US" dirty="0"/>
          </a:p>
        </p:txBody>
      </p:sp>
      <p:pic>
        <p:nvPicPr>
          <p:cNvPr id="61443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438400"/>
            <a:ext cx="3581400" cy="157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DCFE-073A-4ED6-A549-B91A2B585EAF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46</a:t>
            </a:fld>
            <a:endParaRPr lang="en-US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14400" y="4697412"/>
            <a:ext cx="7924800" cy="124618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200"/>
              </a:spcBef>
              <a:buFont typeface="Wingdings" charset="0"/>
              <a:buNone/>
              <a:defRPr/>
            </a:pPr>
            <a:endParaRPr lang="en-US" dirty="0" smtClean="0"/>
          </a:p>
          <a:p>
            <a:pPr marL="0" indent="0" fontAlgn="auto">
              <a:buFont typeface="Wingdings" charset="0"/>
              <a:buNone/>
              <a:defRPr/>
            </a:pPr>
            <a:endParaRPr lang="en-US" dirty="0" smtClean="0"/>
          </a:p>
          <a:p>
            <a:pPr fontAlgn="auto">
              <a:buFont typeface="Wingdings" charset="0"/>
              <a:buChar char="q"/>
              <a:defRPr/>
            </a:pPr>
            <a:endParaRPr lang="en-US" dirty="0" smtClean="0"/>
          </a:p>
          <a:p>
            <a:pPr fontAlgn="auto">
              <a:buFont typeface="Wingdings" charset="0"/>
              <a:buChar char="q"/>
              <a:defRPr/>
            </a:pPr>
            <a:endParaRPr lang="en-US" dirty="0" smtClean="0"/>
          </a:p>
          <a:p>
            <a:pPr fontAlgn="auto">
              <a:buFont typeface="Wingdings" charset="0"/>
              <a:buChar char="q"/>
              <a:defRPr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>
                <a:ea typeface="ＭＳ Ｐゴシック" pitchFamily="34" charset="-128"/>
              </a:rPr>
              <a:t>Using Inheritance: Pseudocode</a:t>
            </a: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239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648200" y="3962400"/>
            <a:ext cx="3657600" cy="1600200"/>
          </a:xfrm>
          <a:prstGeom prst="rect">
            <a:avLst/>
          </a:prstGeom>
          <a:solidFill>
            <a:srgbClr val="FAE1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62471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4038600"/>
            <a:ext cx="34655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BCC2F-F50B-4EC7-92FB-5DA94C2DA128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47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7467600" cy="715962"/>
          </a:xfrm>
        </p:spPr>
        <p:txBody>
          <a:bodyPr/>
          <a:lstStyle/>
          <a:p>
            <a:r>
              <a:rPr lang="en-US" altLang="en-US" sz="3600" smtClean="0">
                <a:ea typeface="ＭＳ Ｐゴシック" pitchFamily="34" charset="-128"/>
              </a:rPr>
              <a:t>Steps to Using Inheritance</a:t>
            </a:r>
          </a:p>
        </p:txBody>
      </p:sp>
      <p:sp>
        <p:nvSpPr>
          <p:cNvPr id="45060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772400" cy="5029200"/>
          </a:xfrm>
        </p:spPr>
        <p:txBody>
          <a:bodyPr/>
          <a:lstStyle/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Decide which methods should be overridden in subclasses.</a:t>
            </a:r>
          </a:p>
          <a:p>
            <a:pPr marL="685800" lvl="1" indent="-457200">
              <a:spcBef>
                <a:spcPts val="200"/>
              </a:spcBef>
              <a:buNone/>
              <a:defRPr/>
            </a:pPr>
            <a:r>
              <a:rPr lang="en-US" dirty="0" smtClean="0">
                <a:ea typeface="+mn-ea"/>
                <a:cs typeface="+mn-cs"/>
              </a:rPr>
              <a:t>	For each subclass and each of the common responsibilities, decide whether the behavior can be inherited or whether it needs to be overridden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Declare the public interface of each subclass.</a:t>
            </a:r>
          </a:p>
          <a:p>
            <a:pPr marL="685800" lvl="1" indent="-457200">
              <a:spcBef>
                <a:spcPts val="200"/>
              </a:spcBef>
              <a:buNone/>
              <a:defRPr/>
            </a:pPr>
            <a:r>
              <a:rPr lang="en-US" dirty="0" smtClean="0">
                <a:ea typeface="+mn-ea"/>
                <a:cs typeface="+mn-cs"/>
              </a:rPr>
              <a:t>	Typically, subclasses have responsibilities that are more specialized than those of the superclass. </a:t>
            </a:r>
          </a:p>
          <a:p>
            <a:pPr marL="685800" lvl="1" indent="-457200">
              <a:spcBef>
                <a:spcPts val="200"/>
              </a:spcBef>
              <a:buNone/>
              <a:defRPr/>
            </a:pPr>
            <a:r>
              <a:rPr lang="en-US" dirty="0" smtClean="0">
                <a:ea typeface="+mn-ea"/>
                <a:cs typeface="+mn-cs"/>
              </a:rPr>
              <a:t>	You also need to specify how the objects of the subclasses should be constructed.</a:t>
            </a:r>
            <a:endParaRPr lang="en-US" dirty="0" smtClean="0"/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Identify instance variables.</a:t>
            </a:r>
          </a:p>
          <a:p>
            <a:pPr marL="685800" lvl="1" indent="-457200">
              <a:spcBef>
                <a:spcPts val="200"/>
              </a:spcBef>
              <a:buNone/>
              <a:defRPr/>
            </a:pPr>
            <a:r>
              <a:rPr lang="en-US" dirty="0" smtClean="0">
                <a:ea typeface="+mn-ea"/>
                <a:cs typeface="+mn-cs"/>
              </a:rPr>
              <a:t>	List the instance variables for each class. Place instance variables that are common to all classes in the base of the hierarchy.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Implement constructors and methods.</a:t>
            </a:r>
          </a:p>
          <a:p>
            <a:pPr marL="457200" indent="-457200">
              <a:spcBef>
                <a:spcPts val="200"/>
              </a:spcBef>
              <a:buFont typeface="+mj-lt"/>
              <a:buAutoNum type="arabicPeriod"/>
              <a:defRPr/>
            </a:pPr>
            <a:r>
              <a:rPr lang="en-US" dirty="0" smtClean="0"/>
              <a:t>Construct objects of different subclasses and process them.</a:t>
            </a:r>
          </a:p>
          <a:p>
            <a:pPr>
              <a:defRPr/>
            </a:pPr>
            <a:endParaRPr lang="en-US" sz="2400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F9003-C45E-4750-8F80-9CDE32AA7E0C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10.6 Application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Creating a geometric shape class hierarchy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To create complex scenes beyond the simple graphics introduced in Chapter 2, you may need a large number of shapes that vary in color, size, or location. 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Rather than calling the various methods again and again, it would be useful to have classes that model the various geometric shapes.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Using shape classes, a programmer can create a shape object with specific characteristics, then use the same object to draw multiple instances of the shape with only minor changes.</a:t>
            </a:r>
          </a:p>
          <a:p>
            <a:pPr lvl="1"/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C8B85-17BD-4D7A-B535-A36910B0DC62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49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>
                <a:ea typeface="ＭＳ Ｐゴシック" pitchFamily="34" charset="-128"/>
              </a:rPr>
              <a:t>Inheritance Diagram of Geometric Shapes</a:t>
            </a:r>
          </a:p>
        </p:txBody>
      </p:sp>
      <p:pic>
        <p:nvPicPr>
          <p:cNvPr id="65541" name="Picture 2" descr="U:\PC\publisher\2013 wiley slides\BM, 10-12\Chapter 10\Media\Illustrations\py_10_08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524000"/>
            <a:ext cx="849312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ECFDF-368B-4385-B3C6-7004D5997455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Base Class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GeometricShape</a:t>
            </a:r>
            <a:r>
              <a:rPr lang="en-US" altLang="en-US" smtClean="0">
                <a:ea typeface="ＭＳ Ｐゴシック" pitchFamily="34" charset="-128"/>
              </a:rPr>
              <a:t> class should provide the functionality that is common among the various subclasses: </a:t>
            </a:r>
          </a:p>
          <a:p>
            <a:pPr lvl="1"/>
            <a:r>
              <a:rPr lang="en-US" altLang="en-US" smtClean="0">
                <a:ea typeface="ＭＳ Ｐゴシック" pitchFamily="34" charset="-128"/>
              </a:rPr>
              <a:t>Setting the colors used to draw the shape.</a:t>
            </a:r>
          </a:p>
          <a:p>
            <a:pPr lvl="1"/>
            <a:r>
              <a:rPr lang="en-US" altLang="en-US" smtClean="0">
                <a:ea typeface="ＭＳ Ｐゴシック" pitchFamily="34" charset="-128"/>
              </a:rPr>
              <a:t>Getting and setting the coordinates for the upper-left corner of a bounding box.</a:t>
            </a:r>
          </a:p>
          <a:p>
            <a:pPr lvl="1"/>
            <a:r>
              <a:rPr lang="en-US" altLang="en-US" smtClean="0">
                <a:ea typeface="ＭＳ Ｐゴシック" pitchFamily="34" charset="-128"/>
              </a:rPr>
              <a:t>Computing the width and height of the shape (or the bounding box used to define the shape).</a:t>
            </a:r>
          </a:p>
          <a:p>
            <a:pPr lvl="1"/>
            <a:r>
              <a:rPr lang="en-US" altLang="en-US" smtClean="0">
                <a:ea typeface="ＭＳ Ｐゴシック" pitchFamily="34" charset="-128"/>
              </a:rPr>
              <a:t>Drawing the shape on a canvas.</a:t>
            </a:r>
          </a:p>
          <a:p>
            <a:r>
              <a:rPr lang="en-US" altLang="en-US" smtClean="0">
                <a:ea typeface="ＭＳ Ｐゴシック" pitchFamily="34" charset="-128"/>
              </a:rPr>
              <a:t>Due to the amount of variation between shapes all subclasses will have to override 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draw() </a:t>
            </a:r>
            <a:r>
              <a:rPr lang="en-US" altLang="en-US" smtClean="0">
                <a:ea typeface="ＭＳ Ｐゴシック" pitchFamily="34" charset="-128"/>
              </a:rPr>
              <a:t>method.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E487-8BEC-4361-8155-2BAD1A68558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Attributes of the Base Class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instance variables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_fill</a:t>
            </a:r>
            <a:r>
              <a:rPr lang="en-US" altLang="en-US" smtClean="0">
                <a:ea typeface="ＭＳ Ｐゴシック" pitchFamily="34" charset="-128"/>
              </a:rPr>
              <a:t> and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_outline can store</a:t>
            </a:r>
            <a:r>
              <a:rPr lang="en-US" altLang="en-US" smtClean="0">
                <a:ea typeface="ＭＳ Ｐゴシック" pitchFamily="34" charset="-128"/>
              </a:rPr>
              <a:t> the fill and outline colors used by the shapes.</a:t>
            </a:r>
          </a:p>
          <a:p>
            <a:r>
              <a:rPr lang="en-US" altLang="en-US" smtClean="0">
                <a:ea typeface="ＭＳ Ｐゴシック" pitchFamily="34" charset="-128"/>
              </a:rPr>
              <a:t>Coordinates of the top left hand corner of the bounding box for the shape can be stored in the instance variables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_x</a:t>
            </a:r>
            <a:r>
              <a:rPr lang="en-US" altLang="en-US" smtClean="0">
                <a:ea typeface="ＭＳ Ｐゴシック" pitchFamily="34" charset="-128"/>
              </a:rPr>
              <a:t> and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_y</a:t>
            </a:r>
          </a:p>
          <a:p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E329-2B79-4610-94E3-D8C246BEF7B8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Setting the Attributes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constructor of 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GeometricShape</a:t>
            </a:r>
            <a:r>
              <a:rPr lang="en-US" altLang="en-US" smtClean="0">
                <a:ea typeface="ＭＳ Ｐゴシック" pitchFamily="34" charset="-128"/>
              </a:rPr>
              <a:t> base class needs to define the common instance variables.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2590800"/>
            <a:ext cx="7515225" cy="2895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GeometricShape :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## Construct a basic geometric shape.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# @param x the </a:t>
            </a:r>
            <a:r>
              <a:rPr lang="en-US" i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-coordinate of the shape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# @param y the </a:t>
            </a:r>
            <a:r>
              <a:rPr lang="en-US" i="1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-coordinate of the shape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_(self, x, y)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self._x = x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self._y = y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self._fill = None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self._outline = "black"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13A3-4FB8-4F5D-A55C-1A2D21C9D896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Accessor Methods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819608"/>
          </a:xfrm>
        </p:spPr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itchFamily="34" charset="-128"/>
              </a:rPr>
              <a:t>As expected they will return the values stored in the instance variables.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14400" y="1905000"/>
            <a:ext cx="7515225" cy="1447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getX(self)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self._x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getY(self)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self._y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14400" y="4267200"/>
            <a:ext cx="7515225" cy="1447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getWidth(self)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return 0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getHeight(self)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return 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08506-AF75-49F0-B09D-6869F82530CF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54</a:t>
            </a:fld>
            <a:endParaRPr lang="en-US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62000" y="3581400"/>
            <a:ext cx="7543801" cy="85392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itchFamily="34" charset="-128"/>
              </a:rPr>
              <a:t>Because the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getWidth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 and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getHeight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 methods return zero they should be overridden by subclasses.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Mutator Methods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We define three mutator methods for setting the colors. </a:t>
            </a:r>
          </a:p>
          <a:p>
            <a:r>
              <a:rPr lang="en-US" altLang="en-US" smtClean="0">
                <a:ea typeface="ＭＳ Ｐゴシック" pitchFamily="34" charset="-128"/>
              </a:rPr>
              <a:t>Two methods set the outline or fill color individually, and the third method sets both to the same color: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14400" y="2514600"/>
            <a:ext cx="7515225" cy="2590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setFill(self, color = None)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self._fill = color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setOutline(self, color = None)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self._outline = color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setColor(self, color)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self._fill = color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self._outline = color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AB4BA-9DBD-4A9B-B4BA-BC900F9502DA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Other Methods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802394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move()</a:t>
            </a:r>
            <a:r>
              <a:rPr lang="en-US" altLang="en-US" dirty="0" smtClean="0">
                <a:ea typeface="ＭＳ Ｐゴシック" pitchFamily="34" charset="-128"/>
              </a:rPr>
              <a:t> method moves the shape by a given amount (x, y) coordinates.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43001" y="1905000"/>
            <a:ext cx="7010400" cy="990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moveBy(self, dx, dy)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self._x = self._x + dx</a:t>
            </a:r>
          </a:p>
          <a:p>
            <a:pPr>
              <a:defRPr/>
            </a:pPr>
            <a:r>
              <a:rPr lang="es-ES" dirty="0">
                <a:latin typeface="Consolas" pitchFamily="49" charset="0"/>
                <a:cs typeface="Consolas" pitchFamily="49" charset="0"/>
              </a:rPr>
              <a:t>    self._y = self._y + dy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143000" y="4114800"/>
            <a:ext cx="6981825" cy="990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draw(self, canvas)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canvas.setFill(self._fill)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canvas.setOutline(self._outline)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A050F-4399-4AFC-AD77-903D41A3B5BF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56</a:t>
            </a:fld>
            <a:endParaRPr lang="en-US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3124200"/>
            <a:ext cx="7543801" cy="114767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itchFamily="34" charset="-128"/>
              </a:rPr>
              <a:t>As indicated earlier,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draw()</a:t>
            </a:r>
            <a:r>
              <a:rPr lang="en-US" altLang="en-US" dirty="0" smtClean="0">
                <a:ea typeface="ＭＳ Ｐゴシック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itchFamily="34" charset="-128"/>
              </a:rPr>
              <a:t>method has to be overridden for each subclass’s specific shape but the common operation (setting the drawing colors) is included here.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Rectangle</a:t>
            </a:r>
            <a:r>
              <a:rPr lang="en-US" altLang="en-US" smtClean="0">
                <a:ea typeface="ＭＳ Ｐゴシック" pitchFamily="34" charset="-128"/>
              </a:rPr>
              <a:t> Class (1)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Rectangle</a:t>
            </a:r>
            <a:r>
              <a:rPr lang="en-US" altLang="en-US" smtClean="0">
                <a:ea typeface="ＭＳ Ｐゴシック" pitchFamily="34" charset="-128"/>
              </a:rPr>
              <a:t> class inherits from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GeometricShape</a:t>
            </a:r>
            <a:r>
              <a:rPr lang="en-US" altLang="en-US" smtClean="0">
                <a:ea typeface="ＭＳ Ｐゴシック" pitchFamily="34" charset="-128"/>
              </a:rPr>
              <a:t>. </a:t>
            </a:r>
          </a:p>
          <a:p>
            <a:r>
              <a:rPr lang="en-US" altLang="en-US" smtClean="0">
                <a:ea typeface="ＭＳ Ｐゴシック" pitchFamily="34" charset="-128"/>
              </a:rPr>
              <a:t>The constructor passes the upper-left corner to the superclass and stores the width and height.</a:t>
            </a:r>
          </a:p>
          <a:p>
            <a:endParaRPr lang="en-US" altLang="en-US" smtClean="0">
              <a:ea typeface="ＭＳ Ｐゴシック" pitchFamily="34" charset="-128"/>
            </a:endParaRPr>
          </a:p>
          <a:p>
            <a:endParaRPr lang="en-US" altLang="en-US" smtClean="0">
              <a:ea typeface="ＭＳ Ｐゴシック" pitchFamily="34" charset="-128"/>
            </a:endParaRPr>
          </a:p>
          <a:p>
            <a:endParaRPr lang="en-US" altLang="en-US" smtClean="0">
              <a:ea typeface="ＭＳ Ｐゴシック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90601" y="2514600"/>
            <a:ext cx="7239000" cy="1219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_ _init_ _(self, x, y, width, height)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super()._ _init_ _(x, y)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self._width = width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self._height = height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23C4-5B8D-4966-BED2-9EC1CB944C30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57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Rectangle</a:t>
            </a:r>
            <a:r>
              <a:rPr lang="en-US" altLang="en-US" smtClean="0">
                <a:ea typeface="ＭＳ Ｐゴシック" pitchFamily="34" charset="-128"/>
              </a:rPr>
              <a:t> Class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draw method is overridden in the Rectangle subclass to include the call to the appropriate canvas </a:t>
            </a:r>
            <a:r>
              <a:rPr lang="en-US" dirty="0" smtClean="0"/>
              <a:t>method.</a:t>
            </a:r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 smtClean="0"/>
              <a:t>Accessors are overridden (from the ones that return zero).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90600" y="1981200"/>
            <a:ext cx="74676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draw(self, canvas)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super().draw(canvas)   </a:t>
            </a: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Parent method sets colors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canvas.drawRect(self.getX(), self.getY(), self._width,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self._height)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90600" y="3810000"/>
            <a:ext cx="7467600" cy="1524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getWidth(self)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self._width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getHeight(self)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self._height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42685-EC87-4DA7-A5D0-D6F4EE88DC28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Line</a:t>
            </a:r>
            <a:r>
              <a:rPr lang="en-US" altLang="en-US" smtClean="0">
                <a:ea typeface="ＭＳ Ｐゴシック" pitchFamily="34" charset="-128"/>
              </a:rPr>
              <a:t> Class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726194"/>
          </a:xfrm>
        </p:spPr>
        <p:txBody>
          <a:bodyPr/>
          <a:lstStyle/>
          <a:p>
            <a:pPr>
              <a:defRPr/>
            </a:pPr>
            <a:r>
              <a:rPr lang="en-US" dirty="0"/>
              <a:t>A line is specified by its start </a:t>
            </a:r>
            <a:r>
              <a:rPr lang="en-US" dirty="0" smtClean="0"/>
              <a:t>and end </a:t>
            </a:r>
            <a:r>
              <a:rPr lang="en-US" dirty="0"/>
              <a:t>points</a:t>
            </a:r>
            <a:r>
              <a:rPr lang="en-US" dirty="0" smtClean="0"/>
              <a:t>.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pic>
        <p:nvPicPr>
          <p:cNvPr id="74758" name="Picture 2" descr="U:\PC\publisher\2013 wiley slides\BM, 10-12\Chapter 10\Media\Illustrations\py_10_09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00200"/>
            <a:ext cx="42148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E8FA1-619B-4280-B509-B67CEC91F6AF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59</a:t>
            </a:fld>
            <a:endParaRPr lang="en-US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3886200"/>
            <a:ext cx="7543801" cy="15067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dirty="0" smtClean="0"/>
              <a:t>It is possible that neither of these points is the upper-left corner of the bounding box. </a:t>
            </a:r>
          </a:p>
          <a:p>
            <a:pPr fontAlgn="auto">
              <a:defRPr/>
            </a:pPr>
            <a:r>
              <a:rPr lang="en-US" dirty="0" smtClean="0"/>
              <a:t>Instead, we need to compute the smaller of the </a:t>
            </a:r>
            <a:r>
              <a:rPr lang="en-US" i="1" dirty="0" smtClean="0"/>
              <a:t>x</a:t>
            </a:r>
            <a:r>
              <a:rPr lang="en-US" dirty="0" smtClean="0"/>
              <a:t>- and </a:t>
            </a:r>
            <a:r>
              <a:rPr lang="en-US" i="1" dirty="0" smtClean="0"/>
              <a:t>y</a:t>
            </a:r>
            <a:r>
              <a:rPr lang="en-US" dirty="0" smtClean="0"/>
              <a:t>-coordinates and pass those values to the superclass constructor.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Line</a:t>
            </a:r>
            <a:r>
              <a:rPr lang="en-US" altLang="en-US" smtClean="0">
                <a:ea typeface="ＭＳ Ｐゴシック" pitchFamily="34" charset="-128"/>
              </a:rPr>
              <a:t> Class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 also need to store the start and end points in instance variables because we need them to draw the line</a:t>
            </a:r>
            <a:r>
              <a:rPr lang="en-US" dirty="0" smtClean="0"/>
              <a:t>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43000" y="2286000"/>
            <a:ext cx="6934200" cy="192405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_ _init_ _(self, x1, y1, x2, y2) :</a:t>
            </a:r>
          </a:p>
          <a:p>
            <a:pPr>
              <a:defRPr/>
            </a:pPr>
            <a:r>
              <a:rPr lang="sv-SE" dirty="0">
                <a:latin typeface="Consolas" pitchFamily="49" charset="0"/>
                <a:cs typeface="Consolas" pitchFamily="49" charset="0"/>
              </a:rPr>
              <a:t>    super()._ _init_ _(min(x1, x2), min(y1, y2))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self._startX = x1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self._startY = y1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self._endX = x2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self._endY = y2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BED8-0B07-477D-9BAC-BBA825668EE1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Line</a:t>
            </a:r>
            <a:r>
              <a:rPr lang="en-US" altLang="en-US" smtClean="0">
                <a:ea typeface="ＭＳ Ｐゴシック" pitchFamily="34" charset="-128"/>
              </a:rPr>
              <a:t> Class: Methods (1)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width and height are the differences between the starting and ending </a:t>
            </a:r>
            <a:r>
              <a:rPr lang="en-US" altLang="en-US" i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x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-</a:t>
            </a:r>
            <a:r>
              <a:rPr lang="en-US" altLang="en-US" smtClean="0">
                <a:ea typeface="ＭＳ Ｐゴシック" pitchFamily="34" charset="-128"/>
              </a:rPr>
              <a:t> and </a:t>
            </a:r>
            <a:r>
              <a:rPr lang="en-US" altLang="en-US" i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y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-</a:t>
            </a:r>
            <a:r>
              <a:rPr lang="en-US" altLang="en-US" smtClean="0">
                <a:ea typeface="ＭＳ Ｐゴシック" pitchFamily="34" charset="-128"/>
              </a:rPr>
              <a:t>coordinates.</a:t>
            </a:r>
          </a:p>
          <a:p>
            <a:r>
              <a:rPr lang="en-US" altLang="en-US" smtClean="0">
                <a:ea typeface="ＭＳ Ｐゴシック" pitchFamily="34" charset="-128"/>
              </a:rPr>
              <a:t>However, if the line isn’t sloping downward, we need to take the absolute values of the difference.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66800" y="3048000"/>
            <a:ext cx="7162800" cy="1524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getWidth(self)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abs(self._endX - self._startX)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getHeight(self)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abs(self._endY - self._startY)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732D3-8AE8-46E0-87FE-67E6FE7016B2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Line</a:t>
            </a:r>
            <a:r>
              <a:rPr lang="en-US" altLang="en-US" smtClean="0">
                <a:ea typeface="ＭＳ Ｐゴシック" pitchFamily="34" charset="-128"/>
              </a:rPr>
              <a:t> Class: Methods (2)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As noted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draw()</a:t>
            </a:r>
            <a:r>
              <a:rPr lang="en-US" altLang="en-US" dirty="0" smtClean="0">
                <a:ea typeface="ＭＳ Ｐゴシック" pitchFamily="34" charset="-128"/>
              </a:rPr>
              <a:t> method must be overridden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90600" y="1600200"/>
            <a:ext cx="7239000" cy="1371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draw(self, canvas)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super().draw(canvas)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canvas.drawLine(self._startX, self._startY,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			     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._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endX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,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._endY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14400" y="3810000"/>
            <a:ext cx="7315200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moveBy(self, dx, dy)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super().moveBy(dx, dy)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self._startX = self._startX + dx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self._startY = self._startY + dy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self._endX = self._endX + dx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self._endY = self._endY + dy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4BF1-214D-446D-A9A7-FFC54EA3A33A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62</a:t>
            </a:fld>
            <a:endParaRPr lang="en-US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18386" y="3129770"/>
            <a:ext cx="7543801" cy="86455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itchFamily="34" charset="-128"/>
              </a:rPr>
              <a:t>Also the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moveBy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 method must be overridden so that it adjusts the starting and ending points, in addition to the top-left corner.</a:t>
            </a:r>
          </a:p>
          <a:p>
            <a:pPr fontAlgn="auto"/>
            <a:endParaRPr lang="en-US" alt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Wrapper Class: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Square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A wrapper class wraps or encapsulates the functionality of another class to provide a more convenient interface. </a:t>
            </a:r>
          </a:p>
          <a:p>
            <a:r>
              <a:rPr lang="en-US" altLang="en-US" smtClean="0">
                <a:ea typeface="ＭＳ Ｐゴシック" pitchFamily="34" charset="-128"/>
              </a:rPr>
              <a:t>For example, we could draw a square using 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Rectangle</a:t>
            </a:r>
            <a:r>
              <a:rPr lang="en-US" altLang="en-US" smtClean="0">
                <a:ea typeface="ＭＳ Ｐゴシック" pitchFamily="34" charset="-128"/>
              </a:rPr>
              <a:t> subclass. </a:t>
            </a:r>
          </a:p>
          <a:p>
            <a:pPr lvl="1"/>
            <a:r>
              <a:rPr lang="en-US" altLang="en-US" smtClean="0">
                <a:ea typeface="ＭＳ Ｐゴシック" pitchFamily="34" charset="-128"/>
              </a:rPr>
              <a:t>But it requires that we supply both the width and height.</a:t>
            </a:r>
          </a:p>
          <a:p>
            <a:pPr lvl="1"/>
            <a:r>
              <a:rPr lang="en-US" altLang="en-US" smtClean="0">
                <a:ea typeface="ＭＳ Ｐゴシック" pitchFamily="34" charset="-128"/>
              </a:rPr>
              <a:t>Because a square is a special case of a rectangle, we can define a Square subclass that extends, or </a:t>
            </a:r>
            <a:r>
              <a:rPr lang="en-US" altLang="en-US" i="1" smtClean="0">
                <a:ea typeface="ＭＳ Ｐゴシック" pitchFamily="34" charset="-128"/>
              </a:rPr>
              <a:t>wraps</a:t>
            </a:r>
            <a:r>
              <a:rPr lang="en-US" altLang="en-US" smtClean="0">
                <a:ea typeface="ＭＳ Ｐゴシック" pitchFamily="34" charset="-128"/>
              </a:rPr>
              <a:t>, the Rectangle class and only requires one value, the length of a side.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600200" y="3733800"/>
            <a:ext cx="5791200" cy="8763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Square(Rectangle)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_(self, x, y, size)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super()._ _init_ _(x, y, size, size)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71667-492A-486F-946F-F9178DF54AD8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 smtClean="0">
                <a:latin typeface="Arial Black" panose="020B0A04020102020204" pitchFamily="34" charset="0"/>
                <a:ea typeface="ＭＳ Ｐゴシック" pitchFamily="34" charset="-128"/>
              </a:rPr>
              <a:t>Testshapes.py</a:t>
            </a:r>
          </a:p>
        </p:txBody>
      </p:sp>
      <p:pic>
        <p:nvPicPr>
          <p:cNvPr id="79875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143000"/>
            <a:ext cx="6172200" cy="4864100"/>
          </a:xfrm>
        </p:spPr>
      </p:pic>
      <p:pic>
        <p:nvPicPr>
          <p:cNvPr id="79878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667000"/>
            <a:ext cx="3486150" cy="180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51765-BDDF-496C-AC07-F6263CF8B28A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Groups of Shapes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7543800" cy="4724400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dirty="0" smtClean="0">
                <a:ea typeface="ＭＳ Ｐゴシック" pitchFamily="34" charset="-128"/>
              </a:rPr>
              <a:t> subclass does not actually draw a geometric shape. 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Instead it can be used to group basic geometric shapes to create a complex shape. 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For example, suppose you construct a door using a rectangle, a circle for the doorknob, and a circle for the peep hole. 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The three components can be stored in a Group in which the individual shapes are defined relative to the position of the group. 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This allows the entire group to be moved to a different position without having to move each individual shape.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B5A04-DB35-41A3-A1C7-69C001D8A4B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The </a:t>
            </a:r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smtClean="0">
                <a:ea typeface="ＭＳ Ｐゴシック" pitchFamily="34" charset="-128"/>
              </a:rPr>
              <a:t> Class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To create a Group, you provide the coordinates of the upper-left corner of its bounding box. 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The class defines an instance variable that stores the shapes in a list.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As new shapes are added to a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dirty="0" smtClean="0">
                <a:ea typeface="ＭＳ Ｐゴシック" pitchFamily="34" charset="-128"/>
              </a:rPr>
              <a:t> object, the width and height of the bounding box expands to enclose the new shapes.</a:t>
            </a:r>
          </a:p>
        </p:txBody>
      </p:sp>
      <p:pic>
        <p:nvPicPr>
          <p:cNvPr id="81926" name="Picture 2" descr="U:\PC\publisher\2013 wiley slides\BM, 10-12\Chapter 10\Media\Illustrations\py_10_10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971800"/>
            <a:ext cx="3429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9D85-AE38-4DA8-A0CF-80B72DD2BB8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smtClean="0">
                <a:ea typeface="ＭＳ Ｐゴシック" pitchFamily="34" charset="-128"/>
              </a:rPr>
              <a:t> Class Methods (1)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724191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Create the group with its bounding box positioned at (</a:t>
            </a:r>
            <a:r>
              <a:rPr lang="en-US" altLang="en-US" i="1" dirty="0" smtClean="0">
                <a:ea typeface="ＭＳ Ｐゴシック" pitchFamily="34" charset="-128"/>
              </a:rPr>
              <a:t>x</a:t>
            </a:r>
            <a:r>
              <a:rPr lang="en-US" altLang="en-US" dirty="0" smtClean="0">
                <a:ea typeface="ＭＳ Ｐゴシック" pitchFamily="34" charset="-128"/>
              </a:rPr>
              <a:t>, </a:t>
            </a:r>
            <a:r>
              <a:rPr lang="en-US" altLang="en-US" i="1" dirty="0" smtClean="0">
                <a:ea typeface="ＭＳ Ｐゴシック" pitchFamily="34" charset="-128"/>
              </a:rPr>
              <a:t>y</a:t>
            </a:r>
            <a:r>
              <a:rPr lang="en-US" altLang="en-US" dirty="0" smtClean="0">
                <a:ea typeface="ＭＳ Ｐゴシック" pitchFamily="34" charset="-128"/>
              </a:rPr>
              <a:t>).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66800" y="1752600"/>
            <a:ext cx="6629400" cy="990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_ _init_ _(self, x = 0, y = 0)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super()._ _init_ _(x, y)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self._shapeList = []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90600" y="3810000"/>
            <a:ext cx="6781800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add(self, shape)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self._shapeList.append(shape)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4048-1E3B-441E-BA24-F8DC7F9751D7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67</a:t>
            </a:fld>
            <a:endParaRPr lang="en-US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2971800"/>
            <a:ext cx="7543801" cy="88315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itchFamily="34" charset="-128"/>
              </a:rPr>
              <a:t>Adding a shape to the group involves several steps. </a:t>
            </a:r>
          </a:p>
          <a:p>
            <a:pPr lvl="1" fontAlgn="auto"/>
            <a:r>
              <a:rPr lang="en-US" altLang="en-US" dirty="0" smtClean="0">
                <a:ea typeface="ＭＳ Ｐゴシック" pitchFamily="34" charset="-128"/>
              </a:rPr>
              <a:t>First, the shape has to be appended to the list: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smtClean="0">
                <a:ea typeface="ＭＳ Ｐゴシック" pitchFamily="34" charset="-128"/>
              </a:rPr>
              <a:t> Class Methods (2)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smtClean="0">
                <a:ea typeface="ＭＳ Ｐゴシック" pitchFamily="34" charset="-128"/>
              </a:rPr>
              <a:t>The individual shapes are positioned relative to the upper-left corner of the group’s bounding box. </a:t>
            </a:r>
          </a:p>
          <a:p>
            <a:pPr lvl="1"/>
            <a:r>
              <a:rPr lang="en-US" altLang="en-US" smtClean="0">
                <a:ea typeface="ＭＳ Ｐゴシック" pitchFamily="34" charset="-128"/>
              </a:rPr>
              <a:t>We must ensure that each shape is positioned below and to the right of this point.  If it is not, it must be moved.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295400" y="2667000"/>
            <a:ext cx="6553200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Keep the shape within top and left edges of the 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# bounding box.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if shape.getX() &lt; 0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shape.moveBy(-shape.getX(), 0)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if shape.getY() &lt; 0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shape.moveBy(0, -shape.getY())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D42B-DA87-4B3E-B667-532DEC77E5A9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smtClean="0">
                <a:ea typeface="ＭＳ Ｐゴシック" pitchFamily="34" charset="-128"/>
              </a:rPr>
              <a:t> Class Methods (3)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330441" cy="4614088"/>
          </a:xfrm>
        </p:spPr>
        <p:txBody>
          <a:bodyPr/>
          <a:lstStyle/>
          <a:p>
            <a:pPr lvl="1"/>
            <a:r>
              <a:rPr lang="en-US" altLang="en-US" dirty="0" smtClean="0">
                <a:ea typeface="ＭＳ Ｐゴシック" pitchFamily="34" charset="-128"/>
              </a:rPr>
              <a:t>The width of the group is determined by the rightmost extent of any of the group’s members. </a:t>
            </a:r>
          </a:p>
          <a:p>
            <a:pPr lvl="1"/>
            <a:r>
              <a:rPr lang="en-US" altLang="en-US" dirty="0" smtClean="0">
                <a:ea typeface="ＭＳ Ｐゴシック" pitchFamily="34" charset="-128"/>
              </a:rPr>
              <a:t>The rightmost extent of a shape is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shape.getX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 +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shape.getWidth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itchFamily="34" charset="-128"/>
              </a:rPr>
              <a:t>. The following method computes the maximum of these extents.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33475" y="3124200"/>
            <a:ext cx="7019925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getWidth(self)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width = 0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for shape in self._shapeList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width = max(width, shape.getX() +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shape.getWidth())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width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4BD1-B288-41CD-80D8-C4D01D7AEA23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69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smtClean="0">
                <a:ea typeface="ＭＳ Ｐゴシック" pitchFamily="34" charset="-128"/>
              </a:rPr>
              <a:t> Class Methods (4)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178041" cy="4614088"/>
          </a:xfrm>
        </p:spPr>
        <p:txBody>
          <a:bodyPr/>
          <a:lstStyle/>
          <a:p>
            <a:pPr lvl="1"/>
            <a:r>
              <a:rPr lang="en-US" altLang="en-US" dirty="0" smtClean="0">
                <a:ea typeface="ＭＳ Ｐゴシック" pitchFamily="34" charset="-128"/>
              </a:rPr>
              <a:t>The height of the group (the bottommost extent) is computed in the same way as the width.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33475" y="1981200"/>
            <a:ext cx="6791325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getHeight(self)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height = 0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for shape in self._shapeList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height = max(height, shape.getY() +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shape.getHeight())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height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51F1-79A9-4264-B57A-95F733257B0C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70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Consolas" panose="020B0609020204030204" pitchFamily="49" charset="0"/>
                <a:ea typeface="ＭＳ Ｐゴシック" pitchFamily="34" charset="-128"/>
                <a:cs typeface="Consolas" panose="020B0609020204030204" pitchFamily="49" charset="0"/>
              </a:rPr>
              <a:t>Group</a:t>
            </a:r>
            <a:r>
              <a:rPr lang="en-US" altLang="en-US" smtClean="0">
                <a:ea typeface="ＭＳ Ｐゴシック" pitchFamily="34" charset="-128"/>
              </a:rPr>
              <a:t> Class Methods (5)</a:t>
            </a:r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330441" cy="4614088"/>
          </a:xfrm>
        </p:spPr>
        <p:txBody>
          <a:bodyPr/>
          <a:lstStyle/>
          <a:p>
            <a:r>
              <a:rPr lang="en-US" altLang="en-US" dirty="0" smtClean="0">
                <a:ea typeface="ＭＳ Ｐゴシック" pitchFamily="34" charset="-128"/>
              </a:rPr>
              <a:t>The entire group can be drawn on the canvas.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The shapes contained in the group are defined relative to the upper-left corner of its bounding box. </a:t>
            </a:r>
          </a:p>
          <a:p>
            <a:r>
              <a:rPr lang="en-US" altLang="en-US" dirty="0" smtClean="0">
                <a:ea typeface="ＭＳ Ｐゴシック" pitchFamily="34" charset="-128"/>
              </a:rPr>
              <a:t>Before a shape can be drawn, it has to be moved to its position relative to the upper-left corner of the group’s bounding box.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66801" y="3124200"/>
            <a:ext cx="6705600" cy="1752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draw(self, canvas)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for shape in self._shapeList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shape.moveBy(self.getX(), self.getY())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shape.draw(canvas)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shape.moveBy(-self.getX(), -self.getY())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B68A5-C534-41DC-A6C4-23C1A733054E}" type="datetime1">
              <a:rPr lang="en-US" altLang="en-US" smtClean="0"/>
              <a:pPr/>
              <a:t>12/28/2017</a:t>
            </a:fld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B9AB3-CF6F-46D9-B671-FD0008AB421B}" type="slidenum">
              <a:rPr lang="en-US" altLang="en-US" smtClean="0"/>
              <a:pPr/>
              <a:t>71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MC Presentation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FFF00"/>
      </a:accent1>
      <a:accent2>
        <a:srgbClr val="000000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MC Presentation" id="{348D5CB8-6E9A-4E29-B8D9-1CF8AF11B647}" vid="{C72B6EE1-40A5-45FC-8346-91740359B3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RMC Presentation</Template>
  <TotalTime>10099</TotalTime>
  <Words>4632</Words>
  <Application>Microsoft Office PowerPoint</Application>
  <PresentationFormat>On-screen Show (4:3)</PresentationFormat>
  <Paragraphs>701</Paragraphs>
  <Slides>71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2" baseType="lpstr">
      <vt:lpstr>RMC Presentation</vt:lpstr>
      <vt:lpstr>Chapter 10</vt:lpstr>
      <vt:lpstr>Chapter Goals</vt:lpstr>
      <vt:lpstr>Contents</vt:lpstr>
      <vt:lpstr>Inheritance Hierarchies</vt:lpstr>
      <vt:lpstr>A Vehicle Class Hierarchy</vt:lpstr>
      <vt:lpstr>The Substitution Principle</vt:lpstr>
      <vt:lpstr>Quiz Question Hierarchy</vt:lpstr>
      <vt:lpstr>Questions.py</vt:lpstr>
      <vt:lpstr>Questions.py</vt:lpstr>
      <vt:lpstr>Questions.py</vt:lpstr>
      <vt:lpstr>Programming Tip</vt:lpstr>
      <vt:lpstr>The Cosmic Superclass: object</vt:lpstr>
      <vt:lpstr>Inheriting from the Superclass</vt:lpstr>
      <vt:lpstr>Overriding Superclass Methods</vt:lpstr>
      <vt:lpstr>Planning the Subclass</vt:lpstr>
      <vt:lpstr>Syntax 10.1: Subclass Definition</vt:lpstr>
      <vt:lpstr>Implementing AddChoice()</vt:lpstr>
      <vt:lpstr>10.3  Calling the Superclass Constructor (1)</vt:lpstr>
      <vt:lpstr>10.3  Calling the Superclass Constructor (2)</vt:lpstr>
      <vt:lpstr>Syntax 10.2: Subclass Constructor</vt:lpstr>
      <vt:lpstr>Example: Superclass Constructor (1)</vt:lpstr>
      <vt:lpstr>Example: Superclass Constructor (2)</vt:lpstr>
      <vt:lpstr>10.4  Overriding Methods</vt:lpstr>
      <vt:lpstr>Tasks Needed for Display(): 1</vt:lpstr>
      <vt:lpstr>Tasks Needed for Display(): 2</vt:lpstr>
      <vt:lpstr>Tasks Needed for Display(): 3</vt:lpstr>
      <vt:lpstr>Questiondemo2.py (1)</vt:lpstr>
      <vt:lpstr>Questiondemo2.py (2)</vt:lpstr>
      <vt:lpstr>Questions.py (1)</vt:lpstr>
      <vt:lpstr>Questions.py (2)</vt:lpstr>
      <vt:lpstr>Common Error 10.2  (1)</vt:lpstr>
      <vt:lpstr>Common Error 10.2  (2)</vt:lpstr>
      <vt:lpstr>10.5 Polymorphism</vt:lpstr>
      <vt:lpstr>Which Display() method was called?</vt:lpstr>
      <vt:lpstr>Why Does This Work?</vt:lpstr>
      <vt:lpstr>Polymorphism Benefits</vt:lpstr>
      <vt:lpstr>Questiondemo3.py (1)</vt:lpstr>
      <vt:lpstr>Questiondemo3.py (2)</vt:lpstr>
      <vt:lpstr>Special Topic 10.2</vt:lpstr>
      <vt:lpstr>Use of Isinstance()</vt:lpstr>
      <vt:lpstr>Special Topic 10.3</vt:lpstr>
      <vt:lpstr>Dynamic Method Lookup </vt:lpstr>
      <vt:lpstr>Special Topic 10.4</vt:lpstr>
      <vt:lpstr>Common Error 10.3</vt:lpstr>
      <vt:lpstr>Steps to Using Inheritance</vt:lpstr>
      <vt:lpstr>Steps to Using Inheritance</vt:lpstr>
      <vt:lpstr>Using Inheritance: Pseudocode</vt:lpstr>
      <vt:lpstr>Steps to Using Inheritance</vt:lpstr>
      <vt:lpstr>10.6 Application</vt:lpstr>
      <vt:lpstr>Inheritance Diagram of Geometric Shapes</vt:lpstr>
      <vt:lpstr>The Base Class</vt:lpstr>
      <vt:lpstr>Attributes of the Base Class</vt:lpstr>
      <vt:lpstr>Setting the Attributes</vt:lpstr>
      <vt:lpstr>Accessor Methods</vt:lpstr>
      <vt:lpstr>Mutator Methods</vt:lpstr>
      <vt:lpstr>Other Methods</vt:lpstr>
      <vt:lpstr>The Rectangle Class (1)</vt:lpstr>
      <vt:lpstr>The Rectangle Class (2)</vt:lpstr>
      <vt:lpstr>The Line Class (1)</vt:lpstr>
      <vt:lpstr>The Line Class (2)</vt:lpstr>
      <vt:lpstr>Line Class: Methods (1)</vt:lpstr>
      <vt:lpstr>Line Class: Methods (2)</vt:lpstr>
      <vt:lpstr>Wrapper Class: Square</vt:lpstr>
      <vt:lpstr>Testshapes.py</vt:lpstr>
      <vt:lpstr>Groups of Shapes</vt:lpstr>
      <vt:lpstr>The Group Class</vt:lpstr>
      <vt:lpstr>Group Class Methods (1)</vt:lpstr>
      <vt:lpstr>Group Class Methods (2)</vt:lpstr>
      <vt:lpstr>Group Class Methods (3)</vt:lpstr>
      <vt:lpstr>Group Class Methods (4)</vt:lpstr>
      <vt:lpstr>Group Class Methods (5)</vt:lpstr>
    </vt:vector>
  </TitlesOfParts>
  <Company>Technetrain.com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 Inheritance and Interfaces</dc:title>
  <dc:subject>Java for Everyone 2e</dc:subject>
  <dc:creator>James Tam</dc:creator>
  <dc:description>Based on bjlo_ch09_8</dc:description>
  <cp:lastModifiedBy>Clare</cp:lastModifiedBy>
  <cp:revision>484</cp:revision>
  <dcterms:created xsi:type="dcterms:W3CDTF">2007-02-01T21:32:19Z</dcterms:created>
  <dcterms:modified xsi:type="dcterms:W3CDTF">2017-12-29T07:55:32Z</dcterms:modified>
  <cp:contentStatus>Final Draft</cp:contentStatus>
</cp:coreProperties>
</file>