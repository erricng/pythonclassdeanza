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1"/>
  </p:sldMasterIdLst>
  <p:notesMasterIdLst>
    <p:notesMasterId r:id="rId31"/>
  </p:notesMasterIdLst>
  <p:sldIdLst>
    <p:sldId id="256" r:id="rId2"/>
    <p:sldId id="28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7" autoAdjust="0"/>
    <p:restoredTop sz="88235"/>
  </p:normalViewPr>
  <p:slideViewPr>
    <p:cSldViewPr snapToGrid="0" snapToObjects="1">
      <p:cViewPr varScale="1">
        <p:scale>
          <a:sx n="61" d="100"/>
          <a:sy n="61" d="100"/>
        </p:scale>
        <p:origin x="-918" y="-96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52887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</a:t>
            </a:r>
            <a:r>
              <a:rPr lang="en-US" dirty="0" smtClean="0">
                <a:solidFill>
                  <a:schemeClr val="dk2"/>
                </a:solidFill>
              </a:rPr>
              <a:t>acknowledgement page(s)</a:t>
            </a:r>
            <a:r>
              <a:rPr lang="en-US" baseline="0" dirty="0" smtClean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799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0885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058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837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33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11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5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71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25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324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27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468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392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48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85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2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926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38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420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3" name="Shape 3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869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124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8" name="Shape 3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780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4" name="Shape 3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718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557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5866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0" name="Shape 3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499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0" name="Shape 3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888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4242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98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pening 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lvl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/>
            </a:lvl1pPr>
            <a:lvl2pPr marL="939800" lvl="1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lvl="2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lvl="3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lvl="4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lvl="5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lvl="6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lvl="7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lvl="8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549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29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693" r:id="rId3"/>
    <p:sldLayoutId id="214748369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gorith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ata_structur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datastructure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Lists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8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3804600" y="6415089"/>
            <a:ext cx="7987499" cy="15606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smtClean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  <a:endParaRPr lang="en-US" sz="3200" u="none" strike="noStrike" cap="none" dirty="0" smtClean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dirty="0" smtClean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www.py4e.com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168" name="Shape 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87412" y="7318368"/>
            <a:ext cx="196859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Shape 1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250" y="6933293"/>
            <a:ext cx="1024800" cy="1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299203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 smtClean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Programming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1155700" y="2857500"/>
            <a:ext cx="13760450" cy="48434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u="none" strike="noStrike" cap="none" dirty="0" smtClean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Algorithm</a:t>
            </a:r>
          </a:p>
          <a:p>
            <a:pPr marL="304800" lvl="1" indent="0"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sz="32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A set of rules or steps used to solve a problem</a:t>
            </a:r>
          </a:p>
          <a:p>
            <a:pPr marL="749300" lvl="1" indent="-444500">
              <a:spcBef>
                <a:spcPts val="0"/>
              </a:spcBef>
              <a:spcAft>
                <a:spcPts val="1000"/>
              </a:spcAft>
              <a:buSzPct val="100000"/>
            </a:pPr>
            <a:endParaRPr lang="en-US" sz="3200" u="none" strike="noStrike" cap="none" dirty="0" smtClean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dirty="0" smtClean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Data Structure</a:t>
            </a:r>
          </a:p>
          <a:p>
            <a:pPr marL="304800" lvl="1" indent="0"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sz="3200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A 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particular way of organizing data in a computer</a:t>
            </a:r>
            <a:endParaRPr lang="en-US" sz="32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67449" y="6941246"/>
            <a:ext cx="797365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200" dirty="0">
                <a:solidFill>
                  <a:srgbClr val="FFFF00"/>
                </a:solidFill>
                <a:hlinkClick r:id="rId3"/>
              </a:rPr>
              <a:t>https://</a:t>
            </a:r>
            <a:r>
              <a:rPr lang="en-US" sz="3200" dirty="0" smtClean="0">
                <a:solidFill>
                  <a:srgbClr val="FFFF00"/>
                </a:solidFill>
                <a:hlinkClick r:id="rId3"/>
              </a:rPr>
              <a:t>en.wikipedia.org/wiki/Algorithm</a:t>
            </a:r>
            <a:endParaRPr lang="en-US" sz="3200" dirty="0" smtClean="0">
              <a:solidFill>
                <a:srgbClr val="FFFF00"/>
              </a:solidFill>
            </a:endParaRPr>
          </a:p>
          <a:p>
            <a:pPr algn="r"/>
            <a:r>
              <a:rPr lang="en-US" sz="3200" dirty="0">
                <a:solidFill>
                  <a:srgbClr val="FFFF00"/>
                </a:solidFill>
                <a:hlinkClick r:id="rId4"/>
              </a:rPr>
              <a:t>https://</a:t>
            </a:r>
            <a:r>
              <a:rPr lang="en-US" sz="3200" dirty="0" smtClean="0">
                <a:solidFill>
                  <a:srgbClr val="FFFF00"/>
                </a:solidFill>
                <a:hlinkClick r:id="rId4"/>
              </a:rPr>
              <a:t>en.wikipedia.org/wiki/Data_structure</a:t>
            </a:r>
            <a:endParaRPr lang="en-US" sz="3200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4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Not a </a:t>
            </a:r>
            <a:r>
              <a:rPr lang="en-US" sz="7600" b="0" i="0" u="none" strike="noStrike" cap="none" dirty="0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7600" b="0" i="0" u="none" strike="noStrike" cap="none" smtClean="0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”?</a:t>
            </a:r>
            <a:endParaRPr lang="en-US" sz="7600" b="0" i="0" u="none" strike="noStrike" cap="none" dirty="0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2654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of our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have one value in them - when we put a new value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old value is overwritten</a:t>
            </a:r>
          </a:p>
        </p:txBody>
      </p:sp>
      <p:sp>
        <p:nvSpPr>
          <p:cNvPr id="184" name="Shape 184"/>
          <p:cNvSpPr txBox="1"/>
          <p:nvPr/>
        </p:nvSpPr>
        <p:spPr>
          <a:xfrm>
            <a:off x="2136725" y="5621338"/>
            <a:ext cx="12214275" cy="22574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1688763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4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List is a Kind of Collection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5258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allows us to put many values in a single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nice because we can carry all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many values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around in one convenient package.</a:t>
            </a:r>
          </a:p>
        </p:txBody>
      </p:sp>
      <p:pic>
        <p:nvPicPr>
          <p:cNvPr id="176" name="Shape 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77850" y="789709"/>
            <a:ext cx="2557874" cy="2096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2002250" y="6000750"/>
            <a:ext cx="12192000" cy="2214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'Joseph', 'Glenn', 'Sally' 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carryon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'socks', 'shirt', 'perfume'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Constants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98500" y="2857500"/>
            <a:ext cx="7331075" cy="484346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constants are surrounded by square brackets and the elements in the list are separated by commas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element can be any Python object - even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empty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8774113" y="2532050"/>
            <a:ext cx="7162387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1, 24, 76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24, 76]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'red', 'yellow', 'blue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['red', 'yellow', 'blue']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'red', 24, 98.6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 smtClean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'red', 24, </a:t>
            </a:r>
            <a:r>
              <a:rPr lang="en-US" sz="28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98.6]</a:t>
            </a:r>
            <a:endParaRPr lang="en-US" sz="28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1,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[5, 6]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 7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[5, 6], 7]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 smtClean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[]</a:t>
            </a:r>
            <a:endParaRPr lang="en-US" sz="28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Already Use Lists!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895475" y="2840601"/>
            <a:ext cx="8488800" cy="363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198" name="Shape 198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 - Best </a:t>
            </a:r>
            <a:r>
              <a:rPr lang="en-US" sz="6600" u="none" strike="noStrike" cap="none" dirty="0" smtClean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Pals</a:t>
            </a:r>
            <a:endParaRPr lang="en-US" sz="6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04" name="Shape 204"/>
          <p:cNvSpPr txBox="1"/>
          <p:nvPr/>
        </p:nvSpPr>
        <p:spPr>
          <a:xfrm>
            <a:off x="1279124" y="3423163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New Year:'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05" name="Shape 205"/>
          <p:cNvSpPr txBox="1"/>
          <p:nvPr/>
        </p:nvSpPr>
        <p:spPr>
          <a:xfrm>
            <a:off x="10658475" y="4051100"/>
            <a:ext cx="4943475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206" name="Shape 206"/>
          <p:cNvCxnSpPr/>
          <p:nvPr/>
        </p:nvCxnSpPr>
        <p:spPr>
          <a:xfrm flipH="1">
            <a:off x="8443912" y="4353475"/>
            <a:ext cx="1986512" cy="318538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 flipH="1" flipV="1">
            <a:off x="8464060" y="4672014"/>
            <a:ext cx="1961138" cy="839786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8" name="Shape 208"/>
          <p:cNvCxnSpPr/>
          <p:nvPr/>
        </p:nvCxnSpPr>
        <p:spPr>
          <a:xfrm rot="10800000">
            <a:off x="3904399" y="5160163"/>
            <a:ext cx="6596999" cy="7988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/>
          <p:cNvSpPr txBox="1"/>
          <p:nvPr/>
        </p:nvSpPr>
        <p:spPr>
          <a:xfrm>
            <a:off x="1279124" y="5997591"/>
            <a:ext cx="72804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 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New Year:'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Lists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3086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Just like strings, we can get at any single element in a list using an index specified in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</p:txBody>
      </p:sp>
      <p:pic>
        <p:nvPicPr>
          <p:cNvPr id="215" name="Shape 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775" y="992909"/>
            <a:ext cx="273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Shape 216"/>
          <p:cNvSpPr txBox="1"/>
          <p:nvPr/>
        </p:nvSpPr>
        <p:spPr>
          <a:xfrm>
            <a:off x="17272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1557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Joseph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7429500" y="5065701"/>
            <a:ext cx="8156400" cy="233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4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Glenn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36068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30353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Glenn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5486400" y="6375401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4914900" y="5651501"/>
            <a:ext cx="1879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44930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Mutable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7331075" cy="5156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 are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immutable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we cannot change the contents of a string - we must make a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 string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make any change</a:t>
            </a:r>
          </a:p>
          <a:p>
            <a:pPr marL="457200" lvl="0" indent="-444500">
              <a:spcAft>
                <a:spcPts val="1000"/>
              </a:spcAft>
              <a:buSzPct val="100000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mutable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400" u="none" strike="noStrike" cap="none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we can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change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 element of a list using the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9334300" y="2247900"/>
            <a:ext cx="6464399" cy="5969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'Banana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'</a:t>
            </a:r>
            <a:r>
              <a:rPr lang="en-US" sz="24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 does not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support item assignment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banana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28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28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41, 63]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144500" cy="175029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Long is a List?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4882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takes 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a parameter and returns the number of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elements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Actually </a:t>
            </a:r>
            <a:r>
              <a:rPr lang="en-US" sz="34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tells us the number of elements of any set or sequence (such as a string...)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9239250" y="3543301"/>
            <a:ext cx="6119700" cy="397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2, 'joe',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the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16613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returns a list of numbers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range from zero to one less than the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construct an index loop using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an integer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iterator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7726200" y="3022600"/>
            <a:ext cx="78437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print(list(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print(list(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Tale of Two Loops...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584950" y="3118400"/>
            <a:ext cx="7175700" cy="3594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New Year:',  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New Year:',  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50" name="Shape 250"/>
          <p:cNvSpPr txBox="1"/>
          <p:nvPr/>
        </p:nvSpPr>
        <p:spPr>
          <a:xfrm>
            <a:off x="8105725" y="5652525"/>
            <a:ext cx="5591699" cy="213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8105725" y="2509825"/>
            <a:ext cx="78888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print(list(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(friends))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Using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1778000" y="2933702"/>
            <a:ext cx="5410200" cy="2603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 new list by adding two ex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ting lists together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9714275" y="2714100"/>
            <a:ext cx="49659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[1, 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[4, 5,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2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3, 4, 5, 6]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2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Can Be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Sliced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962200" y="2875600"/>
            <a:ext cx="69416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[9, 41, 12, 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[41,12]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[3, 74, 15]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3, 74, 15]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8506725" y="4033425"/>
            <a:ext cx="5465399" cy="219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Just like in strings, the second number is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918550" y="3110400"/>
            <a:ext cx="120428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&lt;type 'list'&gt;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['append', 'count', 'extend', 'index', 'insert', 'pop', 'remove', 'reverse', 'sort']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2913200" y="7123112"/>
            <a:ext cx="1041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http://docs.python.org/tutorial/datastructures.html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Building a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 from 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cratch</a:t>
            </a:r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302375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an empty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add elements using 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append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stays in order and new elements are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 of 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8367175" y="2990850"/>
            <a:ext cx="74555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('book')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(99)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'book', 99]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('cookie')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99, 'cookie']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Something in a List?</a:t>
            </a:r>
          </a:p>
        </p:txBody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573838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provides two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let you check if an item is in a list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are logical operators that return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They do not modify the list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8585238" y="2940050"/>
            <a:ext cx="7131013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9, 21, 10, 16]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15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 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u="none" strike="noStrike" cap="none" dirty="0" smtClean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in Order</a:t>
            </a:r>
            <a:endParaRPr lang="en-US" sz="78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22301" y="2603500"/>
            <a:ext cx="5524500" cy="5702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5906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hold many items and keeps those items in the order until we do something to change the order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b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(i.e., change its order)</a:t>
            </a:r>
          </a:p>
          <a:p>
            <a:pPr marL="1104900" marR="0" lvl="0" indent="-5906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 (unlike in strings) means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 yourself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6771475" y="3041075"/>
            <a:ext cx="8976525" cy="436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.sort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['Glenn', 'Joseph',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Functions and Lists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02313" cy="4940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a number of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 into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take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parameters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the loops we built?  These are much simpler.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7929600" y="2455850"/>
            <a:ext cx="7885799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[3, 41, 12, 9, 74, 15]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74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min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154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)/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25.6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/>
        </p:nvSpPr>
        <p:spPr>
          <a:xfrm>
            <a:off x="7314550" y="4800524"/>
            <a:ext cx="8127900" cy="398787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numlist.append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(value)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average = sum(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 /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numlist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:', </a:t>
            </a: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average)</a:t>
            </a:r>
            <a:endParaRPr lang="en-US"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06" name="Shape 306"/>
          <p:cNvSpPr txBox="1"/>
          <p:nvPr/>
        </p:nvSpPr>
        <p:spPr>
          <a:xfrm>
            <a:off x="697125" y="1031888"/>
            <a:ext cx="8127900" cy="4835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total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while True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('Enter a number: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== 'done' :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 value = float(</a:t>
            </a:r>
            <a:r>
              <a:rPr lang="en-US" sz="2600" i="0" u="none" strike="noStrike" cap="none" dirty="0" err="1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total = total + value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count = count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average = total / count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print('Average</a:t>
            </a:r>
            <a:r>
              <a:rPr lang="en-US" sz="26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:', </a:t>
            </a:r>
            <a:r>
              <a:rPr lang="en-US" sz="26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average)</a:t>
            </a:r>
            <a:endParaRPr lang="en-US" sz="26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07" name="Shape 307"/>
          <p:cNvSpPr txBox="1"/>
          <p:nvPr/>
        </p:nvSpPr>
        <p:spPr>
          <a:xfrm>
            <a:off x="9308725" y="828688"/>
            <a:ext cx="5435700" cy="28623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a number: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Average: 5.66666666667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Best Friends: Strings and Lists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498600" y="2349500"/>
            <a:ext cx="67491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'With three words</a:t>
            </a:r>
            <a:r>
              <a:rPr lang="en-US" sz="30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['With', 'three', 'words']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With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9398000" y="2292350"/>
            <a:ext cx="64509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['With', 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'three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'words']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With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457200" y="7194550"/>
            <a:ext cx="151256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breaks a string into parts and produces a list of strings.  We think of these as words.  We can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access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particular word or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all the words.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/>
        </p:nvSpPr>
        <p:spPr>
          <a:xfrm>
            <a:off x="965199" y="1085851"/>
            <a:ext cx="9364664" cy="702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'A lot               of spaces</a:t>
            </a:r>
            <a:r>
              <a:rPr lang="en-US" sz="26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endParaRPr lang="en-US" sz="2600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etc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line.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etc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['A', 'lot', 'of', 'spaces']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first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;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second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;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third</a:t>
            </a:r>
            <a:r>
              <a:rPr lang="en-US" sz="2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first;second;third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';'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['first', 'second', 'third']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6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9226644" y="2031185"/>
            <a:ext cx="6490311" cy="4676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you do not specify a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delimiter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multiple spaces are treated like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delimiter</a:t>
            </a:r>
          </a:p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457200" marR="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●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specify what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delimiter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character to use in the 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/>
        </p:nvSpPr>
        <p:spPr>
          <a:xfrm>
            <a:off x="2526075" y="2058975"/>
            <a:ext cx="8889299" cy="33243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not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 ') :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[2]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2400" b="1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27" name="Shape 327"/>
          <p:cNvSpPr txBox="1"/>
          <p:nvPr/>
        </p:nvSpPr>
        <p:spPr>
          <a:xfrm>
            <a:off x="13538200" y="2330450"/>
            <a:ext cx="8160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Sat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...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642650" y="945775"/>
            <a:ext cx="130700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stephen.marquard@uct.ac.za </a:t>
            </a:r>
            <a:r>
              <a:rPr lang="en-US" sz="3600" b="0" i="0" u="none" strike="noStrike" cap="non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Jan  5 09:14:16 2008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1212375" y="6000750"/>
            <a:ext cx="142832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'From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sz="24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['From', 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'Sat', 'Jan', '5', '09:14:16', '2008']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35" name="Shape 33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1900" cy="129698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Sat Jan  5 09:14:16 2008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1155700" y="52892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45" name="Shape 345"/>
          <p:cNvSpPr txBox="1"/>
          <p:nvPr/>
        </p:nvSpPr>
        <p:spPr>
          <a:xfrm>
            <a:off x="7336425" y="58357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1155700" y="4506450"/>
            <a:ext cx="13182600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2008</a:t>
            </a:r>
            <a:endParaRPr lang="en-US" sz="30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47" name="Shape 347"/>
          <p:cNvSpPr txBox="1"/>
          <p:nvPr/>
        </p:nvSpPr>
        <p:spPr>
          <a:xfrm>
            <a:off x="1155700" y="5289200"/>
            <a:ext cx="5169599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53" name="Shape 353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Sat Jan  5 09:14:16 2008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1155700" y="54416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pieces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email.split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 New"/>
              </a:rPr>
              <a:t>print pieces[1]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Double Split Pattern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['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2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1155700" y="5594000"/>
            <a:ext cx="6179100" cy="188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words = 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email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pieces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email.split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400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pieces[1]</a:t>
            </a:r>
            <a:r>
              <a:rPr lang="en-US" sz="24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endParaRPr lang="en-US" sz="2400" b="1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67" name="Shape 367"/>
          <p:cNvSpPr txBox="1"/>
          <p:nvPr/>
        </p:nvSpPr>
        <p:spPr>
          <a:xfrm>
            <a:off x="7336425" y="57595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68" name="Shape 368"/>
          <p:cNvSpPr txBox="1"/>
          <p:nvPr/>
        </p:nvSpPr>
        <p:spPr>
          <a:xfrm>
            <a:off x="7246300" y="6766900"/>
            <a:ext cx="2729099" cy="5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Summary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74275" y="2733900"/>
            <a:ext cx="74505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Concept of a collection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and lookup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mutability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Functions: </a:t>
            </a:r>
            <a:r>
              <a:rPr lang="en-US" sz="3600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min, max, sum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7932975" y="2733900"/>
            <a:ext cx="7565400" cy="5110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methods: append,  remove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lists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 strings into lists of words</a:t>
            </a:r>
          </a:p>
          <a:p>
            <a:pPr marL="685800" lvl="0" indent="-394462" rtl="0">
              <a:spcBef>
                <a:spcPts val="3500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split to parse strings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/>
          <p:nvPr/>
        </p:nvSpPr>
        <p:spPr>
          <a:xfrm>
            <a:off x="1155700" y="1155705"/>
            <a:ext cx="13932000" cy="81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206100" y="2296131"/>
            <a:ext cx="6797699" cy="58191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>
                <a:solidFill>
                  <a:srgbClr val="FFFFFF"/>
                </a:solidFill>
              </a:rPr>
              <a:t>… Insert new Contributors and Translators here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</p:txBody>
      </p:sp>
      <p:pic>
        <p:nvPicPr>
          <p:cNvPr id="383" name="Shape 3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900" y="1049055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Shape 3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97687" y="1227255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Shape 385"/>
          <p:cNvSpPr txBox="1"/>
          <p:nvPr/>
        </p:nvSpPr>
        <p:spPr>
          <a:xfrm>
            <a:off x="8704400" y="2426605"/>
            <a:ext cx="6797699" cy="581728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1950</Words>
  <Application>Microsoft Office PowerPoint</Application>
  <PresentationFormat>Custom</PresentationFormat>
  <Paragraphs>335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Title &amp; Subtitle</vt:lpstr>
      <vt:lpstr>Python Lists</vt:lpstr>
      <vt:lpstr>Programming</vt:lpstr>
      <vt:lpstr>What is Not a “Collection”?</vt:lpstr>
      <vt:lpstr>A List is a Kind of Collection</vt:lpstr>
      <vt:lpstr>List Constants</vt:lpstr>
      <vt:lpstr>We Already Use Lists!</vt:lpstr>
      <vt:lpstr>Lists and Definite Loops - Best Pals</vt:lpstr>
      <vt:lpstr>Looking Inside Lists</vt:lpstr>
      <vt:lpstr>Lists are Mutable</vt:lpstr>
      <vt:lpstr>How Long is a List?</vt:lpstr>
      <vt:lpstr>Using the range Function</vt:lpstr>
      <vt:lpstr>A Tale of Two Loops...</vt:lpstr>
      <vt:lpstr>Concatenating Lists Using +</vt:lpstr>
      <vt:lpstr>Lists Can Be Sliced Using :</vt:lpstr>
      <vt:lpstr>List Methods</vt:lpstr>
      <vt:lpstr>Building a List from Scratch</vt:lpstr>
      <vt:lpstr>Is Something in a List?</vt:lpstr>
      <vt:lpstr>Lists are in Order</vt:lpstr>
      <vt:lpstr>Built-in Functions and Lists</vt:lpstr>
      <vt:lpstr>PowerPoint Presentation</vt:lpstr>
      <vt:lpstr>Best Friends: Strings and Lists</vt:lpstr>
      <vt:lpstr>PowerPoint Presentation</vt:lpstr>
      <vt:lpstr>PowerPoint Presentation</vt:lpstr>
      <vt:lpstr>The Double Split Pattern</vt:lpstr>
      <vt:lpstr>The Double Split Pattern</vt:lpstr>
      <vt:lpstr>The Double Split Pattern</vt:lpstr>
      <vt:lpstr>The Double Split Pattern</vt:lpstr>
      <vt:lpstr>List 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Lists</dc:title>
  <cp:lastModifiedBy>saeed</cp:lastModifiedBy>
  <cp:revision>57</cp:revision>
  <dcterms:modified xsi:type="dcterms:W3CDTF">2018-11-14T04:50:03Z</dcterms:modified>
</cp:coreProperties>
</file>