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8" r:id="rId1"/>
  </p:sldMasterIdLst>
  <p:notesMasterIdLst>
    <p:notesMasterId r:id="rId95"/>
  </p:notesMasterIdLst>
  <p:sldIdLst>
    <p:sldId id="365" r:id="rId2"/>
    <p:sldId id="366" r:id="rId3"/>
    <p:sldId id="367" r:id="rId4"/>
    <p:sldId id="538" r:id="rId5"/>
    <p:sldId id="368" r:id="rId6"/>
    <p:sldId id="369" r:id="rId7"/>
    <p:sldId id="537" r:id="rId8"/>
    <p:sldId id="440" r:id="rId9"/>
    <p:sldId id="441" r:id="rId10"/>
    <p:sldId id="442" r:id="rId11"/>
    <p:sldId id="443" r:id="rId12"/>
    <p:sldId id="444" r:id="rId13"/>
    <p:sldId id="445" r:id="rId14"/>
    <p:sldId id="446" r:id="rId15"/>
    <p:sldId id="447" r:id="rId16"/>
    <p:sldId id="448" r:id="rId17"/>
    <p:sldId id="449" r:id="rId18"/>
    <p:sldId id="450" r:id="rId19"/>
    <p:sldId id="539" r:id="rId20"/>
    <p:sldId id="458" r:id="rId21"/>
    <p:sldId id="540" r:id="rId22"/>
    <p:sldId id="467" r:id="rId23"/>
    <p:sldId id="468" r:id="rId24"/>
    <p:sldId id="453" r:id="rId25"/>
    <p:sldId id="541" r:id="rId26"/>
    <p:sldId id="454" r:id="rId27"/>
    <p:sldId id="455" r:id="rId28"/>
    <p:sldId id="456" r:id="rId29"/>
    <p:sldId id="457" r:id="rId30"/>
    <p:sldId id="459" r:id="rId31"/>
    <p:sldId id="460" r:id="rId32"/>
    <p:sldId id="461" r:id="rId33"/>
    <p:sldId id="462" r:id="rId34"/>
    <p:sldId id="463" r:id="rId35"/>
    <p:sldId id="545" r:id="rId36"/>
    <p:sldId id="464" r:id="rId37"/>
    <p:sldId id="465" r:id="rId38"/>
    <p:sldId id="466" r:id="rId39"/>
    <p:sldId id="469" r:id="rId40"/>
    <p:sldId id="470" r:id="rId41"/>
    <p:sldId id="471" r:id="rId42"/>
    <p:sldId id="472" r:id="rId43"/>
    <p:sldId id="473" r:id="rId44"/>
    <p:sldId id="474" r:id="rId45"/>
    <p:sldId id="475" r:id="rId46"/>
    <p:sldId id="476" r:id="rId47"/>
    <p:sldId id="477" r:id="rId48"/>
    <p:sldId id="544" r:id="rId49"/>
    <p:sldId id="548" r:id="rId50"/>
    <p:sldId id="549" r:id="rId51"/>
    <p:sldId id="550" r:id="rId52"/>
    <p:sldId id="551" r:id="rId53"/>
    <p:sldId id="552" r:id="rId54"/>
    <p:sldId id="553" r:id="rId55"/>
    <p:sldId id="554" r:id="rId56"/>
    <p:sldId id="555" r:id="rId57"/>
    <p:sldId id="556" r:id="rId58"/>
    <p:sldId id="557" r:id="rId59"/>
    <p:sldId id="558" r:id="rId60"/>
    <p:sldId id="559" r:id="rId61"/>
    <p:sldId id="560" r:id="rId62"/>
    <p:sldId id="561" r:id="rId63"/>
    <p:sldId id="562" r:id="rId64"/>
    <p:sldId id="563" r:id="rId65"/>
    <p:sldId id="564" r:id="rId66"/>
    <p:sldId id="565" r:id="rId67"/>
    <p:sldId id="566" r:id="rId68"/>
    <p:sldId id="567" r:id="rId69"/>
    <p:sldId id="568" r:id="rId70"/>
    <p:sldId id="569" r:id="rId71"/>
    <p:sldId id="570" r:id="rId72"/>
    <p:sldId id="571" r:id="rId73"/>
    <p:sldId id="572" r:id="rId74"/>
    <p:sldId id="573" r:id="rId75"/>
    <p:sldId id="574" r:id="rId76"/>
    <p:sldId id="575" r:id="rId77"/>
    <p:sldId id="576" r:id="rId78"/>
    <p:sldId id="577" r:id="rId79"/>
    <p:sldId id="578" r:id="rId80"/>
    <p:sldId id="579" r:id="rId81"/>
    <p:sldId id="580" r:id="rId82"/>
    <p:sldId id="581" r:id="rId83"/>
    <p:sldId id="582" r:id="rId84"/>
    <p:sldId id="583" r:id="rId85"/>
    <p:sldId id="584" r:id="rId86"/>
    <p:sldId id="585" r:id="rId87"/>
    <p:sldId id="586" r:id="rId88"/>
    <p:sldId id="587" r:id="rId89"/>
    <p:sldId id="588" r:id="rId90"/>
    <p:sldId id="589" r:id="rId91"/>
    <p:sldId id="590" r:id="rId92"/>
    <p:sldId id="591" r:id="rId93"/>
    <p:sldId id="592" r:id="rId94"/>
  </p:sldIdLst>
  <p:sldSz cx="9144000" cy="6858000" type="screen4x3"/>
  <p:notesSz cx="6858000" cy="9144000"/>
  <p:custDataLst>
    <p:tags r:id="rId9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CC"/>
    <a:srgbClr val="333333"/>
    <a:srgbClr val="9933FF"/>
    <a:srgbClr val="9966FF"/>
    <a:srgbClr val="3853A8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317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3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anose="020B0604020202020204" pitchFamily="34" charset="0"/>
              </a:defRPr>
            </a:lvl1pPr>
          </a:lstStyle>
          <a:p>
            <a:fld id="{DF0C642F-56F7-4D04-B4C1-887D68A759AE}" type="datetimeFigureOut">
              <a:rPr lang="en-US" altLang="en-US"/>
              <a:pPr/>
              <a:t>11/15/2015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anose="020B0604020202020204" pitchFamily="34" charset="0"/>
              </a:defRPr>
            </a:lvl1pPr>
          </a:lstStyle>
          <a:p>
            <a:fld id="{468205F0-7E1D-46D6-BC08-717917518F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67306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0F0103C-A88E-42E0-AC0F-34B4ED0803D7}" type="slidenum">
              <a:rPr lang="en-US" altLang="en-US" sz="1200"/>
              <a:pPr/>
              <a:t>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135138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8205F0-7E1D-46D6-BC08-717917518FA4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0134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" name="Straight Connector 6"/>
          <p:cNvCxnSpPr/>
          <p:nvPr/>
        </p:nvCxnSpPr>
        <p:spPr>
          <a:xfrm>
            <a:off x="906463" y="4343400"/>
            <a:ext cx="740568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800850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22325" y="3528521"/>
            <a:ext cx="7543800" cy="7254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fld id="{6B6DE6AF-CD17-497E-BFBE-48F309F2F4ED}" type="datetime1">
              <a:rPr lang="en-US" altLang="en-US" smtClean="0"/>
              <a:t>11/15/2015</a:t>
            </a:fld>
            <a:endParaRPr lang="en-US" alt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8E735D5-5EEF-4FA2-BDAC-055D265B12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38080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A0F01C-657F-4459-A481-1E67D49B3BE0}" type="datetime1">
              <a:rPr lang="en-US" altLang="en-US" smtClean="0"/>
              <a:t>11/15/2015</a:t>
            </a:fld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altLang="en-US"/>
              <a:t>Page </a:t>
            </a:r>
            <a:fld id="{E3B93FE9-A421-4B87-A671-7CC69EB1D69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00624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/>
          <p:cNvCxnSpPr/>
          <p:nvPr/>
        </p:nvCxnSpPr>
        <p:spPr>
          <a:xfrm>
            <a:off x="906463" y="4343400"/>
            <a:ext cx="740568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6802438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77886"/>
            <a:ext cx="7543800" cy="1647226"/>
          </a:xfrm>
        </p:spPr>
        <p:txBody>
          <a:bodyPr anchorCtr="0"/>
          <a:lstStyle>
            <a:lvl1pPr>
              <a:lnSpc>
                <a:spcPct val="85000"/>
              </a:lnSpc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13371FE-2CA4-4632-BCE5-3EE1C9A5123D}" type="datetime1">
              <a:rPr lang="en-US" altLang="en-US" smtClean="0"/>
              <a:t>11/15/2015</a:t>
            </a:fld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DA32480-9A40-478D-A920-65566AABF4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408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77475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404257"/>
            <a:ext cx="3703320" cy="4464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404258"/>
            <a:ext cx="3703320" cy="4464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934C071-8A30-402E-A8C4-02B0951C0AFC}" type="datetime1">
              <a:rPr lang="en-US" altLang="en-US" smtClean="0"/>
              <a:t>11/15/2015</a:t>
            </a:fld>
            <a:endParaRPr lang="en-US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7FFB234-C584-4A65-8E4D-F69B8EC409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33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>
          <a:xfrm>
            <a:off x="457200" y="838200"/>
            <a:ext cx="8305800" cy="152400"/>
          </a:xfrm>
          <a:prstGeom prst="parallelogram">
            <a:avLst>
              <a:gd name="adj" fmla="val 15613"/>
            </a:avLst>
          </a:prstGeom>
          <a:solidFill>
            <a:srgbClr val="FFCC00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74209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79764"/>
            <a:ext cx="3703320" cy="1202570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79764"/>
            <a:ext cx="3703320" cy="1202570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45557D-FE15-4373-9645-1EAD21025963}" type="datetime1">
              <a:rPr lang="en-US" altLang="en-US" smtClean="0"/>
              <a:t>11/15/2015</a:t>
            </a:fld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AC5E8C1-8B99-4856-AC62-D409CD513A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2574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allelogram 2"/>
          <p:cNvSpPr/>
          <p:nvPr userDrawn="1"/>
        </p:nvSpPr>
        <p:spPr>
          <a:xfrm>
            <a:off x="381000" y="838200"/>
            <a:ext cx="8382000" cy="152400"/>
          </a:xfrm>
          <a:prstGeom prst="parallelogram">
            <a:avLst>
              <a:gd name="adj" fmla="val 15613"/>
            </a:avLst>
          </a:prstGeom>
          <a:solidFill>
            <a:srgbClr val="FFCC00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05D8F8-61B7-4C69-AEB3-50AB5CE8E5C6}" type="datetime1">
              <a:rPr lang="en-US" altLang="en-US" smtClean="0"/>
              <a:t>11/15/2015</a:t>
            </a:fld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B70824C-93BD-4C8F-B7C1-78348832C6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152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1588" y="6794500"/>
            <a:ext cx="9142412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9BAC43-6C8D-4E6A-9729-091529C825B2}" type="datetime1">
              <a:rPr lang="en-US" altLang="en-US" smtClean="0"/>
              <a:t>11/15/2015</a:t>
            </a:fld>
            <a:endParaRPr lang="en-US" alt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ECDBA3F-ED96-48D6-B22D-405DA50762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848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30384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3030538" y="0"/>
            <a:ext cx="476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349250" y="6459538"/>
            <a:ext cx="1963738" cy="365125"/>
          </a:xfrm>
        </p:spPr>
        <p:txBody>
          <a:bodyPr/>
          <a:lstStyle>
            <a:lvl1pPr>
              <a:defRPr/>
            </a:lvl1pPr>
          </a:lstStyle>
          <a:p>
            <a:fld id="{1FE721C1-9416-477A-89D1-E4BEC0C5ACB5}" type="datetime1">
              <a:rPr lang="en-US" altLang="en-US" smtClean="0"/>
              <a:t>11/15/2015</a:t>
            </a:fld>
            <a:endParaRPr lang="en-US" alt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C1F07C-6DC9-49B3-9CCB-2A06BC899D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9425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953000"/>
            <a:ext cx="9142413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4914900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37B2089-3BE8-4EDD-8300-1F65C91D676B}" type="datetime1">
              <a:rPr lang="en-US" altLang="en-US" smtClean="0"/>
              <a:t>11/15/2015</a:t>
            </a:fld>
            <a:endParaRPr lang="en-US" alt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22B956-FAC1-40AC-A183-8BA001060A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0655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7E67D7-92B7-4EF4-9890-D01A3FDBEC58}" type="datetime1">
              <a:rPr lang="en-US" altLang="en-US" smtClean="0"/>
              <a:t>11/15/2015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3F1B1A-4A76-4BF0-B852-4E1752C917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7955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88" y="6799263"/>
            <a:ext cx="9142412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B13E274-A592-44C3-AF7F-1761E063F3AA}" type="datetime1">
              <a:rPr lang="en-US" altLang="en-US" smtClean="0"/>
              <a:t>11/15/2015</a:t>
            </a:fld>
            <a:endParaRPr lang="en-US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B2FAC93-EB24-4C25-BA0D-5DF9697036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9785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125"/>
            <a:ext cx="9144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325" y="287338"/>
            <a:ext cx="7543800" cy="725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22325" y="1255713"/>
            <a:ext cx="7543800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accent1"/>
                </a:solidFill>
              </a:defRPr>
            </a:lvl1pPr>
          </a:lstStyle>
          <a:p>
            <a:fld id="{906DD70F-B517-4BEA-862A-298034D3E73A}" type="datetime1">
              <a:rPr lang="en-US" altLang="en-US" smtClean="0"/>
              <a:t>11/15/2015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FFFF00"/>
                </a:solidFill>
              </a:defRPr>
            </a:lvl1pPr>
          </a:lstStyle>
          <a:p>
            <a:fld id="{2D58508E-71F5-4910-B570-5E813893853F}" type="slidenum">
              <a:rPr lang="en-US" altLang="en-US"/>
              <a:pPr/>
              <a:t>‹#›</a:t>
            </a:fld>
            <a:endParaRPr lang="en-US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2175" y="1133475"/>
            <a:ext cx="747395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6800850"/>
            <a:ext cx="9144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9" r:id="rId1"/>
    <p:sldLayoutId id="2147484240" r:id="rId2"/>
    <p:sldLayoutId id="2147484241" r:id="rId3"/>
    <p:sldLayoutId id="2147484242" r:id="rId4"/>
    <p:sldLayoutId id="2147484243" r:id="rId5"/>
    <p:sldLayoutId id="2147484244" r:id="rId6"/>
    <p:sldLayoutId id="2147484245" r:id="rId7"/>
    <p:sldLayoutId id="2147484246" r:id="rId8"/>
    <p:sldLayoutId id="2147484247" r:id="rId9"/>
    <p:sldLayoutId id="2147484248" r:id="rId10"/>
    <p:sldLayoutId id="2147484249" r:id="rId11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 kern="1200" spc="-50">
          <a:solidFill>
            <a:srgbClr val="404040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rgbClr val="404040"/>
          </a:solidFill>
          <a:latin typeface="Calibri Light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rgbClr val="404040"/>
          </a:solidFill>
          <a:latin typeface="Calibri Light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rgbClr val="404040"/>
          </a:solidFill>
          <a:latin typeface="Calibri Light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rgbClr val="404040"/>
          </a:solidFill>
          <a:latin typeface="Calibri Light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rgbClr val="404040"/>
          </a:solidFill>
          <a:latin typeface="Calibri Light" charset="0"/>
          <a:ea typeface="ＭＳ Ｐゴシック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rgbClr val="404040"/>
          </a:solidFill>
          <a:latin typeface="Calibri Light" charset="0"/>
          <a:ea typeface="ＭＳ Ｐゴシック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rgbClr val="404040"/>
          </a:solidFill>
          <a:latin typeface="Calibri Light" charset="0"/>
          <a:ea typeface="ＭＳ Ｐゴシック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rgbClr val="404040"/>
          </a:solidFill>
          <a:latin typeface="Calibri Light" charset="0"/>
          <a:ea typeface="ＭＳ Ｐゴシック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200"/>
        </a:spcBef>
        <a:spcAft>
          <a:spcPts val="200"/>
        </a:spcAft>
        <a:buSzPct val="100000"/>
        <a:buFont typeface="Arial" panose="020B0604020202020204" pitchFamily="34" charset="0"/>
        <a:buChar char="•"/>
        <a:defRPr sz="2000" kern="1200">
          <a:solidFill>
            <a:srgbClr val="404040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457200" indent="-22860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Font typeface="Arial" panose="020B0604020202020204" pitchFamily="34" charset="0"/>
        <a:buChar char="•"/>
        <a:defRPr kern="1200">
          <a:solidFill>
            <a:srgbClr val="404040"/>
          </a:solidFill>
          <a:latin typeface="+mn-lt"/>
          <a:ea typeface="MS PGothic" panose="020B0600070205080204" pitchFamily="34" charset="-128"/>
          <a:cs typeface="+mn-cs"/>
        </a:defRPr>
      </a:lvl2pPr>
      <a:lvl3pPr marL="685800" indent="-22860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rgbClr val="404040"/>
          </a:solidFill>
          <a:latin typeface="+mn-lt"/>
          <a:ea typeface="MS PGothic" panose="020B0600070205080204" pitchFamily="34" charset="-128"/>
          <a:cs typeface="+mn-cs"/>
        </a:defRPr>
      </a:lvl3pPr>
      <a:lvl4pPr marL="914400" indent="-22860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rgbClr val="404040"/>
          </a:solidFill>
          <a:latin typeface="+mn-lt"/>
          <a:ea typeface="MS PGothic" panose="020B0600070205080204" pitchFamily="34" charset="-128"/>
          <a:cs typeface="+mn-cs"/>
        </a:defRPr>
      </a:lvl4pPr>
      <a:lvl5pPr marL="1143000" indent="-22860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rgbClr val="404040"/>
          </a:solidFill>
          <a:latin typeface="+mn-lt"/>
          <a:ea typeface="MS PGothic" panose="020B0600070205080204" pitchFamily="34" charset="-128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mtClean="0"/>
              <a:t>FILES AND EXCEPTIONS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Chapter Seven</a:t>
            </a:r>
            <a:endParaRPr lang="en-US" dirty="0"/>
          </a:p>
        </p:txBody>
      </p:sp>
      <p:sp>
        <p:nvSpPr>
          <p:cNvPr id="14339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122747-0252-4F65-A483-7874950D6605}" type="datetime1">
              <a:rPr lang="en-US" altLang="en-US" smtClean="0"/>
              <a:t>11/15/2015</a:t>
            </a:fld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E735D5-5EEF-4FA2-BDAC-055D265B12D5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Chapter Goals</a:t>
            </a:r>
          </a:p>
        </p:txBody>
      </p:sp>
      <p:sp>
        <p:nvSpPr>
          <p:cNvPr id="16386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To read and write text files</a:t>
            </a:r>
          </a:p>
          <a:p>
            <a:pPr eaLnBrk="1" hangingPunct="1"/>
            <a:r>
              <a:rPr lang="en-US" altLang="en-US" smtClean="0"/>
              <a:t>To process collections of data</a:t>
            </a:r>
          </a:p>
          <a:p>
            <a:pPr eaLnBrk="1" hangingPunct="1"/>
            <a:r>
              <a:rPr lang="en-US" altLang="en-US" smtClean="0"/>
              <a:t>To process command line arguments</a:t>
            </a:r>
          </a:p>
          <a:p>
            <a:pPr eaLnBrk="1" hangingPunct="1"/>
            <a:r>
              <a:rPr lang="en-US" altLang="en-US" smtClean="0"/>
              <a:t>To raise and handle exceptions</a:t>
            </a:r>
          </a:p>
        </p:txBody>
      </p:sp>
      <p:sp>
        <p:nvSpPr>
          <p:cNvPr id="16387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9AA060B-BAC9-4803-97FB-8E1DC8AE4CE4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16389" name="TextBox 6"/>
          <p:cNvSpPr txBox="1">
            <a:spLocks noChangeArrowheads="1"/>
          </p:cNvSpPr>
          <p:nvPr/>
        </p:nvSpPr>
        <p:spPr bwMode="auto">
          <a:xfrm>
            <a:off x="838200" y="4343400"/>
            <a:ext cx="7543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 i="1" dirty="0">
                <a:cs typeface="Arial" panose="020B0604020202020204" pitchFamily="34" charset="0"/>
              </a:rPr>
              <a:t>In this chapter, you will learn how to write programs that manipulate </a:t>
            </a:r>
            <a:r>
              <a:rPr lang="en-US" altLang="en-US" sz="2000" i="1" dirty="0" smtClean="0">
                <a:cs typeface="Arial" panose="020B0604020202020204" pitchFamily="34" charset="0"/>
              </a:rPr>
              <a:t>files</a:t>
            </a:r>
            <a:endParaRPr lang="en-US" altLang="en-US" sz="2000" i="1" dirty="0"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Contents</a:t>
            </a: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800"/>
              </a:spcBef>
            </a:pPr>
            <a:r>
              <a:rPr lang="en-US" altLang="en-US" smtClean="0"/>
              <a:t>Reading and Writing Text Files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mtClean="0"/>
              <a:t>Text Input and Output</a:t>
            </a:r>
          </a:p>
        </p:txBody>
      </p:sp>
      <p:sp>
        <p:nvSpPr>
          <p:cNvPr id="17411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38E6CD6-2CF9-499F-A94B-6C6145740756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Reading and Writing Text Files</a:t>
            </a:r>
            <a:endParaRPr lang="en-US" sz="4000" dirty="0">
              <a:ea typeface="ＭＳ Ｐゴシック" charset="0"/>
              <a:cs typeface="+mj-cs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  <a:defRPr/>
            </a:pPr>
            <a:r>
              <a:rPr lang="en-US" dirty="0" smtClean="0">
                <a:ea typeface="ＭＳ Ｐゴシック" charset="0"/>
                <a:cs typeface="+mn-cs"/>
              </a:rPr>
              <a:t>Section 7.1</a:t>
            </a:r>
            <a:endParaRPr lang="en-US" dirty="0">
              <a:ea typeface="ＭＳ Ｐゴシック" charset="0"/>
              <a:cs typeface="+mn-cs"/>
            </a:endParaRPr>
          </a:p>
        </p:txBody>
      </p:sp>
      <p:sp>
        <p:nvSpPr>
          <p:cNvPr id="18435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3B8A029-E9CC-49BB-873C-A0BEF5655ABA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A32480-9A40-478D-A920-65566AABF4F6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Reading and Writing Text Files</a:t>
            </a:r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Text files are very commonly used to store information</a:t>
            </a:r>
          </a:p>
          <a:p>
            <a:pPr lvl="1" eaLnBrk="1" hangingPunct="1"/>
            <a:r>
              <a:rPr lang="en-US" altLang="en-US" sz="2000" dirty="0" smtClean="0"/>
              <a:t>They are the most </a:t>
            </a:r>
            <a:r>
              <a:rPr lang="en-US" altLang="ja-JP" sz="2000" dirty="0" smtClean="0"/>
              <a:t>‘portable’ types of data files</a:t>
            </a:r>
          </a:p>
          <a:p>
            <a:pPr eaLnBrk="1" hangingPunct="1"/>
            <a:r>
              <a:rPr lang="en-US" altLang="en-US" dirty="0" smtClean="0"/>
              <a:t>Examples of text files include files that are created with a simple text editor, such as Windows Notepad, and Python source code and HTML files</a:t>
            </a:r>
            <a:endParaRPr lang="en-US" altLang="ja-JP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 smtClean="0"/>
          </a:p>
        </p:txBody>
      </p:sp>
      <p:sp>
        <p:nvSpPr>
          <p:cNvPr id="19459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DCAD406-D6C4-43C5-9DDA-D4401AF074FC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19461" name="TextBox 1"/>
          <p:cNvSpPr txBox="1">
            <a:spLocks noChangeArrowheads="1"/>
          </p:cNvSpPr>
          <p:nvPr/>
        </p:nvSpPr>
        <p:spPr bwMode="auto">
          <a:xfrm>
            <a:off x="6221413" y="8032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Opening Files: Reading</a:t>
            </a: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2173287"/>
          </a:xfrm>
        </p:spPr>
        <p:txBody>
          <a:bodyPr/>
          <a:lstStyle/>
          <a:p>
            <a:pPr eaLnBrk="1" hangingPunct="1">
              <a:spcBef>
                <a:spcPts val="200"/>
              </a:spcBef>
            </a:pPr>
            <a:r>
              <a:rPr lang="en-US" altLang="en-US" dirty="0" smtClean="0"/>
              <a:t>To access a file, you must first </a:t>
            </a:r>
            <a:r>
              <a:rPr lang="en-US" altLang="en-US" i="1" dirty="0" smtClean="0"/>
              <a:t>open </a:t>
            </a:r>
            <a:r>
              <a:rPr lang="en-US" altLang="en-US" dirty="0" smtClean="0"/>
              <a:t>it</a:t>
            </a:r>
          </a:p>
          <a:p>
            <a:pPr eaLnBrk="1" hangingPunct="1"/>
            <a:r>
              <a:rPr lang="en-US" altLang="en-US" dirty="0" smtClean="0"/>
              <a:t>Suppose you want to read data from a file named </a:t>
            </a:r>
            <a:r>
              <a:rPr lang="en-US" altLang="en-US" dirty="0" smtClean="0">
                <a:cs typeface="Consolas" panose="020B0609020204030204" pitchFamily="49" charset="0"/>
              </a:rPr>
              <a:t>input.txt</a:t>
            </a:r>
            <a:r>
              <a:rPr lang="en-US" altLang="en-US" dirty="0" smtClean="0"/>
              <a:t>, located in the same directory as the program</a:t>
            </a:r>
          </a:p>
          <a:p>
            <a:pPr eaLnBrk="1" hangingPunct="1"/>
            <a:r>
              <a:rPr lang="en-US" altLang="en-US" dirty="0" smtClean="0"/>
              <a:t>To open a file for reading, you must provide the name of the file as the first argument to the open function and the string "r" as the second argument:</a:t>
            </a:r>
          </a:p>
          <a:p>
            <a:pPr eaLnBrk="1" hangingPunct="1"/>
            <a:endParaRPr lang="en-US" altLang="en-US" sz="2800" dirty="0" smtClean="0"/>
          </a:p>
        </p:txBody>
      </p:sp>
      <p:sp>
        <p:nvSpPr>
          <p:cNvPr id="2048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A793A33-DFB2-4CB0-BA2F-126F256BBA99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1219200" y="3657600"/>
            <a:ext cx="6248400" cy="457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infile = 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open(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"</a:t>
            </a:r>
            <a:r>
              <a:rPr lang="en-US" dirty="0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input.txt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", "r"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)</a:t>
            </a:r>
            <a:endParaRPr lang="en-US" b="1" kern="0" dirty="0">
              <a:solidFill>
                <a:srgbClr val="0033CC"/>
              </a:solidFill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Opening Files: Reading (2)</a:t>
            </a:r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Important things to keep in mind:</a:t>
            </a:r>
          </a:p>
          <a:p>
            <a:pPr lvl="1" eaLnBrk="1" hangingPunct="1"/>
            <a:r>
              <a:rPr lang="en-US" altLang="en-US" sz="2000" dirty="0" smtClean="0"/>
              <a:t>When opening a file for reading, the file must exist (and otherwise be accessible) or an exception occurs</a:t>
            </a:r>
          </a:p>
          <a:p>
            <a:pPr lvl="1" eaLnBrk="1" hangingPunct="1"/>
            <a:r>
              <a:rPr lang="en-US" altLang="en-US" sz="2000" dirty="0" smtClean="0"/>
              <a:t>The file object returned by the open function must be saved in a variable</a:t>
            </a:r>
          </a:p>
          <a:p>
            <a:pPr lvl="2" eaLnBrk="1" hangingPunct="1"/>
            <a:r>
              <a:rPr lang="en-US" altLang="en-US" sz="2000" dirty="0" smtClean="0"/>
              <a:t>All operations for accessing a file are made via the file object</a:t>
            </a:r>
          </a:p>
        </p:txBody>
      </p:sp>
      <p:sp>
        <p:nvSpPr>
          <p:cNvPr id="21507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1853FD2-19E2-442E-8F96-2D31A40AF92F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Opening Files: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1106487"/>
          </a:xfrm>
        </p:spPr>
        <p:txBody>
          <a:bodyPr rtlCol="0">
            <a:normAutofit/>
          </a:bodyPr>
          <a:lstStyle/>
          <a:p>
            <a:pPr eaLnBrk="1" fontAlgn="auto" hangingPunct="1"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To open a file for writing, you provide the name of the file as the first argument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to the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open function and the string "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Consolas" pitchFamily="49" charset="0"/>
              </a:rPr>
              <a:t>w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" as the second argument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  <a:cs typeface="+mn-cs"/>
            </a:endParaRPr>
          </a:p>
        </p:txBody>
      </p:sp>
      <p:sp>
        <p:nvSpPr>
          <p:cNvPr id="2253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0718774-3FBB-450B-BB9B-30EB6A3F645C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85800" y="2209800"/>
            <a:ext cx="5867400" cy="457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outfile = open("</a:t>
            </a:r>
            <a:r>
              <a:rPr lang="en-US" dirty="0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output.txt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", "w")</a:t>
            </a:r>
            <a:endParaRPr lang="en-US" b="1" kern="0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22325" y="2858293"/>
            <a:ext cx="7543800" cy="2011363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If the output file already exists, it is emptied before the new data is written into it</a:t>
            </a:r>
          </a:p>
          <a:p>
            <a:pPr eaLnBrk="1" fontAlgn="auto" hangingPunct="1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If the file does not exist, an empty file is created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Closing Files: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750887"/>
          </a:xfrm>
        </p:spPr>
        <p:txBody>
          <a:bodyPr rtlCol="0">
            <a:normAutofit/>
          </a:bodyPr>
          <a:lstStyle/>
          <a:p>
            <a:pPr eaLnBrk="1" fontAlgn="auto" hangingPunct="1"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When you are done processing a file,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be sure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to 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close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the file using the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Consolas" pitchFamily="49" charset="0"/>
              </a:rPr>
              <a:t>close()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method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:</a:t>
            </a:r>
          </a:p>
        </p:txBody>
      </p:sp>
      <p:sp>
        <p:nvSpPr>
          <p:cNvPr id="23557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B44525F-BADC-4CD2-9DC1-E77D92722C1C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914400" y="2006600"/>
            <a:ext cx="5867400" cy="736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 err="1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infile.close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()</a:t>
            </a:r>
          </a:p>
          <a:p>
            <a:pPr eaLnBrk="1" hangingPunct="1">
              <a:defRPr/>
            </a:pPr>
            <a:r>
              <a:rPr lang="en-US" dirty="0" err="1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outfile.close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()</a:t>
            </a:r>
            <a:endParaRPr lang="en-US" b="1" kern="0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22325" y="3209131"/>
            <a:ext cx="7543800" cy="981869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If your program exits without closing a file that was opened for writing, some of the output may not be written to the disk file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20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Syntax: Opening And Closing Files</a:t>
            </a:r>
          </a:p>
        </p:txBody>
      </p:sp>
      <p:sp>
        <p:nvSpPr>
          <p:cNvPr id="24580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3ECF759-2960-4E53-AFAD-C316F0015209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pic>
        <p:nvPicPr>
          <p:cNvPr id="24579" name="Picture 3" descr="U:\PC\publisher\2013 wiley slides\Ch 5-9, FM\Chapter  7\Media\Illustrations\py_syn_07_01_300dp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8485188" cy="32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Reading From a File</a:t>
            </a:r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955675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To read a line of text from a file, call the </a:t>
            </a:r>
            <a:r>
              <a:rPr lang="en-US" altLang="en-US" dirty="0" err="1" smtClean="0">
                <a:solidFill>
                  <a:srgbClr val="0033CC"/>
                </a:solidFill>
                <a:cs typeface="Consolas" panose="020B0609020204030204" pitchFamily="49" charset="0"/>
              </a:rPr>
              <a:t>readline</a:t>
            </a:r>
            <a:r>
              <a:rPr lang="en-US" altLang="en-US" dirty="0" smtClean="0">
                <a:solidFill>
                  <a:srgbClr val="0033CC"/>
                </a:solidFill>
                <a:cs typeface="Consolas" panose="020B0609020204030204" pitchFamily="49" charset="0"/>
              </a:rPr>
              <a:t>() </a:t>
            </a:r>
            <a:r>
              <a:rPr lang="en-US" altLang="en-US" dirty="0" smtClean="0"/>
              <a:t>method with the file object that was returned when you opened the file</a:t>
            </a:r>
            <a:r>
              <a:rPr lang="en-US" altLang="en-US" dirty="0"/>
              <a:t>:</a:t>
            </a:r>
            <a:endParaRPr lang="en-US" altLang="en-US" dirty="0" smtClean="0"/>
          </a:p>
        </p:txBody>
      </p:sp>
      <p:sp>
        <p:nvSpPr>
          <p:cNvPr id="25605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081D8EC-D0C3-4079-820E-EB5B4E9F746C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990600" y="1905000"/>
            <a:ext cx="5867400" cy="457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line = </a:t>
            </a:r>
            <a:r>
              <a:rPr lang="en-US" dirty="0" err="1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infile.</a:t>
            </a:r>
            <a:r>
              <a:rPr lang="en-US" dirty="0" err="1" smtClean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readline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()</a:t>
            </a:r>
            <a:endParaRPr lang="en-US" b="1" kern="0" dirty="0">
              <a:solidFill>
                <a:srgbClr val="0033CC"/>
              </a:solidFill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22325" y="2454277"/>
            <a:ext cx="7543800" cy="2117724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dirty="0" smtClean="0"/>
              <a:t>When a file is opened, an input marker is positioned at the beginning of the file </a:t>
            </a:r>
          </a:p>
          <a:p>
            <a:pPr eaLnBrk="1" hangingPunct="1"/>
            <a:r>
              <a:rPr lang="en-US" altLang="en-US" dirty="0" smtClean="0"/>
              <a:t>The </a:t>
            </a:r>
            <a:r>
              <a:rPr lang="en-US" altLang="en-US" dirty="0" err="1" smtClean="0">
                <a:solidFill>
                  <a:srgbClr val="0033CC"/>
                </a:solidFill>
              </a:rPr>
              <a:t>readline</a:t>
            </a:r>
            <a:r>
              <a:rPr lang="en-US" altLang="en-US" dirty="0" smtClean="0">
                <a:solidFill>
                  <a:srgbClr val="0033CC"/>
                </a:solidFill>
              </a:rPr>
              <a:t>()</a:t>
            </a:r>
            <a:r>
              <a:rPr lang="en-US" altLang="en-US" dirty="0" smtClean="0"/>
              <a:t> method reads the text, starting at the current position and continuing until the end of the line is encountered </a:t>
            </a:r>
          </a:p>
          <a:p>
            <a:pPr lvl="1" eaLnBrk="1" hangingPunct="1"/>
            <a:r>
              <a:rPr lang="en-US" altLang="en-US" dirty="0" smtClean="0"/>
              <a:t>The input marker is then moved to the next line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Reading From a File (2)</a:t>
            </a:r>
          </a:p>
        </p:txBody>
      </p:sp>
      <p:sp>
        <p:nvSpPr>
          <p:cNvPr id="266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For example, suppose </a:t>
            </a:r>
            <a:r>
              <a:rPr lang="en-US" altLang="en-US" dirty="0" smtClean="0">
                <a:cs typeface="Consolas" panose="020B0609020204030204" pitchFamily="49" charset="0"/>
              </a:rPr>
              <a:t>input.txt</a:t>
            </a:r>
            <a:r>
              <a:rPr lang="en-US" altLang="en-US" dirty="0" smtClean="0"/>
              <a:t> contains the lines</a:t>
            </a: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dirty="0" smtClean="0"/>
              <a:t>  flying</a:t>
            </a: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dirty="0" smtClean="0"/>
              <a:t>  circus</a:t>
            </a:r>
          </a:p>
          <a:p>
            <a:pPr eaLnBrk="1" hangingPunct="1"/>
            <a:r>
              <a:rPr lang="en-US" altLang="en-US" dirty="0" smtClean="0"/>
              <a:t>The first call to </a:t>
            </a:r>
            <a:r>
              <a:rPr lang="en-US" altLang="en-US" dirty="0" err="1" smtClean="0"/>
              <a:t>readline</a:t>
            </a:r>
            <a:r>
              <a:rPr lang="en-US" altLang="en-US" dirty="0" smtClean="0"/>
              <a:t>() returns the </a:t>
            </a:r>
            <a:r>
              <a:rPr lang="en-US" altLang="en-US" dirty="0" smtClean="0">
                <a:solidFill>
                  <a:srgbClr val="FF0000"/>
                </a:solidFill>
              </a:rPr>
              <a:t>string</a:t>
            </a:r>
            <a:r>
              <a:rPr lang="en-US" altLang="en-US" dirty="0" smtClean="0"/>
              <a:t> "flying\n"</a:t>
            </a:r>
          </a:p>
          <a:p>
            <a:pPr lvl="1" eaLnBrk="1" hangingPunct="1"/>
            <a:r>
              <a:rPr lang="en-US" altLang="en-US" dirty="0" smtClean="0"/>
              <a:t>Recall that \n denotes the newline character that indicates the end of the line </a:t>
            </a:r>
          </a:p>
          <a:p>
            <a:pPr eaLnBrk="1" hangingPunct="1"/>
            <a:r>
              <a:rPr lang="en-US" altLang="en-US" dirty="0" smtClean="0"/>
              <a:t>If you call </a:t>
            </a:r>
            <a:r>
              <a:rPr lang="en-US" altLang="en-US" dirty="0" err="1" smtClean="0"/>
              <a:t>readline</a:t>
            </a:r>
            <a:r>
              <a:rPr lang="en-US" altLang="en-US" dirty="0" smtClean="0"/>
              <a:t>() a second time, it returns the </a:t>
            </a:r>
            <a:r>
              <a:rPr lang="en-US" altLang="en-US" dirty="0" smtClean="0">
                <a:solidFill>
                  <a:srgbClr val="FF0000"/>
                </a:solidFill>
              </a:rPr>
              <a:t>string</a:t>
            </a:r>
            <a:r>
              <a:rPr lang="en-US" altLang="en-US" dirty="0" smtClean="0"/>
              <a:t> "circus\n" </a:t>
            </a:r>
          </a:p>
        </p:txBody>
      </p:sp>
      <p:sp>
        <p:nvSpPr>
          <p:cNvPr id="26628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02B81EE-8400-453A-99A7-76FA92041F0D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Reading From a File (3)</a:t>
            </a:r>
          </a:p>
        </p:txBody>
      </p:sp>
      <p:sp>
        <p:nvSpPr>
          <p:cNvPr id="276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Calling </a:t>
            </a:r>
            <a:r>
              <a:rPr lang="en-US" altLang="en-US" dirty="0" err="1" smtClean="0">
                <a:cs typeface="Consolas" panose="020B0609020204030204" pitchFamily="49" charset="0"/>
              </a:rPr>
              <a:t>readline</a:t>
            </a:r>
            <a:r>
              <a:rPr lang="en-US" altLang="en-US" dirty="0" smtClean="0">
                <a:cs typeface="Consolas" panose="020B0609020204030204" pitchFamily="49" charset="0"/>
              </a:rPr>
              <a:t>() </a:t>
            </a:r>
            <a:r>
              <a:rPr lang="en-US" altLang="en-US" dirty="0" smtClean="0"/>
              <a:t>again yields the empty string "" because you have reached the end of the file</a:t>
            </a:r>
          </a:p>
          <a:p>
            <a:pPr eaLnBrk="1" hangingPunct="1"/>
            <a:r>
              <a:rPr lang="en-US" altLang="en-US" dirty="0" smtClean="0"/>
              <a:t>If the file contains a blank line, then </a:t>
            </a:r>
            <a:r>
              <a:rPr lang="en-US" altLang="en-US" dirty="0" err="1" smtClean="0"/>
              <a:t>readline</a:t>
            </a:r>
            <a:r>
              <a:rPr lang="en-US" altLang="en-US" dirty="0" smtClean="0"/>
              <a:t>() returns a string containing only the newline character "\n"</a:t>
            </a:r>
          </a:p>
        </p:txBody>
      </p:sp>
      <p:sp>
        <p:nvSpPr>
          <p:cNvPr id="27652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82166A3-4442-4571-AAE8-248D97185ED3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4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Reading Multiple Lines From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1563687"/>
          </a:xfrm>
        </p:spPr>
        <p:txBody>
          <a:bodyPr rtlCol="0">
            <a:normAutofit/>
          </a:bodyPr>
          <a:lstStyle/>
          <a:p>
            <a:pPr eaLnBrk="1" fontAlgn="auto" hangingPunct="1"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You repeatedly read a line of text and process it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until the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sentinel value is reached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  <a:cs typeface="+mn-cs"/>
            </a:endParaRPr>
          </a:p>
          <a:p>
            <a:pPr eaLnBrk="1" fontAlgn="auto" hangingPunct="1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The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sentinel value is an empty string, which is returned by the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Consolas" pitchFamily="49" charset="0"/>
              </a:rPr>
              <a:t>readline()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method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after the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end of file has been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reached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  <a:cs typeface="+mn-cs"/>
            </a:endParaRPr>
          </a:p>
        </p:txBody>
      </p:sp>
      <p:sp>
        <p:nvSpPr>
          <p:cNvPr id="28677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A0FFA34-3266-40C1-9076-886CAF556D81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38200" y="2895600"/>
            <a:ext cx="7668491" cy="1398588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line = </a:t>
            </a:r>
            <a:r>
              <a:rPr lang="en-US" dirty="0" err="1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infile.readline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()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while line != "" :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# Process the </a:t>
            </a:r>
            <a:r>
              <a:rPr lang="en-US" dirty="0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line.</a:t>
            </a:r>
            <a:endParaRPr lang="en-US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line = </a:t>
            </a:r>
            <a:r>
              <a:rPr lang="en-US" dirty="0" err="1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infile.readline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rgbClr val="0033CC"/>
                </a:solidFill>
                <a:ea typeface="ＭＳ Ｐゴシック" panose="020B0600070205080204" pitchFamily="34" charset="-128"/>
                <a:cs typeface="+mj-cs"/>
              </a:rPr>
              <a:t>Converting</a:t>
            </a: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 File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1944687"/>
          </a:xfrm>
        </p:spPr>
        <p:txBody>
          <a:bodyPr rtlCol="0">
            <a:normAutofit/>
          </a:bodyPr>
          <a:lstStyle/>
          <a:p>
            <a:pPr eaLnBrk="1" fontAlgn="auto" hangingPunct="1"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As with the input function, the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readline()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method can only return </a:t>
            </a:r>
            <a:r>
              <a:rPr lang="en-US" dirty="0" smtClean="0">
                <a:solidFill>
                  <a:srgbClr val="FF0000"/>
                </a:solidFill>
                <a:ea typeface="+mn-ea"/>
                <a:cs typeface="+mn-cs"/>
              </a:rPr>
              <a:t>strings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 </a:t>
            </a:r>
          </a:p>
          <a:p>
            <a:pPr eaLnBrk="1" fontAlgn="auto" hangingPunct="1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If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the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file contains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numerical data, the strings must be converted to the numerical value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using the </a:t>
            </a:r>
            <a:r>
              <a:rPr lang="en-US" dirty="0" smtClean="0">
                <a:solidFill>
                  <a:srgbClr val="0033CC"/>
                </a:solidFill>
                <a:ea typeface="+mn-ea"/>
                <a:cs typeface="+mn-cs"/>
              </a:rPr>
              <a:t>int()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or </a:t>
            </a:r>
            <a:r>
              <a:rPr lang="en-US" dirty="0" smtClean="0">
                <a:solidFill>
                  <a:srgbClr val="0033CC"/>
                </a:solidFill>
                <a:ea typeface="+mn-ea"/>
                <a:cs typeface="+mn-cs"/>
              </a:rPr>
              <a:t>float()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function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:</a:t>
            </a:r>
          </a:p>
        </p:txBody>
      </p:sp>
      <p:sp>
        <p:nvSpPr>
          <p:cNvPr id="29701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03BABB2-EC73-4FE9-8B76-386E89E2E6F2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62000" y="2667000"/>
            <a:ext cx="7696200" cy="381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value = 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float(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line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22325" y="3377224"/>
            <a:ext cx="7543800" cy="894739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The newline character at the end of the line is ignored when the string is converted to a numerical value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rgbClr val="0033CC"/>
                </a:solidFill>
                <a:ea typeface="ＭＳ Ｐゴシック" panose="020B0600070205080204" pitchFamily="34" charset="-128"/>
                <a:cs typeface="+mj-cs"/>
              </a:rPr>
              <a:t>Writing</a:t>
            </a: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 To A File</a:t>
            </a:r>
          </a:p>
        </p:txBody>
      </p:sp>
      <p:sp>
        <p:nvSpPr>
          <p:cNvPr id="30722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384968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For example, we can write the string "</a:t>
            </a:r>
            <a:r>
              <a:rPr lang="en-US" altLang="en-US" dirty="0" smtClean="0">
                <a:cs typeface="Consolas" panose="020B0609020204030204" pitchFamily="49" charset="0"/>
              </a:rPr>
              <a:t>Hello, World!</a:t>
            </a:r>
            <a:r>
              <a:rPr lang="en-US" altLang="en-US" dirty="0" smtClean="0"/>
              <a:t>" to our output file using the statement:</a:t>
            </a:r>
          </a:p>
        </p:txBody>
      </p:sp>
      <p:sp>
        <p:nvSpPr>
          <p:cNvPr id="30726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3812FB-A9A8-4A51-8EF1-40E7E7E9C678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46125" y="2006745"/>
            <a:ext cx="7696200" cy="381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 err="1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outfile.</a:t>
            </a:r>
            <a:r>
              <a:rPr lang="en-US" dirty="0" err="1" smtClean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write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"Hello, World!\n"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)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22325" y="4084204"/>
            <a:ext cx="7918450" cy="762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outfile.write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("Number of entries: %d\nTotal: </a:t>
            </a:r>
            <a:r>
              <a:rPr lang="en-US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%</a:t>
            </a:r>
            <a:r>
              <a:rPr lang="en-US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8.2f\n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" 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% (count, total))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822325" y="2718343"/>
            <a:ext cx="7543800" cy="1450219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en-US" sz="2000" dirty="0" smtClean="0"/>
              <a:t>Unlike print() when writing text to an output file, </a:t>
            </a:r>
            <a:r>
              <a:rPr lang="en-US" altLang="en-US" sz="2000" i="1" dirty="0" smtClean="0"/>
              <a:t>you must explicitly write the newline character to start a new line</a:t>
            </a:r>
            <a:endParaRPr lang="en-US" altLang="en-US" sz="2000" dirty="0" smtClean="0"/>
          </a:p>
          <a:p>
            <a:pPr eaLnBrk="1" hangingPunct="1"/>
            <a:r>
              <a:rPr lang="en-US" altLang="en-US" dirty="0" smtClean="0"/>
              <a:t>You can also write formatted strings to a file with the write method: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Example: </a:t>
            </a:r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Consolas" panose="020B0609020204030204" pitchFamily="49" charset="0"/>
              </a:rPr>
              <a:t>File Reading/Writing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n-cs"/>
              </a:rPr>
              <a:t>Suppose you are given a text file that contains a sequence of floating-point values, stored one value per line </a:t>
            </a:r>
          </a:p>
          <a:p>
            <a:pPr eaLnBrk="1" fontAlgn="auto" hangingPunct="1"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n-cs"/>
              </a:rPr>
              <a:t>You need to read the values and write them to a new output file, aligned in a column and followed by their total and average value </a:t>
            </a:r>
          </a:p>
          <a:p>
            <a:pPr eaLnBrk="1" fontAlgn="auto" hangingPunct="1"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n-cs"/>
              </a:rPr>
              <a:t>If the input file has the contents</a:t>
            </a:r>
          </a:p>
          <a:p>
            <a:pPr lvl="1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altLang="en-US" sz="200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Consolas" panose="020B0609020204030204" pitchFamily="49" charset="0"/>
              </a:rPr>
              <a:t>32.0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ea typeface="ＭＳ Ｐゴシック" panose="020B0600070205080204" pitchFamily="34" charset="-128"/>
              <a:cs typeface="Consolas" panose="020B0609020204030204" pitchFamily="49" charset="0"/>
            </a:endParaRPr>
          </a:p>
          <a:p>
            <a:pPr lvl="1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altLang="en-US" sz="200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Consolas" panose="020B0609020204030204" pitchFamily="49" charset="0"/>
              </a:rPr>
              <a:t>54.0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ea typeface="ＭＳ Ｐゴシック" panose="020B0600070205080204" pitchFamily="34" charset="-128"/>
              <a:cs typeface="Consolas" panose="020B0609020204030204" pitchFamily="49" charset="0"/>
            </a:endParaRPr>
          </a:p>
          <a:p>
            <a:pPr lvl="1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altLang="en-US" sz="200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Consolas" panose="020B0609020204030204" pitchFamily="49" charset="0"/>
              </a:rPr>
              <a:t>67.5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ea typeface="ＭＳ Ｐゴシック" panose="020B0600070205080204" pitchFamily="34" charset="-128"/>
              <a:cs typeface="Consolas" panose="020B0609020204030204" pitchFamily="49" charset="0"/>
            </a:endParaRPr>
          </a:p>
          <a:p>
            <a:pPr lvl="1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altLang="en-US" sz="200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Consolas" panose="020B0609020204030204" pitchFamily="49" charset="0"/>
              </a:rPr>
              <a:t>80.25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ea typeface="ＭＳ Ｐゴシック" panose="020B0600070205080204" pitchFamily="34" charset="-128"/>
              <a:cs typeface="Consolas" panose="020B0609020204030204" pitchFamily="49" charset="0"/>
            </a:endParaRPr>
          </a:p>
          <a:p>
            <a:pPr lvl="1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altLang="en-US" sz="200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Consolas" panose="020B0609020204030204" pitchFamily="49" charset="0"/>
              </a:rPr>
              <a:t>115.0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ea typeface="ＭＳ Ｐゴシック" panose="020B0600070205080204" pitchFamily="34" charset="-128"/>
              <a:cs typeface="Consolas" panose="020B0609020204030204" pitchFamily="49" charset="0"/>
            </a:endParaRPr>
          </a:p>
        </p:txBody>
      </p:sp>
      <p:sp>
        <p:nvSpPr>
          <p:cNvPr id="31748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3E9313-E547-43A7-9D6F-05A4B3EA76A0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Example: </a:t>
            </a:r>
            <a:r>
              <a:rPr lang="en-US" alt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Consolas" panose="020B0609020204030204" pitchFamily="49" charset="0"/>
              </a:rPr>
              <a:t>File Reading/Writing (2)</a:t>
            </a:r>
            <a:endParaRPr lang="en-US" altLang="en-US" sz="3600" smtClean="0">
              <a:solidFill>
                <a:schemeClr val="tx1">
                  <a:lumMod val="75000"/>
                  <a:lumOff val="25000"/>
                </a:schemeClr>
              </a:solidFill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3277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The output file will contain</a:t>
            </a: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smtClean="0">
                <a:cs typeface="Consolas" panose="020B0609020204030204" pitchFamily="49" charset="0"/>
              </a:rPr>
              <a:t>32.00</a:t>
            </a:r>
            <a:endParaRPr lang="en-US" altLang="en-US" sz="2000" dirty="0" smtClean="0">
              <a:cs typeface="Consolas" panose="020B0609020204030204" pitchFamily="49" charset="0"/>
            </a:endParaRP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smtClean="0">
                <a:cs typeface="Consolas" panose="020B0609020204030204" pitchFamily="49" charset="0"/>
              </a:rPr>
              <a:t>54.00</a:t>
            </a:r>
            <a:endParaRPr lang="en-US" altLang="en-US" sz="2000" dirty="0" smtClean="0">
              <a:cs typeface="Consolas" panose="020B0609020204030204" pitchFamily="49" charset="0"/>
            </a:endParaRP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smtClean="0">
                <a:cs typeface="Consolas" panose="020B0609020204030204" pitchFamily="49" charset="0"/>
              </a:rPr>
              <a:t>67.50</a:t>
            </a:r>
            <a:endParaRPr lang="en-US" altLang="en-US" sz="2000" dirty="0" smtClean="0">
              <a:cs typeface="Consolas" panose="020B0609020204030204" pitchFamily="49" charset="0"/>
            </a:endParaRP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smtClean="0">
                <a:cs typeface="Consolas" panose="020B0609020204030204" pitchFamily="49" charset="0"/>
              </a:rPr>
              <a:t>80.25</a:t>
            </a:r>
            <a:endParaRPr lang="en-US" altLang="en-US" sz="2000" dirty="0" smtClean="0">
              <a:cs typeface="Consolas" panose="020B0609020204030204" pitchFamily="49" charset="0"/>
            </a:endParaRP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smtClean="0">
                <a:cs typeface="Consolas" panose="020B0609020204030204" pitchFamily="49" charset="0"/>
              </a:rPr>
              <a:t>115.00</a:t>
            </a:r>
            <a:endParaRPr lang="en-US" altLang="en-US" sz="2000" dirty="0" smtClean="0">
              <a:cs typeface="Consolas" panose="020B0609020204030204" pitchFamily="49" charset="0"/>
            </a:endParaRP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dirty="0" smtClean="0">
                <a:cs typeface="Consolas" panose="020B0609020204030204" pitchFamily="49" charset="0"/>
              </a:rPr>
              <a:t>--------</a:t>
            </a: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dirty="0" smtClean="0">
                <a:cs typeface="Consolas" panose="020B0609020204030204" pitchFamily="49" charset="0"/>
              </a:rPr>
              <a:t>Total</a:t>
            </a:r>
            <a:r>
              <a:rPr lang="en-US" altLang="en-US" sz="2000" smtClean="0">
                <a:cs typeface="Consolas" panose="020B0609020204030204" pitchFamily="49" charset="0"/>
              </a:rPr>
              <a:t>: 348.75</a:t>
            </a:r>
            <a:endParaRPr lang="en-US" altLang="en-US" sz="2000" dirty="0" smtClean="0">
              <a:cs typeface="Consolas" panose="020B0609020204030204" pitchFamily="49" charset="0"/>
            </a:endParaRP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dirty="0" smtClean="0">
                <a:cs typeface="Consolas" panose="020B0609020204030204" pitchFamily="49" charset="0"/>
              </a:rPr>
              <a:t>Average</a:t>
            </a:r>
            <a:r>
              <a:rPr lang="en-US" altLang="en-US" sz="2000" smtClean="0">
                <a:cs typeface="Consolas" panose="020B0609020204030204" pitchFamily="49" charset="0"/>
              </a:rPr>
              <a:t>: 69.75</a:t>
            </a:r>
            <a:endParaRPr lang="en-US" altLang="en-US" sz="2000" dirty="0" smtClean="0">
              <a:cs typeface="Consolas" panose="020B0609020204030204" pitchFamily="49" charset="0"/>
            </a:endParaRPr>
          </a:p>
          <a:p>
            <a:pPr eaLnBrk="1" hangingPunct="1"/>
            <a:endParaRPr lang="en-US" altLang="en-US" dirty="0" smtClean="0"/>
          </a:p>
        </p:txBody>
      </p:sp>
      <p:sp>
        <p:nvSpPr>
          <p:cNvPr id="32772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3BF9361-9ABB-490F-B9F1-CF672101C687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a typeface="ＭＳ Ｐゴシック" charset="0"/>
              </a:rPr>
              <a:t>Example One</a:t>
            </a:r>
            <a:endParaRPr lang="en-US" dirty="0">
              <a:ea typeface="ＭＳ Ｐゴシック" charset="0"/>
            </a:endParaRPr>
          </a:p>
        </p:txBody>
      </p:sp>
      <p:sp>
        <p:nvSpPr>
          <p:cNvPr id="337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Open the </a:t>
            </a:r>
            <a:r>
              <a:rPr lang="en-US" altLang="en-US" smtClean="0"/>
              <a:t>file total.py</a:t>
            </a:r>
            <a:endParaRPr lang="en-US" altLang="en-US" dirty="0" smtClean="0"/>
          </a:p>
        </p:txBody>
      </p:sp>
      <p:sp>
        <p:nvSpPr>
          <p:cNvPr id="33795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4EA227E-6EBF-4C5C-8362-86EA36694FFE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Common Error</a:t>
            </a:r>
          </a:p>
        </p:txBody>
      </p:sp>
      <p:sp>
        <p:nvSpPr>
          <p:cNvPr id="34818" name="Content Placeholder 9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1182687"/>
          </a:xfrm>
        </p:spPr>
        <p:txBody>
          <a:bodyPr/>
          <a:lstStyle/>
          <a:p>
            <a:pPr eaLnBrk="1" hangingPunct="1">
              <a:lnSpc>
                <a:spcPct val="70000"/>
              </a:lnSpc>
              <a:spcBef>
                <a:spcPts val="1875"/>
              </a:spcBef>
            </a:pPr>
            <a:r>
              <a:rPr lang="en-US" altLang="en-US" dirty="0" smtClean="0"/>
              <a:t>Backslashes in File Names</a:t>
            </a:r>
            <a:endParaRPr lang="en-US" altLang="en-US" dirty="0" smtClean="0">
              <a:cs typeface="Consolas" panose="020B0609020204030204" pitchFamily="49" charset="0"/>
            </a:endParaRPr>
          </a:p>
          <a:p>
            <a:pPr lvl="1" eaLnBrk="1" hangingPunct="1">
              <a:lnSpc>
                <a:spcPct val="70000"/>
              </a:lnSpc>
              <a:spcBef>
                <a:spcPts val="1875"/>
              </a:spcBef>
            </a:pPr>
            <a:r>
              <a:rPr lang="en-US" altLang="en-US" sz="2000" dirty="0" smtClean="0"/>
              <a:t>When using a String literal for a  file name with path information, you need to supply each backslash twice:</a:t>
            </a:r>
          </a:p>
        </p:txBody>
      </p:sp>
      <p:sp>
        <p:nvSpPr>
          <p:cNvPr id="34819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13A2A3-1F0B-4D6F-8F0C-F3ABA96C770C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685800" y="2438400"/>
            <a:ext cx="7924800" cy="381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infile = open("c:</a:t>
            </a:r>
            <a:r>
              <a:rPr lang="en-US" dirty="0">
                <a:solidFill>
                  <a:srgbClr val="00B05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\\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homework</a:t>
            </a:r>
            <a:r>
              <a:rPr lang="en-US">
                <a:solidFill>
                  <a:srgbClr val="00B05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\\</a:t>
            </a:r>
            <a:r>
              <a:rPr lang="en-US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input.txt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", "r")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7" name="Content Placeholder 9"/>
          <p:cNvSpPr txBox="1">
            <a:spLocks/>
          </p:cNvSpPr>
          <p:nvPr/>
        </p:nvSpPr>
        <p:spPr bwMode="auto">
          <a:xfrm>
            <a:off x="822325" y="3257549"/>
            <a:ext cx="7543800" cy="148907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>
              <a:lnSpc>
                <a:spcPct val="70000"/>
              </a:lnSpc>
              <a:spcBef>
                <a:spcPts val="1875"/>
              </a:spcBef>
            </a:pPr>
            <a:r>
              <a:rPr lang="en-US" altLang="en-US" sz="2000" dirty="0" smtClean="0"/>
              <a:t>A single backslash inside a quoted string is the </a:t>
            </a:r>
            <a:r>
              <a:rPr lang="en-US" altLang="en-US" sz="2000" i="1" dirty="0" smtClean="0">
                <a:solidFill>
                  <a:srgbClr val="FF0000"/>
                </a:solidFill>
              </a:rPr>
              <a:t>escape character</a:t>
            </a:r>
            <a:r>
              <a:rPr lang="en-US" altLang="en-US" sz="2000" dirty="0" smtClean="0"/>
              <a:t>, which means the next character is interpreted differently (for example, </a:t>
            </a:r>
            <a:r>
              <a:rPr lang="ja-JP" altLang="en-US" sz="2000" dirty="0" smtClean="0"/>
              <a:t>‘</a:t>
            </a:r>
            <a:r>
              <a:rPr lang="en-US" altLang="ja-JP" sz="2000" dirty="0" smtClean="0"/>
              <a:t>\n</a:t>
            </a:r>
            <a:r>
              <a:rPr lang="ja-JP" altLang="en-US" sz="2000" dirty="0" smtClean="0"/>
              <a:t>’</a:t>
            </a:r>
            <a:r>
              <a:rPr lang="en-US" altLang="ja-JP" sz="2000" dirty="0" smtClean="0"/>
              <a:t> for a newline character)</a:t>
            </a:r>
          </a:p>
          <a:p>
            <a:pPr lvl="1" eaLnBrk="1" hangingPunct="1">
              <a:lnSpc>
                <a:spcPct val="70000"/>
              </a:lnSpc>
              <a:spcBef>
                <a:spcPts val="1875"/>
              </a:spcBef>
            </a:pPr>
            <a:r>
              <a:rPr lang="en-US" altLang="en-US" sz="2000" dirty="0" smtClean="0"/>
              <a:t>When a user supplies a filename into a program, the user should not type the backslash twice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sz="40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Text </a:t>
            </a:r>
            <a:r>
              <a:rPr lang="en-US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Input and Output</a:t>
            </a:r>
            <a:endParaRPr lang="en-US" sz="4000" dirty="0">
              <a:ea typeface="ＭＳ Ｐゴシック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smtClean="0">
                <a:ea typeface="ＭＳ Ｐゴシック" charset="0"/>
              </a:rPr>
              <a:t>Section 7.2</a:t>
            </a:r>
            <a:endParaRPr lang="en-US" dirty="0">
              <a:ea typeface="ＭＳ Ｐゴシック" charset="0"/>
            </a:endParaRPr>
          </a:p>
        </p:txBody>
      </p:sp>
      <p:sp>
        <p:nvSpPr>
          <p:cNvPr id="35843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3607493-1B22-41DC-85FD-D307E12DC119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A32480-9A40-478D-A920-65566AABF4F6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Text Input and Output</a:t>
            </a:r>
          </a:p>
        </p:txBody>
      </p:sp>
      <p:sp>
        <p:nvSpPr>
          <p:cNvPr id="36866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163988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In the following sections, you will learn how to process text with complex contents, and you will learn how to cope with challenges that often occur with real data</a:t>
            </a:r>
          </a:p>
          <a:p>
            <a:pPr eaLnBrk="1" hangingPunct="1"/>
            <a:r>
              <a:rPr lang="en-US" altLang="en-US" dirty="0" smtClean="0"/>
              <a:t>Reading Words Example:</a:t>
            </a:r>
          </a:p>
        </p:txBody>
      </p:sp>
      <p:sp>
        <p:nvSpPr>
          <p:cNvPr id="3687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561267F-2A36-4043-AAC2-E79D46B517DA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590800" y="3429000"/>
            <a:ext cx="4343400" cy="687388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for line in inputFile :</a:t>
            </a: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line </a:t>
            </a:r>
            <a:r>
              <a:rPr lang="en-US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= </a:t>
            </a:r>
            <a:r>
              <a:rPr lang="en-US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line.rsplit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()</a:t>
            </a:r>
            <a:endParaRPr lang="en-US" kern="0" dirty="0">
              <a:latin typeface="Consolas" pitchFamily="49" charset="0"/>
              <a:ea typeface="ＭＳ Ｐゴシック" panose="020B0600070205080204" pitchFamily="34" charset="-128"/>
            </a:endParaRPr>
          </a:p>
        </p:txBody>
      </p:sp>
      <p:sp>
        <p:nvSpPr>
          <p:cNvPr id="36869" name="Content Placeholder 8"/>
          <p:cNvSpPr txBox="1">
            <a:spLocks/>
          </p:cNvSpPr>
          <p:nvPr/>
        </p:nvSpPr>
        <p:spPr bwMode="auto">
          <a:xfrm>
            <a:off x="304800" y="2971800"/>
            <a:ext cx="2438400" cy="457200"/>
          </a:xfrm>
          <a:prstGeom prst="rect">
            <a:avLst/>
          </a:prstGeom>
          <a:solidFill>
            <a:srgbClr val="FAE1A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835E0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Mary had a little lamb</a:t>
            </a:r>
          </a:p>
        </p:txBody>
      </p:sp>
      <p:sp>
        <p:nvSpPr>
          <p:cNvPr id="36870" name="Content Placeholder 8"/>
          <p:cNvSpPr txBox="1">
            <a:spLocks/>
          </p:cNvSpPr>
          <p:nvPr/>
        </p:nvSpPr>
        <p:spPr bwMode="auto">
          <a:xfrm>
            <a:off x="7897813" y="3640138"/>
            <a:ext cx="838200" cy="1638300"/>
          </a:xfrm>
          <a:prstGeom prst="rect">
            <a:avLst/>
          </a:prstGeom>
          <a:solidFill>
            <a:srgbClr val="FAE1A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835E0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Mary</a:t>
            </a:r>
          </a:p>
          <a:p>
            <a:pPr>
              <a:buClr>
                <a:srgbClr val="835E0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had </a:t>
            </a:r>
          </a:p>
          <a:p>
            <a:pPr>
              <a:buClr>
                <a:srgbClr val="835E0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</a:p>
          <a:p>
            <a:pPr>
              <a:buClr>
                <a:srgbClr val="835E0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little </a:t>
            </a:r>
          </a:p>
          <a:p>
            <a:pPr>
              <a:buClr>
                <a:srgbClr val="835E0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lamb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638300" y="3430588"/>
            <a:ext cx="1066800" cy="68580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705600" y="3505200"/>
            <a:ext cx="1066800" cy="68580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Processing Text Input</a:t>
            </a:r>
          </a:p>
        </p:txBody>
      </p:sp>
      <p:sp>
        <p:nvSpPr>
          <p:cNvPr id="24579" name="Content Placeholder 6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2554287"/>
          </a:xfrm>
        </p:spPr>
        <p:txBody>
          <a:bodyPr rtlCol="0">
            <a:normAutofit/>
          </a:bodyPr>
          <a:lstStyle/>
          <a:p>
            <a:pPr eaLnBrk="1" fontAlgn="auto" hangingPunct="1">
              <a:spcBef>
                <a:spcPts val="200"/>
              </a:spcBef>
              <a:buFont typeface="Arial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There are times when you want to read input by: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Each 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word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Each 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line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A single character</a:t>
            </a:r>
          </a:p>
          <a:p>
            <a:pPr lvl="1" indent="0" eaLnBrk="1" fontAlgn="auto" hangingPunct="1">
              <a:buFont typeface="Arial" charset="0"/>
              <a:buNone/>
              <a:defRPr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  <a:p>
            <a:pPr eaLnBrk="1" fontAlgn="auto" hangingPunct="1">
              <a:spcBef>
                <a:spcPts val="200"/>
              </a:spcBef>
              <a:buFont typeface="Arial"/>
              <a:buChar char="•"/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Python provides methods such: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Consolas" pitchFamily="49" charset="0"/>
              </a:rPr>
              <a:t>read()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,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Consolas" pitchFamily="49" charset="0"/>
              </a:rPr>
              <a:t>split()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and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Consolas" pitchFamily="49" charset="0"/>
              </a:rPr>
              <a:t>strip()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 for these tasks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  <a:cs typeface="+mn-cs"/>
            </a:endParaRPr>
          </a:p>
        </p:txBody>
      </p:sp>
      <p:sp>
        <p:nvSpPr>
          <p:cNvPr id="37891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DD1A708-BEEF-4624-99D0-A3F4996E4764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37893" name="TextBox 6"/>
          <p:cNvSpPr txBox="1">
            <a:spLocks noChangeArrowheads="1"/>
          </p:cNvSpPr>
          <p:nvPr/>
        </p:nvSpPr>
        <p:spPr bwMode="auto">
          <a:xfrm>
            <a:off x="1981200" y="4191000"/>
            <a:ext cx="4724400" cy="12001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i="1" dirty="0">
                <a:latin typeface="+mn-lt"/>
                <a:cs typeface="Arial" panose="020B0604020202020204" pitchFamily="34" charset="0"/>
              </a:rPr>
              <a:t>Processing </a:t>
            </a:r>
            <a:r>
              <a:rPr lang="en-US" altLang="en-US" i="1" dirty="0" smtClean="0">
                <a:latin typeface="+mn-lt"/>
                <a:cs typeface="Arial" panose="020B0604020202020204" pitchFamily="34" charset="0"/>
              </a:rPr>
              <a:t>text input </a:t>
            </a:r>
            <a:r>
              <a:rPr lang="en-US" altLang="en-US" i="1" dirty="0">
                <a:latin typeface="+mn-lt"/>
                <a:cs typeface="Arial" panose="020B0604020202020204" pitchFamily="34" charset="0"/>
              </a:rPr>
              <a:t>is required for almost all types of programs that interact with the </a:t>
            </a:r>
            <a:r>
              <a:rPr lang="en-US" altLang="en-US" i="1" dirty="0" smtClean="0">
                <a:latin typeface="+mn-lt"/>
                <a:cs typeface="Arial" panose="020B0604020202020204" pitchFamily="34" charset="0"/>
              </a:rPr>
              <a:t>user</a:t>
            </a:r>
            <a:endParaRPr lang="en-US" altLang="en-US" i="1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Text Input and Output</a:t>
            </a:r>
          </a:p>
        </p:txBody>
      </p:sp>
      <p:sp>
        <p:nvSpPr>
          <p:cNvPr id="38914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194468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Python can treat an input file as though it were a container of strings in which each line comprises an individual string</a:t>
            </a:r>
          </a:p>
          <a:p>
            <a:pPr eaLnBrk="1" hangingPunct="1"/>
            <a:r>
              <a:rPr lang="en-US" altLang="en-US" dirty="0" smtClean="0"/>
              <a:t>For example, the following loop reads all lines from a file and prints them:</a:t>
            </a:r>
          </a:p>
        </p:txBody>
      </p:sp>
      <p:sp>
        <p:nvSpPr>
          <p:cNvPr id="38917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92C7562-6ABB-49EF-83AE-33D7C9C664FB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22325" y="2667000"/>
            <a:ext cx="7586663" cy="762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2000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for line in infile :</a:t>
            </a:r>
          </a:p>
          <a:p>
            <a:pPr eaLnBrk="1" hangingPunct="1">
              <a:defRPr/>
            </a:pPr>
            <a:r>
              <a:rPr lang="en-US" sz="2000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print(line)</a:t>
            </a:r>
            <a:endParaRPr lang="en-US" sz="2000" dirty="0">
              <a:solidFill>
                <a:srgbClr val="0033CC"/>
              </a:solidFill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22325" y="3654303"/>
            <a:ext cx="7543800" cy="1411287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en-US" sz="2000" dirty="0" smtClean="0"/>
              <a:t>At the beginning of each iteration, the loop variable line is assigned the value of a string that contains the next line of text in the file</a:t>
            </a:r>
          </a:p>
          <a:p>
            <a:pPr eaLnBrk="1" hangingPunct="1"/>
            <a:r>
              <a:rPr lang="en-US" altLang="en-US" sz="2200" dirty="0" smtClean="0"/>
              <a:t>There is a critical difference between a file and a container:</a:t>
            </a:r>
          </a:p>
          <a:p>
            <a:pPr lvl="1" eaLnBrk="1" hangingPunct="1"/>
            <a:r>
              <a:rPr lang="en-US" altLang="en-US" dirty="0" smtClean="0"/>
              <a:t>Once you read the file you must close it before you can iterate over it again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a typeface="ＭＳ Ｐゴシック" charset="0"/>
              </a:rPr>
              <a:t>An Example of Reading a File</a:t>
            </a:r>
            <a:endParaRPr lang="en-US" dirty="0">
              <a:ea typeface="ＭＳ Ｐゴシック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 smtClean="0">
                <a:ea typeface="ＭＳ Ｐゴシック" charset="0"/>
              </a:rPr>
              <a:t>We have a file that contains a collection of words; one per line: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 smtClean="0">
                <a:ea typeface="ＭＳ Ｐゴシック" charset="0"/>
              </a:rPr>
              <a:t>spam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 smtClean="0">
                <a:ea typeface="ＭＳ Ｐゴシック" charset="0"/>
              </a:rPr>
              <a:t>and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 smtClean="0">
                <a:ea typeface="ＭＳ Ｐゴシック" charset="0"/>
              </a:rPr>
              <a:t>eggs</a:t>
            </a:r>
            <a:endParaRPr lang="en-US" dirty="0">
              <a:ea typeface="ＭＳ Ｐゴシック" charset="0"/>
            </a:endParaRPr>
          </a:p>
        </p:txBody>
      </p:sp>
      <p:sp>
        <p:nvSpPr>
          <p:cNvPr id="39939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84D757E-52F4-47C3-9E73-E691F07C2FCA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Removing The Newline (1)</a:t>
            </a:r>
          </a:p>
        </p:txBody>
      </p:sp>
      <p:sp>
        <p:nvSpPr>
          <p:cNvPr id="40962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179228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Recall that each input line ends with a newline (</a:t>
            </a:r>
            <a:r>
              <a:rPr lang="en-US" altLang="en-US" dirty="0" smtClean="0">
                <a:cs typeface="Consolas" panose="020B0609020204030204" pitchFamily="49" charset="0"/>
              </a:rPr>
              <a:t>\n</a:t>
            </a:r>
            <a:r>
              <a:rPr lang="en-US" altLang="en-US" dirty="0" smtClean="0"/>
              <a:t>) character</a:t>
            </a:r>
          </a:p>
          <a:p>
            <a:pPr eaLnBrk="1" hangingPunct="1"/>
            <a:r>
              <a:rPr lang="en-US" altLang="en-US" dirty="0" smtClean="0"/>
              <a:t>Generally, the newline character must be removed before the input string is used</a:t>
            </a:r>
          </a:p>
          <a:p>
            <a:pPr eaLnBrk="1" hangingPunct="1"/>
            <a:r>
              <a:rPr lang="en-US" altLang="en-US" dirty="0" smtClean="0"/>
              <a:t>When the first line of the text file is read, the string line contains</a:t>
            </a:r>
          </a:p>
        </p:txBody>
      </p:sp>
      <p:sp>
        <p:nvSpPr>
          <p:cNvPr id="40965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AAFC1F5-DE80-4A4A-952E-75DD3E4F943D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pic>
        <p:nvPicPr>
          <p:cNvPr id="40964" name="Picture 2" descr="U:\PC\publisher\2013 wiley slides\Ch 5-9, FM\Chapter  7\Media\Illustrations\py_07_un01_300dp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276600"/>
            <a:ext cx="26670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Removing The Newline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To remove the newline character, apply the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Consolas" pitchFamily="49" charset="0"/>
              </a:rPr>
              <a:t>rstrip()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 method to the string: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  <a:cs typeface="+mn-cs"/>
            </a:endParaRPr>
          </a:p>
        </p:txBody>
      </p:sp>
      <p:sp>
        <p:nvSpPr>
          <p:cNvPr id="41990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48F06C5-1760-4CDA-8122-02534C7EEB97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62000" y="1905000"/>
            <a:ext cx="4191000" cy="381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line = </a:t>
            </a:r>
            <a:r>
              <a:rPr lang="en-US" dirty="0" err="1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line.rstrip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()</a:t>
            </a:r>
            <a:endParaRPr lang="en-US" dirty="0">
              <a:solidFill>
                <a:srgbClr val="0033CC"/>
              </a:solidFill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</p:txBody>
      </p:sp>
      <p:pic>
        <p:nvPicPr>
          <p:cNvPr id="41989" name="Picture 2" descr="U:\PC\publisher\2013 wiley slides\Ch 5-9, FM\Chapter  7\Media\Illustrations\py_07_un02_300dp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971800"/>
            <a:ext cx="1830388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762000" y="2525713"/>
            <a:ext cx="7543800" cy="649287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This results in the string:</a:t>
            </a:r>
          </a:p>
          <a:p>
            <a:pPr eaLnBrk="1" fontAlgn="auto" hangingPunct="1"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Character Strip Methods</a:t>
            </a:r>
          </a:p>
        </p:txBody>
      </p:sp>
      <p:pic>
        <p:nvPicPr>
          <p:cNvPr id="43010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295400"/>
            <a:ext cx="8494713" cy="3505200"/>
          </a:xfrm>
        </p:spPr>
      </p:pic>
      <p:sp>
        <p:nvSpPr>
          <p:cNvPr id="43012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1708519-AFF3-42E5-BAB5-011064B25684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Character Strip Examples</a:t>
            </a:r>
          </a:p>
        </p:txBody>
      </p:sp>
      <p:pic>
        <p:nvPicPr>
          <p:cNvPr id="44034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219200"/>
            <a:ext cx="8524875" cy="4267200"/>
          </a:xfrm>
        </p:spPr>
      </p:pic>
      <p:sp>
        <p:nvSpPr>
          <p:cNvPr id="44036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67007DE-32F0-4F51-A516-AEEFB755DA8F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Reading Words</a:t>
            </a:r>
          </a:p>
        </p:txBody>
      </p:sp>
      <p:sp>
        <p:nvSpPr>
          <p:cNvPr id="450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Sometimes you may need to read the individual words from a text file </a:t>
            </a:r>
          </a:p>
          <a:p>
            <a:pPr eaLnBrk="1" hangingPunct="1"/>
            <a:r>
              <a:rPr lang="en-US" altLang="en-US" dirty="0" smtClean="0"/>
              <a:t>For example, suppose our input file contains two lines of text</a:t>
            </a: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dirty="0" smtClean="0">
                <a:cs typeface="Times New Roman" panose="02020603050405020304" pitchFamily="18" charset="0"/>
              </a:rPr>
              <a:t>Mary had a little lamb,</a:t>
            </a: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dirty="0" smtClean="0">
                <a:cs typeface="Times New Roman" panose="02020603050405020304" pitchFamily="18" charset="0"/>
              </a:rPr>
              <a:t>whose fleece was white as snow</a:t>
            </a:r>
          </a:p>
        </p:txBody>
      </p:sp>
      <p:sp>
        <p:nvSpPr>
          <p:cNvPr id="45060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112ECE-44BA-4B68-82C4-DA4944F99984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Reading Words (2)</a:t>
            </a:r>
          </a:p>
        </p:txBody>
      </p:sp>
      <p:sp>
        <p:nvSpPr>
          <p:cNvPr id="46082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308768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We would like to print to the terminal, one word per line</a:t>
            </a: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dirty="0" smtClean="0">
                <a:cs typeface="Times New Roman" panose="02020603050405020304" pitchFamily="18" charset="0"/>
              </a:rPr>
              <a:t>Mary</a:t>
            </a: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dirty="0" smtClean="0">
                <a:cs typeface="Times New Roman" panose="02020603050405020304" pitchFamily="18" charset="0"/>
              </a:rPr>
              <a:t>had</a:t>
            </a: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dirty="0" smtClean="0">
                <a:cs typeface="Times New Roman" panose="02020603050405020304" pitchFamily="18" charset="0"/>
              </a:rPr>
              <a:t>a</a:t>
            </a: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dirty="0" smtClean="0">
                <a:cs typeface="Times New Roman" panose="02020603050405020304" pitchFamily="18" charset="0"/>
              </a:rPr>
              <a:t>little</a:t>
            </a: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smtClean="0">
                <a:cs typeface="Times New Roman" panose="02020603050405020304" pitchFamily="18" charset="0"/>
              </a:rPr>
              <a:t>. . .</a:t>
            </a:r>
            <a:endParaRPr lang="en-US" altLang="en-US" sz="2000" dirty="0" smtClean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 smtClean="0"/>
              <a:t>Because there is no method for reading a word from a file, you must first read a line and then </a:t>
            </a:r>
            <a:r>
              <a:rPr lang="en-US" altLang="en-US" dirty="0" smtClean="0">
                <a:solidFill>
                  <a:srgbClr val="FF0000"/>
                </a:solidFill>
              </a:rPr>
              <a:t>split</a:t>
            </a:r>
            <a:r>
              <a:rPr lang="en-US" altLang="en-US" dirty="0" smtClean="0"/>
              <a:t> it into individual words</a:t>
            </a:r>
          </a:p>
          <a:p>
            <a:pPr eaLnBrk="1" hangingPunct="1"/>
            <a:endParaRPr lang="en-US" altLang="en-US" sz="2800" dirty="0" smtClean="0"/>
          </a:p>
        </p:txBody>
      </p:sp>
      <p:sp>
        <p:nvSpPr>
          <p:cNvPr id="46085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684A3C5-3CDC-4F96-9FBD-07AEE2AB7E4F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62000" y="4343400"/>
            <a:ext cx="7696200" cy="838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line </a:t>
            </a:r>
            <a:r>
              <a:rPr lang="en-US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= </a:t>
            </a:r>
            <a:r>
              <a:rPr lang="en-US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line.rstrip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()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wordlist </a:t>
            </a:r>
            <a:r>
              <a:rPr lang="en-US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= </a:t>
            </a:r>
            <a:r>
              <a:rPr lang="en-US" smtClean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line.split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Reading Words (3)</a:t>
            </a:r>
          </a:p>
        </p:txBody>
      </p:sp>
      <p:sp>
        <p:nvSpPr>
          <p:cNvPr id="47106" name="Content Placeholder 2"/>
          <p:cNvSpPr>
            <a:spLocks noGrp="1"/>
          </p:cNvSpPr>
          <p:nvPr>
            <p:ph idx="1"/>
          </p:nvPr>
        </p:nvSpPr>
        <p:spPr>
          <a:xfrm>
            <a:off x="822325" y="1255714"/>
            <a:ext cx="7543800" cy="1258886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The </a:t>
            </a:r>
            <a:r>
              <a:rPr lang="en-US" altLang="en-US" dirty="0" smtClean="0">
                <a:solidFill>
                  <a:srgbClr val="FF0000"/>
                </a:solidFill>
              </a:rPr>
              <a:t>split</a:t>
            </a:r>
            <a:r>
              <a:rPr lang="en-US" altLang="en-US" dirty="0" smtClean="0"/>
              <a:t> method returns the list of substrings that results from splitting the string at each blank space </a:t>
            </a:r>
          </a:p>
          <a:p>
            <a:pPr eaLnBrk="1" hangingPunct="1"/>
            <a:r>
              <a:rPr lang="en-US" altLang="en-US" dirty="0" smtClean="0"/>
              <a:t>For example, if line contains the string:</a:t>
            </a:r>
          </a:p>
        </p:txBody>
      </p:sp>
      <p:sp>
        <p:nvSpPr>
          <p:cNvPr id="47110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9F571DB-8291-4177-A6DE-3C270BF09EC5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pic>
        <p:nvPicPr>
          <p:cNvPr id="47108" name="Picture 2" descr="U:\PC\publisher\2013 wiley slides\Ch 5-9, FM\Chapter  7\Media\Illustrations\py_07_un10_300dp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514600"/>
            <a:ext cx="8285163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9" name="Picture 3" descr="U:\PC\publisher\2013 wiley slides\Ch 5-9, FM\Chapter  7\Media\Illustrations\py_07_un11_300dp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733800"/>
            <a:ext cx="3352800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32</a:t>
            </a:fld>
            <a:endParaRPr lang="en-US" alt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822325" y="2964718"/>
            <a:ext cx="7543800" cy="1068264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dirty="0" smtClean="0"/>
              <a:t>It will be split into 5 substrings that are stored in a list in the same order in which they occur in the string: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Reading Words (4)</a:t>
            </a:r>
          </a:p>
        </p:txBody>
      </p:sp>
      <p:sp>
        <p:nvSpPr>
          <p:cNvPr id="48130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156368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Notice that the last word in the line contains a comma</a:t>
            </a:r>
          </a:p>
          <a:p>
            <a:pPr eaLnBrk="1" hangingPunct="1"/>
            <a:r>
              <a:rPr lang="en-US" altLang="en-US" dirty="0" smtClean="0"/>
              <a:t>If we only want to print the words contained in the file without punctuation marks, we can strip those from the substrings using the </a:t>
            </a:r>
            <a:r>
              <a:rPr lang="en-US" altLang="en-US" dirty="0" err="1" smtClean="0">
                <a:cs typeface="Consolas" panose="020B0609020204030204" pitchFamily="49" charset="0"/>
              </a:rPr>
              <a:t>rstrip</a:t>
            </a:r>
            <a:r>
              <a:rPr lang="en-US" altLang="en-US" dirty="0" smtClean="0">
                <a:cs typeface="Consolas" panose="020B0609020204030204" pitchFamily="49" charset="0"/>
              </a:rPr>
              <a:t>() </a:t>
            </a:r>
            <a:r>
              <a:rPr lang="en-US" altLang="en-US" dirty="0" smtClean="0"/>
              <a:t>method introduced in the previous section:</a:t>
            </a:r>
          </a:p>
        </p:txBody>
      </p:sp>
      <p:sp>
        <p:nvSpPr>
          <p:cNvPr id="4813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B1ECC52-775D-4030-AA12-8A89442D8A13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85800" y="2971800"/>
            <a:ext cx="7010400" cy="533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word </a:t>
            </a:r>
            <a:r>
              <a:rPr lang="en-US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= </a:t>
            </a:r>
            <a:r>
              <a:rPr lang="en-US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word.rstrip(".,?!")</a:t>
            </a:r>
            <a:endParaRPr lang="en-US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40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Reading Words: Complete Example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914400" y="1295400"/>
            <a:ext cx="7467600" cy="3886200"/>
          </a:xfrm>
          <a:solidFill>
            <a:srgbClr val="D9D9D9"/>
          </a:solidFill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0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inputFile = open("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lyrics.txt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", "r")</a:t>
            </a:r>
          </a:p>
          <a:p>
            <a:pPr marL="0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for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line in inputFile :</a:t>
            </a:r>
          </a:p>
          <a:p>
            <a:pPr marL="0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    line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=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line.rstrip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()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marL="0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    wordList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=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line.split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()</a:t>
            </a:r>
          </a:p>
          <a:p>
            <a:pPr marL="0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    for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word in wordList :</a:t>
            </a:r>
          </a:p>
          <a:p>
            <a:pPr marL="0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        word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=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word.rstrip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(".,?!")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marL="0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        print(word)</a:t>
            </a:r>
          </a:p>
          <a:p>
            <a:pPr marL="0" indent="0" eaLnBrk="1" fontAlgn="auto" hangingPunct="1">
              <a:buFont typeface="Wingdings" panose="05000000000000000000" pitchFamily="2" charset="2"/>
              <a:buNone/>
              <a:defRPr/>
            </a:pP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marL="0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inputFile.close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()</a:t>
            </a: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Consolas" pitchFamily="49" charset="0"/>
              <a:ea typeface="+mn-ea"/>
              <a:cs typeface="Consolas" pitchFamily="49" charset="0"/>
            </a:endParaRPr>
          </a:p>
        </p:txBody>
      </p:sp>
      <p:sp>
        <p:nvSpPr>
          <p:cNvPr id="49156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B7428B8-D2AE-4C91-9F95-8E43E3BE0631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Two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the </a:t>
            </a:r>
            <a:r>
              <a:rPr lang="en-US" smtClean="0"/>
              <a:t>file lyrics.py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CAB4-EE9A-4668-A0AE-1736A158424C}" type="datetime1">
              <a:rPr lang="en-US" altLang="en-US" smtClean="0"/>
              <a:t>11/15/2015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195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40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Additional String Splitting Methods</a:t>
            </a:r>
          </a:p>
        </p:txBody>
      </p:sp>
      <p:pic>
        <p:nvPicPr>
          <p:cNvPr id="50178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143000"/>
            <a:ext cx="8526463" cy="3810000"/>
          </a:xfrm>
        </p:spPr>
      </p:pic>
      <p:sp>
        <p:nvSpPr>
          <p:cNvPr id="50180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8705134-D7BC-4938-9E13-2AFD77D77C66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40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Additional String Splitting Examples</a:t>
            </a:r>
          </a:p>
        </p:txBody>
      </p:sp>
      <p:pic>
        <p:nvPicPr>
          <p:cNvPr id="51202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176" y="1255713"/>
            <a:ext cx="6634098" cy="4613275"/>
          </a:xfrm>
        </p:spPr>
      </p:pic>
      <p:sp>
        <p:nvSpPr>
          <p:cNvPr id="51204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F9F761C-7155-4E1B-918A-5F5601DCBB8A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Reading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2020887"/>
          </a:xfrm>
        </p:spPr>
        <p:txBody>
          <a:bodyPr rtlCol="0">
            <a:normAutofit/>
          </a:bodyPr>
          <a:lstStyle/>
          <a:p>
            <a:pPr eaLnBrk="1" fontAlgn="auto" hangingPunct="1"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The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Consolas" pitchFamily="49" charset="0"/>
              </a:rPr>
              <a:t>read()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method takes a single argument that specifies the number of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characters to read </a:t>
            </a:r>
          </a:p>
          <a:p>
            <a:pPr eaLnBrk="1" fontAlgn="auto" hangingPunct="1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The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method returns a string containing the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characters </a:t>
            </a:r>
          </a:p>
          <a:p>
            <a:pPr eaLnBrk="1" fontAlgn="auto" hangingPunct="1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When supplied with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an argument of 1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, the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Consolas" pitchFamily="49" charset="0"/>
              </a:rPr>
              <a:t>read()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method returns a string consisting of the next character in the file</a:t>
            </a:r>
          </a:p>
          <a:p>
            <a:pPr marL="0" indent="0" eaLnBrk="1" fontAlgn="auto" hangingPunct="1">
              <a:buFont typeface="Wingdings" panose="05000000000000000000" pitchFamily="2" charset="2"/>
              <a:buNone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  <a:cs typeface="+mn-cs"/>
            </a:endParaRPr>
          </a:p>
        </p:txBody>
      </p:sp>
      <p:sp>
        <p:nvSpPr>
          <p:cNvPr id="52229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FBE85C0-781D-464C-B948-5E3139B478A3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38200" y="3124200"/>
            <a:ext cx="7620000" cy="457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60000"/>
              <a:buFont typeface="Wingdings" pitchFamily="2" charset="2"/>
              <a:buChar char="q"/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anose="020B0609020204030204" pitchFamily="49" charset="0"/>
                <a:cs typeface="Consolas" pitchFamily="49" charset="0"/>
              </a:rPr>
              <a:t>char </a:t>
            </a:r>
            <a:r>
              <a:rPr lang="en-US" sz="1800" smtClean="0">
                <a:latin typeface="Consolas" pitchFamily="49" charset="0"/>
                <a:cs typeface="Consolas" pitchFamily="49" charset="0"/>
              </a:rPr>
              <a:t>= inputFile.read(1</a:t>
            </a:r>
            <a:r>
              <a:rPr 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38</a:t>
            </a:fld>
            <a:endParaRPr lang="en-US" alt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22325" y="3657600"/>
            <a:ext cx="7543800" cy="538163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If the end of the file is reached, it returns an empty string ""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Algorithm: Reading Characters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467600" cy="1295400"/>
          </a:xfrm>
          <a:solidFill>
            <a:srgbClr val="D9D9D9"/>
          </a:solidFill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0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+mn-ea"/>
                <a:cs typeface="Consolas" pitchFamily="49" charset="0"/>
              </a:rPr>
              <a:t>while char != "" :</a:t>
            </a:r>
          </a:p>
          <a:p>
            <a:pPr marL="0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Process character</a:t>
            </a: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   char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=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inputFile.read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(1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49" charset="0"/>
                <a:ea typeface="+mn-ea"/>
                <a:cs typeface="Consolas" pitchFamily="49" charset="0"/>
              </a:rPr>
              <a:t>)</a:t>
            </a: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Consolas" pitchFamily="49" charset="0"/>
              <a:ea typeface="+mn-ea"/>
              <a:cs typeface="Consolas" pitchFamily="49" charset="0"/>
            </a:endParaRPr>
          </a:p>
        </p:txBody>
      </p:sp>
      <p:sp>
        <p:nvSpPr>
          <p:cNvPr id="53252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902C15-A128-4C88-9D80-A564DA3C9F02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Reading Records</a:t>
            </a:r>
          </a:p>
        </p:txBody>
      </p:sp>
      <p:sp>
        <p:nvSpPr>
          <p:cNvPr id="54274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255428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A text file can contain a collection of </a:t>
            </a:r>
            <a:r>
              <a:rPr lang="en-US" altLang="en-US" b="1" dirty="0" smtClean="0"/>
              <a:t>data records </a:t>
            </a:r>
            <a:r>
              <a:rPr lang="en-US" altLang="en-US" dirty="0" smtClean="0"/>
              <a:t>in which each record consists of multiple fields </a:t>
            </a:r>
          </a:p>
          <a:p>
            <a:pPr eaLnBrk="1" hangingPunct="1"/>
            <a:r>
              <a:rPr lang="en-US" altLang="en-US" dirty="0" smtClean="0"/>
              <a:t>For example, a file containing student data may consist of records composed of an identification number, full name, address, and class year</a:t>
            </a:r>
          </a:p>
          <a:p>
            <a:pPr eaLnBrk="1" hangingPunct="1"/>
            <a:r>
              <a:rPr lang="en-US" altLang="en-US" dirty="0" smtClean="0"/>
              <a:t>When working with text files that contain data records, you generally have to read the entire record before you can process it:</a:t>
            </a:r>
          </a:p>
        </p:txBody>
      </p:sp>
      <p:sp>
        <p:nvSpPr>
          <p:cNvPr id="54275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D2557CB-8DC7-420E-91E4-04E9AC538B51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62000" y="3810000"/>
            <a:ext cx="7848600" cy="1295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60000"/>
              <a:buFont typeface="Wingdings" pitchFamily="2" charset="2"/>
              <a:buChar char="q"/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For each record in the file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Read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the entire </a:t>
            </a:r>
            <a:r>
              <a:rPr 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record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Process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the </a:t>
            </a:r>
            <a:r>
              <a:rPr 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record</a:t>
            </a:r>
            <a:endParaRPr lang="en-US" sz="18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Record Formats: Example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n-cs"/>
              </a:rPr>
              <a:t>The organization or format of the records can vary, however, making some formats easier to read than others</a:t>
            </a:r>
          </a:p>
          <a:p>
            <a:pPr eaLnBrk="1" fontAlgn="auto" hangingPunct="1"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n-cs"/>
              </a:rPr>
              <a:t>A typical format for such data is to store each field on a separate line of the file with all fields of a single record on consecutive lines:</a:t>
            </a:r>
          </a:p>
          <a:p>
            <a:pPr lvl="1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Times New Roman" panose="02020603050405020304" pitchFamily="18" charset="0"/>
              </a:rPr>
              <a:t>  China</a:t>
            </a:r>
          </a:p>
          <a:p>
            <a:pPr lvl="1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Times New Roman" panose="02020603050405020304" pitchFamily="18" charset="0"/>
              </a:rPr>
              <a:t>  1330044605</a:t>
            </a:r>
          </a:p>
          <a:p>
            <a:pPr lvl="1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Times New Roman" panose="02020603050405020304" pitchFamily="18" charset="0"/>
              </a:rPr>
              <a:t>  India</a:t>
            </a:r>
          </a:p>
          <a:p>
            <a:pPr lvl="1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Times New Roman" panose="02020603050405020304" pitchFamily="18" charset="0"/>
              </a:rPr>
              <a:t>  1147995898</a:t>
            </a:r>
          </a:p>
          <a:p>
            <a:pPr lvl="1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Times New Roman" panose="02020603050405020304" pitchFamily="18" charset="0"/>
              </a:rPr>
              <a:t>  United States</a:t>
            </a:r>
          </a:p>
          <a:p>
            <a:pPr lvl="1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Times New Roman" panose="02020603050405020304" pitchFamily="18" charset="0"/>
              </a:rPr>
              <a:t>  303824646</a:t>
            </a:r>
          </a:p>
          <a:p>
            <a:pPr lvl="1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altLang="en-US" sz="200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Times New Roman" panose="02020603050405020304" pitchFamily="18" charset="0"/>
              </a:rPr>
              <a:t>  . . 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55300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08A6194-0B0D-4A2D-8E5A-05B89AEC46B3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Record Formats: Example</a:t>
            </a: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Reading the data in this format is rather easy </a:t>
            </a:r>
          </a:p>
          <a:p>
            <a:pPr eaLnBrk="1" hangingPunct="1"/>
            <a:r>
              <a:rPr lang="en-US" altLang="en-US" dirty="0" smtClean="0"/>
              <a:t>Because each record consists of two fields, we read two lines from the file for each record</a:t>
            </a:r>
          </a:p>
        </p:txBody>
      </p:sp>
      <p:sp>
        <p:nvSpPr>
          <p:cNvPr id="56325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D35561-3554-4E13-AE5C-28361E194333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38200" y="2514600"/>
            <a:ext cx="7848600" cy="2971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60000"/>
              <a:buFont typeface="Wingdings" pitchFamily="2" charset="2"/>
              <a:buChar char="q"/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anose="020B0609020204030204" pitchFamily="49" charset="0"/>
                <a:cs typeface="Consolas" pitchFamily="49" charset="0"/>
              </a:rPr>
              <a:t>line </a:t>
            </a:r>
            <a:r>
              <a:rPr lang="en-US" sz="1800">
                <a:latin typeface="Consolas" pitchFamily="49" charset="0"/>
                <a:cs typeface="Consolas" pitchFamily="49" charset="0"/>
              </a:rPr>
              <a:t>= </a:t>
            </a:r>
            <a:r>
              <a:rPr lang="en-US" sz="1800" smtClean="0">
                <a:latin typeface="Consolas" pitchFamily="49" charset="0"/>
                <a:cs typeface="Consolas" pitchFamily="49" charset="0"/>
              </a:rPr>
              <a:t>infile.readline</a:t>
            </a: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()</a:t>
            </a:r>
            <a:endParaRPr lang="en-US" sz="18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while line != "" : </a:t>
            </a:r>
            <a:endParaRPr lang="en-US" sz="18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countryName </a:t>
            </a:r>
            <a:r>
              <a:rPr lang="en-US" sz="1800">
                <a:latin typeface="Consolas" pitchFamily="49" charset="0"/>
                <a:cs typeface="Consolas" pitchFamily="49" charset="0"/>
              </a:rPr>
              <a:t>= </a:t>
            </a:r>
            <a:r>
              <a:rPr lang="en-US" sz="1800" smtClean="0">
                <a:latin typeface="Consolas" pitchFamily="49" charset="0"/>
                <a:cs typeface="Consolas" pitchFamily="49" charset="0"/>
              </a:rPr>
              <a:t>line.rstrip</a:t>
            </a: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()</a:t>
            </a:r>
            <a:endParaRPr lang="en-US" sz="18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line </a:t>
            </a:r>
            <a:r>
              <a:rPr lang="en-US" sz="1800">
                <a:latin typeface="Consolas" pitchFamily="49" charset="0"/>
                <a:cs typeface="Consolas" pitchFamily="49" charset="0"/>
              </a:rPr>
              <a:t>= </a:t>
            </a:r>
            <a:r>
              <a:rPr lang="en-US" sz="1800" smtClean="0">
                <a:latin typeface="Consolas" pitchFamily="49" charset="0"/>
                <a:cs typeface="Consolas" pitchFamily="49" charset="0"/>
              </a:rPr>
              <a:t>infile.readline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()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population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= int(line</a:t>
            </a: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)</a:t>
            </a:r>
            <a:endParaRPr lang="en-US" sz="18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sz="18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Process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data record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line </a:t>
            </a:r>
            <a:r>
              <a:rPr lang="en-US" sz="1800">
                <a:latin typeface="Consolas" pitchFamily="49" charset="0"/>
                <a:cs typeface="Consolas" pitchFamily="49" charset="0"/>
              </a:rPr>
              <a:t>= </a:t>
            </a:r>
            <a:r>
              <a:rPr lang="en-US" sz="1800" smtClean="0">
                <a:latin typeface="Consolas" pitchFamily="49" charset="0"/>
                <a:cs typeface="Consolas" pitchFamily="49" charset="0"/>
              </a:rPr>
              <a:t>infile.readline</a:t>
            </a: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()</a:t>
            </a:r>
            <a:endParaRPr lang="en-US" sz="1800" b="1" kern="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Record Formats: Example 2</a:t>
            </a:r>
          </a:p>
        </p:txBody>
      </p:sp>
      <p:sp>
        <p:nvSpPr>
          <p:cNvPr id="573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Another common format stores each data record on a single line </a:t>
            </a:r>
          </a:p>
          <a:p>
            <a:pPr eaLnBrk="1" hangingPunct="1"/>
            <a:r>
              <a:rPr lang="en-US" altLang="en-US" dirty="0" smtClean="0"/>
              <a:t>If the record’s fields are separated by a specific delimiter “</a:t>
            </a:r>
            <a:r>
              <a:rPr lang="en-US" altLang="ja-JP" dirty="0" smtClean="0">
                <a:cs typeface="Consolas" panose="020B0609020204030204" pitchFamily="49" charset="0"/>
              </a:rPr>
              <a:t>:</a:t>
            </a:r>
            <a:r>
              <a:rPr lang="en-US" altLang="en-US" dirty="0" smtClean="0">
                <a:cs typeface="Consolas" panose="020B0609020204030204" pitchFamily="49" charset="0"/>
              </a:rPr>
              <a:t>”</a:t>
            </a:r>
            <a:r>
              <a:rPr lang="en-US" altLang="ja-JP" dirty="0" smtClean="0"/>
              <a:t> you can extract the fields by splitting the line with the split() method</a:t>
            </a: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dirty="0" smtClean="0"/>
              <a:t>  China:1330044605</a:t>
            </a: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dirty="0" smtClean="0"/>
              <a:t>  India:1147995898</a:t>
            </a: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dirty="0" smtClean="0"/>
              <a:t>  United States:303824646</a:t>
            </a: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smtClean="0"/>
              <a:t>  . . .</a:t>
            </a:r>
            <a:endParaRPr lang="en-US" altLang="en-US" sz="2000" dirty="0" smtClean="0"/>
          </a:p>
        </p:txBody>
      </p:sp>
      <p:sp>
        <p:nvSpPr>
          <p:cNvPr id="57348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02F2635-AF3D-4B86-8605-4508EB8F80C3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43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Record Formats: Example 3</a:t>
            </a:r>
          </a:p>
        </p:txBody>
      </p:sp>
      <p:sp>
        <p:nvSpPr>
          <p:cNvPr id="58370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331628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But what if the fields are not separated by a delimiter?</a:t>
            </a: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dirty="0" smtClean="0">
                <a:cs typeface="Times New Roman" panose="02020603050405020304" pitchFamily="18" charset="0"/>
              </a:rPr>
              <a:t>  China 1330044605</a:t>
            </a: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dirty="0" smtClean="0">
                <a:cs typeface="Times New Roman" panose="02020603050405020304" pitchFamily="18" charset="0"/>
              </a:rPr>
              <a:t>  India 1147995898</a:t>
            </a: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dirty="0" smtClean="0">
                <a:cs typeface="Times New Roman" panose="02020603050405020304" pitchFamily="18" charset="0"/>
              </a:rPr>
              <a:t>  United States 303824646</a:t>
            </a:r>
          </a:p>
          <a:p>
            <a:pPr lvl="1" indent="0" eaLnBrk="1" hangingPunct="1">
              <a:buFont typeface="Wingdings" panose="05000000000000000000" pitchFamily="2" charset="2"/>
              <a:buNone/>
            </a:pPr>
            <a:r>
              <a:rPr lang="en-US" altLang="en-US" sz="2000" smtClean="0">
                <a:cs typeface="Times New Roman" panose="02020603050405020304" pitchFamily="18" charset="0"/>
              </a:rPr>
              <a:t>  . . .</a:t>
            </a:r>
            <a:endParaRPr lang="en-US" altLang="en-US" sz="2000" dirty="0" smtClean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 smtClean="0"/>
              <a:t>Because some country names have more than one word, we cannot simply use a blank space as the delimiter because multi-word names would be split incorrectly</a:t>
            </a:r>
          </a:p>
          <a:p>
            <a:pPr eaLnBrk="1" hangingPunct="1"/>
            <a:r>
              <a:rPr lang="en-US" altLang="en-US" dirty="0" smtClean="0"/>
              <a:t>Can we use </a:t>
            </a:r>
            <a:r>
              <a:rPr lang="en-US" altLang="en-US" dirty="0" err="1" smtClean="0"/>
              <a:t>rsplit</a:t>
            </a:r>
            <a:r>
              <a:rPr lang="en-US" altLang="en-US" dirty="0" smtClean="0"/>
              <a:t> in this case?</a:t>
            </a:r>
          </a:p>
        </p:txBody>
      </p:sp>
      <p:sp>
        <p:nvSpPr>
          <p:cNvPr id="58372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484F4BD-C822-4BDD-83FA-C75EAC3C981B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90600" y="4648200"/>
            <a:ext cx="5943600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inputString</a:t>
            </a:r>
            <a:r>
              <a:rPr 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 = "United States 303824646"</a:t>
            </a:r>
          </a:p>
          <a:p>
            <a:r>
              <a:rPr 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result = </a:t>
            </a:r>
            <a:r>
              <a:rPr lang="en-US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inputString.rsplit</a:t>
            </a:r>
            <a:r>
              <a:rPr 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(" ",1)</a:t>
            </a:r>
          </a:p>
          <a:p>
            <a:r>
              <a:rPr 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print(result)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44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Record Formats: Example 3</a:t>
            </a:r>
          </a:p>
        </p:txBody>
      </p:sp>
      <p:sp>
        <p:nvSpPr>
          <p:cNvPr id="59394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87788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One approach for reading records in this format is to read the line, then search for the first digit in the string returned by </a:t>
            </a:r>
            <a:r>
              <a:rPr lang="en-US" altLang="en-US" dirty="0" err="1" smtClean="0">
                <a:cs typeface="Consolas" panose="020B0609020204030204" pitchFamily="49" charset="0"/>
              </a:rPr>
              <a:t>readline</a:t>
            </a:r>
            <a:r>
              <a:rPr lang="en-US" altLang="en-US" dirty="0" smtClean="0">
                <a:cs typeface="Consolas" panose="020B0609020204030204" pitchFamily="49" charset="0"/>
              </a:rPr>
              <a:t>()</a:t>
            </a:r>
            <a:r>
              <a:rPr lang="en-US" altLang="en-US" dirty="0" smtClean="0"/>
              <a:t>:</a:t>
            </a:r>
          </a:p>
        </p:txBody>
      </p:sp>
      <p:sp>
        <p:nvSpPr>
          <p:cNvPr id="59398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BBAC48D-D5E9-446D-9E58-366D7037D45C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38200" y="2133600"/>
            <a:ext cx="7848600" cy="14859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60000"/>
              <a:buFont typeface="Wingdings" pitchFamily="2" charset="2"/>
              <a:buChar char="q"/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i = 0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char = line[0]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while not </a:t>
            </a: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line[0].</a:t>
            </a:r>
            <a:r>
              <a:rPr lang="en-US" sz="1800" dirty="0" err="1" smtClean="0">
                <a:latin typeface="Consolas" pitchFamily="49" charset="0"/>
                <a:cs typeface="Consolas" pitchFamily="49" charset="0"/>
              </a:rPr>
              <a:t>isdigit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() :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i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= i + 1</a:t>
            </a:r>
            <a:endParaRPr lang="en-US" sz="1800" b="1" kern="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62000" y="4648200"/>
            <a:ext cx="7848600" cy="74295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60000"/>
              <a:buFont typeface="Wingdings" pitchFamily="2" charset="2"/>
              <a:buChar char="q"/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countryName = line[0 : i - 1]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population = int(line[i : ])</a:t>
            </a:r>
            <a:endParaRPr lang="en-US" sz="1800" b="1" kern="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45</a:t>
            </a:fld>
            <a:endParaRPr lang="en-US" alt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830019" y="3787775"/>
            <a:ext cx="7543800" cy="95250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dirty="0" smtClean="0"/>
              <a:t>You can then extract the country name and population as substrings using the slice operator: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Record Formats: Example 3</a:t>
            </a:r>
          </a:p>
        </p:txBody>
      </p:sp>
      <p:sp>
        <p:nvSpPr>
          <p:cNvPr id="60418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725487"/>
          </a:xfrm>
        </p:spPr>
        <p:txBody>
          <a:bodyPr/>
          <a:lstStyle/>
          <a:p>
            <a:pPr eaLnBrk="1" hangingPunct="1"/>
            <a:r>
              <a:rPr lang="en-US" altLang="en-US" smtClean="0"/>
              <a:t>‘Slicing’ the string read from file</a:t>
            </a:r>
          </a:p>
        </p:txBody>
      </p:sp>
      <p:sp>
        <p:nvSpPr>
          <p:cNvPr id="60421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93180E7-9BEA-47FD-A27B-646CF664B1A6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pic>
        <p:nvPicPr>
          <p:cNvPr id="60420" name="Picture 2" descr="U:\PC\publisher\2013 wiley slides\Ch 5-9, FM\Chapter  7\Media\Illustrations\py_07_un16_300dp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1676400"/>
            <a:ext cx="76962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46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+mj-cs"/>
              </a:rPr>
              <a:t>File Operations</a:t>
            </a:r>
          </a:p>
        </p:txBody>
      </p:sp>
      <p:pic>
        <p:nvPicPr>
          <p:cNvPr id="61442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295400"/>
            <a:ext cx="8408988" cy="4876800"/>
          </a:xfrm>
        </p:spPr>
      </p:pic>
      <p:sp>
        <p:nvSpPr>
          <p:cNvPr id="61444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5154383-034C-4DC5-A247-2BA319AF9DC8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47</a:t>
            </a:fld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a typeface="ＭＳ Ｐゴシック" charset="0"/>
              </a:rPr>
              <a:t>A Second Example</a:t>
            </a:r>
            <a:endParaRPr lang="en-US" dirty="0">
              <a:ea typeface="ＭＳ Ｐゴシック" charset="0"/>
            </a:endParaRPr>
          </a:p>
        </p:txBody>
      </p:sp>
      <p:sp>
        <p:nvSpPr>
          <p:cNvPr id="7577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Open the </a:t>
            </a:r>
            <a:r>
              <a:rPr lang="en-US" altLang="en-US" smtClean="0"/>
              <a:t>file items.py</a:t>
            </a:r>
            <a:endParaRPr lang="en-US" altLang="en-US" dirty="0" smtClean="0"/>
          </a:p>
        </p:txBody>
      </p:sp>
      <p:sp>
        <p:nvSpPr>
          <p:cNvPr id="75779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B4D889A-7B4E-406C-99C6-0224974344C6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48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Command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Line Arguments</a:t>
            </a:r>
            <a:endParaRPr lang="en-US" dirty="0">
              <a:ea typeface="ＭＳ Ｐゴシック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fontAlgn="auto">
              <a:buFont typeface="Arial" charset="0"/>
              <a:buNone/>
              <a:defRPr/>
            </a:pPr>
            <a:r>
              <a:rPr lang="en-US" smtClean="0">
                <a:ea typeface="ＭＳ Ｐゴシック" charset="0"/>
              </a:rPr>
              <a:t>Section 7.3</a:t>
            </a:r>
            <a:endParaRPr lang="en-US" dirty="0">
              <a:ea typeface="ＭＳ Ｐゴシック" charset="0"/>
            </a:endParaRPr>
          </a:p>
        </p:txBody>
      </p:sp>
      <p:sp>
        <p:nvSpPr>
          <p:cNvPr id="18436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933C0E2-2F44-4510-AB00-96E839786954}" type="datetime1">
              <a:rPr lang="en-US" altLang="en-US" smtClean="0">
                <a:solidFill>
                  <a:schemeClr val="accent1"/>
                </a:solidFill>
              </a:rPr>
              <a:t>11/15/2015</a:t>
            </a:fld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A32480-9A40-478D-A920-65566AABF4F6}" type="slidenum">
              <a:rPr lang="en-US" altLang="en-US" smtClean="0"/>
              <a:pPr/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8179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Command Line Arguments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have multiple ways to execute a program depending on the operating system (and the version of the Operating system) and the python development used </a:t>
            </a:r>
          </a:p>
          <a:p>
            <a:pPr lvl="1"/>
            <a:r>
              <a:rPr lang="en-US" sz="2000" dirty="0" smtClean="0"/>
              <a:t>We commonly use Wing (our development environment) to run our program</a:t>
            </a:r>
          </a:p>
          <a:p>
            <a:pPr lvl="1"/>
            <a:r>
              <a:rPr lang="en-US" sz="2000" dirty="0" smtClean="0"/>
              <a:t>We </a:t>
            </a:r>
            <a:r>
              <a:rPr lang="en-US" sz="2000" i="1" dirty="0" smtClean="0"/>
              <a:t>could</a:t>
            </a:r>
            <a:r>
              <a:rPr lang="en-US" sz="2000" dirty="0" smtClean="0"/>
              <a:t> also run the program by typing the name of a program in a terminal window</a:t>
            </a:r>
          </a:p>
          <a:p>
            <a:pPr lvl="2"/>
            <a:r>
              <a:rPr lang="en-US" sz="2000" dirty="0" smtClean="0"/>
              <a:t>If we use this method we can pass </a:t>
            </a:r>
            <a:r>
              <a:rPr lang="en-US" sz="2000" b="1" dirty="0" smtClean="0"/>
              <a:t>command line arguments </a:t>
            </a:r>
            <a:r>
              <a:rPr lang="en-US" sz="2000" dirty="0" smtClean="0"/>
              <a:t>to the program</a:t>
            </a:r>
          </a:p>
          <a:p>
            <a:pPr lvl="2"/>
            <a:r>
              <a:rPr lang="en-US" sz="2000" dirty="0" smtClean="0"/>
              <a:t>The command line arguments are passed to the program as strings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375C5-20FF-4758-B649-26768AB7C20C}" type="datetime1">
              <a:rPr lang="en-US" altLang="en-US" smtClean="0"/>
              <a:t>11/15/2015</a:t>
            </a:fld>
            <a:endParaRPr lang="en-US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780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Command Line Arguments</a:t>
            </a:r>
          </a:p>
        </p:txBody>
      </p:sp>
      <p:sp>
        <p:nvSpPr>
          <p:cNvPr id="19459" name="Content Placeholder 6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1331911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200"/>
              </a:spcBef>
            </a:pPr>
            <a:r>
              <a:rPr lang="en-US" altLang="en-US" dirty="0" smtClean="0"/>
              <a:t>Text based programs can be </a:t>
            </a:r>
            <a:r>
              <a:rPr lang="ja-JP" altLang="en-US" dirty="0" smtClean="0"/>
              <a:t>‘</a:t>
            </a:r>
            <a:r>
              <a:rPr lang="en-US" altLang="ja-JP" dirty="0" smtClean="0"/>
              <a:t>parameterized</a:t>
            </a:r>
            <a:r>
              <a:rPr lang="ja-JP" altLang="en-US" dirty="0" smtClean="0"/>
              <a:t>’</a:t>
            </a:r>
            <a:r>
              <a:rPr lang="en-US" altLang="ja-JP" dirty="0" smtClean="0"/>
              <a:t> by using command line arguments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Filename and options are often typed after the program name at a command prompt:</a:t>
            </a:r>
          </a:p>
        </p:txBody>
      </p:sp>
      <p:sp>
        <p:nvSpPr>
          <p:cNvPr id="19460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BC637D9-6978-4917-A68C-A18DFE9E4F2B}" type="datetime1">
              <a:rPr lang="en-US" altLang="en-US" smtClean="0">
                <a:solidFill>
                  <a:schemeClr val="accent1"/>
                </a:solidFill>
              </a:rPr>
              <a:t>11/15/2015</a:t>
            </a:fld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595688" y="3178175"/>
            <a:ext cx="1828800" cy="479425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def main():</a:t>
            </a:r>
            <a:endParaRPr lang="en-US" b="1" kern="0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143000" y="2362200"/>
            <a:ext cx="5638800" cy="381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&gt;</a:t>
            </a:r>
            <a:r>
              <a:rPr lang="en-US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python </a:t>
            </a:r>
            <a:r>
              <a:rPr lang="en-US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program.py 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-</a:t>
            </a:r>
            <a:r>
              <a:rPr lang="en-US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v </a:t>
            </a:r>
            <a:r>
              <a:rPr lang="en-US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input.dat</a:t>
            </a:r>
            <a:endParaRPr lang="en-US" b="1" kern="0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3802063" y="2806700"/>
            <a:ext cx="609600" cy="457200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0" name="Down Arrow 9"/>
          <p:cNvSpPr/>
          <p:nvPr/>
        </p:nvSpPr>
        <p:spPr>
          <a:xfrm>
            <a:off x="4510088" y="2806700"/>
            <a:ext cx="609600" cy="457200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2057400" y="4318000"/>
            <a:ext cx="3200400" cy="1016000"/>
          </a:xfrm>
          <a:prstGeom prst="rect">
            <a:avLst/>
          </a:prstGeom>
          <a:solidFill>
            <a:srgbClr val="FAE1A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argv</a:t>
            </a:r>
            <a:r>
              <a:rPr lang="en-US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[0]: </a:t>
            </a:r>
            <a:r>
              <a:rPr lang="en-US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en-US" sz="2000" smtClean="0">
                <a:latin typeface="Consolas" panose="020B0609020204030204" pitchFamily="49" charset="0"/>
                <a:cs typeface="Consolas" panose="020B0609020204030204" pitchFamily="49" charset="0"/>
              </a:rPr>
              <a:t>program.py</a:t>
            </a:r>
            <a:r>
              <a:rPr lang="en-US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 eaLnBrk="1" hangingPunct="1"/>
            <a:r>
              <a:rPr lang="en-US" altLang="en-US" sz="2000" dirty="0" err="1">
                <a:latin typeface="Consolas" panose="020B0609020204030204" pitchFamily="49" charset="0"/>
              </a:rPr>
              <a:t>argv</a:t>
            </a:r>
            <a:r>
              <a:rPr lang="en-US" altLang="en-US" sz="2000" dirty="0">
                <a:latin typeface="Consolas" panose="020B0609020204030204" pitchFamily="49" charset="0"/>
              </a:rPr>
              <a:t>[1]: "-v"</a:t>
            </a:r>
          </a:p>
          <a:p>
            <a:pPr eaLnBrk="1" hangingPunct="1"/>
            <a:r>
              <a:rPr lang="en-US" altLang="en-US" sz="2000" dirty="0" err="1">
                <a:latin typeface="Consolas" panose="020B0609020204030204" pitchFamily="49" charset="0"/>
              </a:rPr>
              <a:t>argv</a:t>
            </a:r>
            <a:r>
              <a:rPr lang="en-US" altLang="en-US" sz="2000" dirty="0">
                <a:latin typeface="Consolas" panose="020B0609020204030204" pitchFamily="49" charset="0"/>
              </a:rPr>
              <a:t>[2]: </a:t>
            </a:r>
            <a:r>
              <a:rPr lang="en-US" altLang="en-US" sz="2000">
                <a:latin typeface="Consolas" panose="020B0609020204030204" pitchFamily="49" charset="0"/>
              </a:rPr>
              <a:t>"</a:t>
            </a:r>
            <a:r>
              <a:rPr lang="en-US" altLang="en-US" sz="2000" smtClean="0">
                <a:latin typeface="Consolas" panose="020B0609020204030204" pitchFamily="49" charset="0"/>
              </a:rPr>
              <a:t>input.dat</a:t>
            </a:r>
            <a:r>
              <a:rPr lang="en-US" altLang="en-US" sz="2000" dirty="0"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51</a:t>
            </a:fld>
            <a:endParaRPr lang="en-US" altLang="en-US"/>
          </a:p>
        </p:txBody>
      </p:sp>
      <p:sp>
        <p:nvSpPr>
          <p:cNvPr id="11" name="Content Placeholder 6"/>
          <p:cNvSpPr txBox="1">
            <a:spLocks/>
          </p:cNvSpPr>
          <p:nvPr/>
        </p:nvSpPr>
        <p:spPr bwMode="auto">
          <a:xfrm>
            <a:off x="816463" y="3731417"/>
            <a:ext cx="7543800" cy="71437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0000"/>
              </a:lnSpc>
            </a:pPr>
            <a:r>
              <a:rPr lang="en-US" altLang="en-US" sz="2000" dirty="0" smtClean="0"/>
              <a:t>Python provides access to them as a list, “</a:t>
            </a:r>
            <a:r>
              <a:rPr lang="en-US" altLang="ja-JP" sz="2000" dirty="0" err="1" smtClean="0"/>
              <a:t>argv</a:t>
            </a:r>
            <a:r>
              <a:rPr lang="en-US" altLang="ja-JP" sz="2000" dirty="0" smtClean="0"/>
              <a:t>”,</a:t>
            </a:r>
            <a:r>
              <a:rPr lang="en-US" altLang="en-US" sz="2000" dirty="0" smtClean="0"/>
              <a:t> of </a:t>
            </a:r>
            <a:r>
              <a:rPr lang="en-US" altLang="en-US" sz="2000" dirty="0" smtClean="0">
                <a:cs typeface="Consolas" panose="020B0609020204030204" pitchFamily="49" charset="0"/>
              </a:rPr>
              <a:t>Strings</a:t>
            </a:r>
            <a:r>
              <a:rPr lang="en-US" altLang="en-US" sz="2000" dirty="0" smtClean="0"/>
              <a:t> as a parameter to the program</a:t>
            </a:r>
            <a:r>
              <a:rPr lang="en-US" altLang="ja-JP" sz="2000" dirty="0" smtClean="0"/>
              <a:t>, in this case main()</a:t>
            </a:r>
            <a:endParaRPr lang="en-US" altLang="en-US" sz="2000" dirty="0" smtClean="0"/>
          </a:p>
        </p:txBody>
      </p:sp>
      <p:sp>
        <p:nvSpPr>
          <p:cNvPr id="12" name="Content Placeholder 6"/>
          <p:cNvSpPr txBox="1">
            <a:spLocks/>
          </p:cNvSpPr>
          <p:nvPr/>
        </p:nvSpPr>
        <p:spPr bwMode="auto">
          <a:xfrm>
            <a:off x="838200" y="5491163"/>
            <a:ext cx="7543800" cy="604837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0000"/>
              </a:lnSpc>
            </a:pPr>
            <a:r>
              <a:rPr lang="en-US" altLang="en-US" sz="2000" dirty="0" smtClean="0"/>
              <a:t>Options (s</a:t>
            </a:r>
            <a:r>
              <a:rPr lang="en-US" altLang="ja-JP" sz="2000" dirty="0" smtClean="0"/>
              <a:t>witches) traditionally begin with a dash </a:t>
            </a:r>
            <a:r>
              <a:rPr lang="ja-JP" altLang="en-US" sz="2000" dirty="0" smtClean="0"/>
              <a:t>‘</a:t>
            </a:r>
            <a:r>
              <a:rPr lang="en-US" altLang="ja-JP" sz="2000" dirty="0" smtClean="0"/>
              <a:t>-</a:t>
            </a:r>
            <a:r>
              <a:rPr lang="ja-JP" altLang="en-US" sz="2000" dirty="0" smtClean="0"/>
              <a:t>’</a:t>
            </a:r>
            <a:endParaRPr lang="en-US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77116319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When to use Command Line Arguments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this class we are going to use an interactive user interface</a:t>
            </a:r>
          </a:p>
          <a:p>
            <a:pPr lvl="1"/>
            <a:r>
              <a:rPr lang="en-US" sz="2000" dirty="0" smtClean="0"/>
              <a:t>The user interface guides the user and is suited to the program we are writing</a:t>
            </a:r>
          </a:p>
          <a:p>
            <a:pPr lvl="1"/>
            <a:r>
              <a:rPr lang="en-US" sz="2000" dirty="0" smtClean="0"/>
              <a:t>The command line interface has an advantage when you need to automate the execution of a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3D577-719E-4D13-833F-EFC4451F19F7}" type="datetime1">
              <a:rPr lang="en-US" altLang="en-US" smtClean="0"/>
              <a:t>11/15/2015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708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a typeface="ＭＳ Ｐゴシック" charset="0"/>
              </a:rPr>
              <a:t>Processing Text Files Example</a:t>
            </a:r>
            <a:endParaRPr lang="en-US" dirty="0">
              <a:ea typeface="ＭＳ Ｐゴシック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  <a:defRPr/>
            </a:pPr>
            <a:r>
              <a:rPr lang="en-US" dirty="0" smtClean="0">
                <a:ea typeface="ＭＳ Ｐゴシック" charset="0"/>
              </a:rPr>
              <a:t>Page 360</a:t>
            </a:r>
            <a:endParaRPr lang="en-US" dirty="0">
              <a:ea typeface="ＭＳ Ｐゴシック" charset="0"/>
            </a:endParaRPr>
          </a:p>
        </p:txBody>
      </p:sp>
      <p:sp>
        <p:nvSpPr>
          <p:cNvPr id="60419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BA1AF8A-F70A-4221-B474-21E459FC8D67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A32480-9A40-478D-A920-65566AABF4F6}" type="slidenum">
              <a:rPr lang="en-US" altLang="en-US" smtClean="0"/>
              <a:pPr/>
              <a:t>53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67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Steps to Processing Text Files</a:t>
            </a:r>
          </a:p>
        </p:txBody>
      </p:sp>
      <p:sp>
        <p:nvSpPr>
          <p:cNvPr id="1741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cs typeface="Arial" panose="020B0604020202020204" pitchFamily="34" charset="0"/>
              </a:rPr>
              <a:t>Problem Statement:</a:t>
            </a:r>
          </a:p>
          <a:p>
            <a:pPr eaLnBrk="1" hangingPunct="1"/>
            <a:r>
              <a:rPr lang="en-US" altLang="en-US" dirty="0" smtClean="0">
                <a:cs typeface="Arial" panose="020B0604020202020204" pitchFamily="34" charset="0"/>
              </a:rPr>
              <a:t>Read two country data files, </a:t>
            </a:r>
            <a:r>
              <a:rPr lang="en-US" alt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worldpop.txt</a:t>
            </a:r>
            <a:r>
              <a:rPr lang="en-US" altLang="en-US" dirty="0" smtClean="0">
                <a:cs typeface="Arial" panose="020B0604020202020204" pitchFamily="34" charset="0"/>
              </a:rPr>
              <a:t> and </a:t>
            </a:r>
            <a:r>
              <a:rPr lang="en-US" alt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worldarea.txt</a:t>
            </a:r>
            <a:r>
              <a:rPr lang="en-US" altLang="en-US" dirty="0" smtClean="0">
                <a:cs typeface="Arial" panose="020B0604020202020204" pitchFamily="34" charset="0"/>
              </a:rPr>
              <a:t>  </a:t>
            </a:r>
          </a:p>
          <a:p>
            <a:pPr eaLnBrk="1" hangingPunct="1"/>
            <a:r>
              <a:rPr lang="en-US" altLang="en-US" dirty="0" smtClean="0">
                <a:cs typeface="Arial" panose="020B0604020202020204" pitchFamily="34" charset="0"/>
              </a:rPr>
              <a:t>Write a file </a:t>
            </a:r>
            <a:r>
              <a:rPr lang="en-US" alt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world_pop_density.tx</a:t>
            </a:r>
            <a:r>
              <a:rPr lang="en-US" altLang="en-US" dirty="0" smtClean="0">
                <a:cs typeface="Arial" panose="020B0604020202020204" pitchFamily="34" charset="0"/>
              </a:rPr>
              <a:t>t that contains country names and population densities with the country names aligned left and the numbers aligned right</a:t>
            </a:r>
          </a:p>
          <a:p>
            <a:pPr eaLnBrk="1" hangingPunct="1"/>
            <a:endParaRPr lang="en-US" altLang="en-US" dirty="0" smtClean="0"/>
          </a:p>
        </p:txBody>
      </p:sp>
      <p:sp>
        <p:nvSpPr>
          <p:cNvPr id="17411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FF0B893-77D2-49E2-BDE7-561922F858A5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7" name="Content Placeholder 8"/>
          <p:cNvSpPr txBox="1">
            <a:spLocks/>
          </p:cNvSpPr>
          <p:nvPr/>
        </p:nvSpPr>
        <p:spPr bwMode="auto">
          <a:xfrm>
            <a:off x="1190625" y="3352800"/>
            <a:ext cx="2971800" cy="1981200"/>
          </a:xfrm>
          <a:prstGeom prst="rect">
            <a:avLst/>
          </a:prstGeom>
          <a:solidFill>
            <a:srgbClr val="FAE1A4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it-IT" sz="2000" kern="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Afghanistan      	     </a:t>
            </a:r>
            <a:r>
              <a:rPr lang="it-IT" sz="2000" kern="0" dirty="0" smtClean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50.56</a:t>
            </a:r>
            <a:endParaRPr lang="it-IT" sz="2000" kern="0" dirty="0"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it-IT" sz="2000" kern="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Akrotiri        	   </a:t>
            </a:r>
            <a:r>
              <a:rPr lang="it-IT" sz="2000" kern="0" dirty="0" smtClean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127.64</a:t>
            </a:r>
            <a:endParaRPr lang="it-IT" sz="2000" kern="0" dirty="0"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it-IT" sz="2000" kern="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Albania         	   </a:t>
            </a:r>
            <a:r>
              <a:rPr lang="it-IT" sz="2000" kern="0" dirty="0" smtClean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125.91</a:t>
            </a:r>
            <a:endParaRPr lang="it-IT" sz="2000" kern="0" dirty="0"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it-IT" sz="2000" kern="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Algria           	     </a:t>
            </a:r>
            <a:r>
              <a:rPr lang="it-IT" sz="2000" kern="0" dirty="0" smtClean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14.18</a:t>
            </a:r>
            <a:endParaRPr lang="it-IT" sz="2000" kern="0" dirty="0"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it-IT" sz="2000" kern="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American Samoa    </a:t>
            </a:r>
            <a:r>
              <a:rPr lang="it-IT" sz="2000" kern="0" dirty="0" smtClean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288.92</a:t>
            </a:r>
            <a:endParaRPr lang="it-IT" sz="2000" kern="0" dirty="0"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it-IT" sz="2400" kern="0" dirty="0" smtClean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. . .</a:t>
            </a:r>
            <a:endParaRPr lang="en-US" sz="2400" kern="0" dirty="0"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017604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Six Steps to Processing Te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xt Files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Calibri Light" panose="020F0302020204030204" pitchFamily="34" charset="0"/>
              <a:buAutoNum type="arabicPeriod"/>
            </a:pPr>
            <a:r>
              <a:rPr lang="en-US" altLang="en-US" dirty="0" smtClean="0"/>
              <a:t>Understand the Processing Task</a:t>
            </a:r>
          </a:p>
          <a:p>
            <a:pPr marL="461963" lvl="1" indent="-233363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Calibri Light" panose="020F0302020204030204" pitchFamily="34" charset="0"/>
              <a:buAutoNum type="romanLcPeriod"/>
            </a:pPr>
            <a:r>
              <a:rPr lang="en-US" altLang="en-US" dirty="0" smtClean="0"/>
              <a:t>Process the data</a:t>
            </a:r>
            <a:r>
              <a:rPr lang="ja-JP" altLang="en-US" dirty="0"/>
              <a:t> </a:t>
            </a:r>
            <a:r>
              <a:rPr lang="en-US" altLang="ja-JP" dirty="0" smtClean="0"/>
              <a:t>“on the go” or store data and then process?</a:t>
            </a:r>
          </a:p>
          <a:p>
            <a:pPr marL="457200" indent="-457200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Calibri Light" panose="020F0302020204030204" pitchFamily="34" charset="0"/>
              <a:buAutoNum type="arabicPeriod"/>
            </a:pPr>
            <a:r>
              <a:rPr lang="en-US" altLang="en-US" dirty="0" smtClean="0"/>
              <a:t>Determine which files you need to read and write</a:t>
            </a:r>
          </a:p>
          <a:p>
            <a:pPr marL="457200" indent="-457200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Calibri Light" panose="020F0302020204030204" pitchFamily="34" charset="0"/>
              <a:buAutoNum type="arabicPeriod"/>
            </a:pPr>
            <a:r>
              <a:rPr lang="en-US" altLang="en-US" dirty="0" smtClean="0"/>
              <a:t>Choose a mechanism for obtaining the file names</a:t>
            </a:r>
          </a:p>
          <a:p>
            <a:pPr marL="457200" indent="-457200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Calibri Light" panose="020F0302020204030204" pitchFamily="34" charset="0"/>
              <a:buAutoNum type="arabicPeriod"/>
            </a:pPr>
            <a:r>
              <a:rPr lang="en-US" altLang="en-US" dirty="0" smtClean="0"/>
              <a:t>Choose between iterating over the file or reading individual lines</a:t>
            </a:r>
          </a:p>
          <a:p>
            <a:pPr marL="461963" lvl="1" indent="-233363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Calibri Light" panose="020F0302020204030204" pitchFamily="34" charset="0"/>
              <a:buAutoNum type="romanLcPeriod"/>
            </a:pPr>
            <a:r>
              <a:rPr lang="en-US" altLang="en-US" dirty="0" smtClean="0"/>
              <a:t>If all data is on one line, normally use line input</a:t>
            </a:r>
          </a:p>
          <a:p>
            <a:pPr marL="457200" indent="-457200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Calibri Light" panose="020F0302020204030204" pitchFamily="34" charset="0"/>
              <a:buAutoNum type="arabicPeriod"/>
            </a:pPr>
            <a:r>
              <a:rPr lang="en-US" altLang="en-US" dirty="0" smtClean="0"/>
              <a:t>With line-oriented input, extract required data</a:t>
            </a:r>
          </a:p>
          <a:p>
            <a:pPr marL="461963" lvl="1" indent="-233363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Calibri Light" panose="020F0302020204030204" pitchFamily="34" charset="0"/>
              <a:buAutoNum type="romanLcPeriod"/>
            </a:pPr>
            <a:r>
              <a:rPr lang="en-US" altLang="en-US" dirty="0" smtClean="0"/>
              <a:t>Examine the line and plan for whitespace, delimiters…</a:t>
            </a:r>
          </a:p>
          <a:p>
            <a:pPr marL="457200" indent="-457200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Calibri Light" panose="020F0302020204030204" pitchFamily="34" charset="0"/>
              <a:buAutoNum type="arabicPeriod"/>
            </a:pPr>
            <a:r>
              <a:rPr lang="en-US" altLang="en-US" dirty="0" smtClean="0"/>
              <a:t>Use functions to factor out common tasks</a:t>
            </a:r>
          </a:p>
        </p:txBody>
      </p:sp>
      <p:sp>
        <p:nvSpPr>
          <p:cNvPr id="18435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D6B8EB7-CFFB-438F-953D-9DA578E9D74A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980455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Processing Text Files: Pseudocode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70000"/>
              </a:lnSpc>
              <a:spcBef>
                <a:spcPts val="200"/>
              </a:spcBef>
              <a:buFont typeface="Arial" charset="0"/>
              <a:buNone/>
              <a:defRPr/>
            </a:pPr>
            <a:r>
              <a:rPr lang="en-US" dirty="0">
                <a:ea typeface="ＭＳ Ｐゴシック" charset="0"/>
              </a:rPr>
              <a:t>Step 1:  Understand the Task</a:t>
            </a:r>
          </a:p>
          <a:p>
            <a:pPr eaLnBrk="1" hangingPunct="1">
              <a:lnSpc>
                <a:spcPct val="70000"/>
              </a:lnSpc>
              <a:spcBef>
                <a:spcPts val="600"/>
              </a:spcBef>
              <a:buFont typeface="Arial" charset="0"/>
              <a:buChar char="•"/>
              <a:defRPr/>
            </a:pPr>
            <a:r>
              <a:rPr lang="en-US" dirty="0">
                <a:ea typeface="ＭＳ Ｐゴシック" charset="0"/>
              </a:rPr>
              <a:t>While there are more lines to be read</a:t>
            </a:r>
          </a:p>
          <a:p>
            <a:pPr lvl="1" indent="0" eaLnBrk="1" hangingPunct="1">
              <a:lnSpc>
                <a:spcPct val="70000"/>
              </a:lnSpc>
              <a:buFont typeface="Wingdings" charset="0"/>
              <a:buNone/>
              <a:defRPr/>
            </a:pPr>
            <a:r>
              <a:rPr lang="en-US" sz="2000" dirty="0">
                <a:ea typeface="ＭＳ Ｐゴシック" charset="0"/>
              </a:rPr>
              <a:t>   Read a line from each file</a:t>
            </a:r>
          </a:p>
          <a:p>
            <a:pPr lvl="1" indent="0" eaLnBrk="1" hangingPunct="1">
              <a:lnSpc>
                <a:spcPct val="70000"/>
              </a:lnSpc>
              <a:buFont typeface="Wingdings" charset="0"/>
              <a:buNone/>
              <a:defRPr/>
            </a:pPr>
            <a:r>
              <a:rPr lang="en-US" sz="2000" dirty="0">
                <a:ea typeface="ＭＳ Ｐゴシック" charset="0"/>
              </a:rPr>
              <a:t>   Extract the country name</a:t>
            </a:r>
          </a:p>
          <a:p>
            <a:pPr lvl="1" indent="0" eaLnBrk="1" hangingPunct="1">
              <a:lnSpc>
                <a:spcPct val="70000"/>
              </a:lnSpc>
              <a:buFont typeface="Wingdings" charset="0"/>
              <a:buNone/>
              <a:defRPr/>
            </a:pPr>
            <a:r>
              <a:rPr lang="en-US" sz="2000" dirty="0">
                <a:ea typeface="ＭＳ Ｐゴシック" charset="0"/>
              </a:rPr>
              <a:t>   population = number following the country name in  </a:t>
            </a:r>
            <a:br>
              <a:rPr lang="en-US" sz="2000" dirty="0">
                <a:ea typeface="ＭＳ Ｐゴシック" charset="0"/>
              </a:rPr>
            </a:br>
            <a:r>
              <a:rPr lang="en-US" sz="2000" dirty="0">
                <a:ea typeface="ＭＳ Ｐゴシック" charset="0"/>
              </a:rPr>
              <a:t>      the line from the first file</a:t>
            </a:r>
          </a:p>
          <a:p>
            <a:pPr lvl="1" indent="0" eaLnBrk="1" hangingPunct="1">
              <a:lnSpc>
                <a:spcPct val="70000"/>
              </a:lnSpc>
              <a:buFont typeface="Wingdings" charset="0"/>
              <a:buNone/>
              <a:defRPr/>
            </a:pPr>
            <a:r>
              <a:rPr lang="en-US" sz="2000" dirty="0">
                <a:ea typeface="ＭＳ Ｐゴシック" charset="0"/>
              </a:rPr>
              <a:t>   area = number following the country name in the line   </a:t>
            </a:r>
            <a:br>
              <a:rPr lang="en-US" sz="2000" dirty="0">
                <a:ea typeface="ＭＳ Ｐゴシック" charset="0"/>
              </a:rPr>
            </a:br>
            <a:r>
              <a:rPr lang="en-US" sz="2000" dirty="0">
                <a:ea typeface="ＭＳ Ｐゴシック" charset="0"/>
              </a:rPr>
              <a:t>      from the second file</a:t>
            </a:r>
          </a:p>
          <a:p>
            <a:pPr lvl="1" indent="0" eaLnBrk="1" hangingPunct="1">
              <a:lnSpc>
                <a:spcPct val="70000"/>
              </a:lnSpc>
              <a:buFont typeface="Wingdings" charset="0"/>
              <a:buNone/>
              <a:defRPr/>
            </a:pPr>
            <a:r>
              <a:rPr lang="en-US" sz="2000" dirty="0">
                <a:ea typeface="ＭＳ Ｐゴシック" charset="0"/>
              </a:rPr>
              <a:t>   If area != 0</a:t>
            </a:r>
          </a:p>
          <a:p>
            <a:pPr marL="914400" lvl="2" indent="0" eaLnBrk="1" hangingPunct="1">
              <a:lnSpc>
                <a:spcPct val="70000"/>
              </a:lnSpc>
              <a:buFontTx/>
              <a:buNone/>
              <a:defRPr/>
            </a:pPr>
            <a:r>
              <a:rPr lang="en-US" sz="2000" dirty="0">
                <a:ea typeface="ＭＳ Ｐゴシック" charset="0"/>
              </a:rPr>
              <a:t>   density = population / area</a:t>
            </a:r>
          </a:p>
          <a:p>
            <a:pPr lvl="1" indent="0" eaLnBrk="1" hangingPunct="1">
              <a:lnSpc>
                <a:spcPct val="70000"/>
              </a:lnSpc>
              <a:buFont typeface="Wingdings" charset="0"/>
              <a:buNone/>
              <a:defRPr/>
            </a:pPr>
            <a:r>
              <a:rPr lang="en-US" sz="2000" dirty="0">
                <a:ea typeface="ＭＳ Ｐゴシック" charset="0"/>
              </a:rPr>
              <a:t>   Print country name and </a:t>
            </a:r>
            <a:r>
              <a:rPr lang="en-US" sz="2000" dirty="0" smtClean="0">
                <a:ea typeface="ＭＳ Ｐゴシック" charset="0"/>
              </a:rPr>
              <a:t>density</a:t>
            </a:r>
            <a:endParaRPr lang="en-US" sz="2000" dirty="0">
              <a:ea typeface="ＭＳ Ｐゴシック" charset="0"/>
            </a:endParaRPr>
          </a:p>
        </p:txBody>
      </p:sp>
      <p:sp>
        <p:nvSpPr>
          <p:cNvPr id="19459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4B73B91-9E6B-4B21-9EE1-374EBB10E728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7" name="Content Placeholder 8"/>
          <p:cNvSpPr txBox="1">
            <a:spLocks/>
          </p:cNvSpPr>
          <p:nvPr/>
        </p:nvSpPr>
        <p:spPr bwMode="auto">
          <a:xfrm>
            <a:off x="4953000" y="4343400"/>
            <a:ext cx="2971800" cy="1600200"/>
          </a:xfrm>
          <a:prstGeom prst="rect">
            <a:avLst/>
          </a:prstGeom>
          <a:solidFill>
            <a:srgbClr val="FAE1A4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it-IT" sz="2000" kern="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Afghanistan      	     </a:t>
            </a:r>
            <a:r>
              <a:rPr lang="it-IT" sz="2000" kern="0" dirty="0" smtClean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50.56</a:t>
            </a:r>
            <a:endParaRPr lang="it-IT" sz="2000" kern="0" dirty="0"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it-IT" sz="2000" kern="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Akrotiri        	   </a:t>
            </a:r>
            <a:r>
              <a:rPr lang="it-IT" sz="2000" kern="0" dirty="0" smtClean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127.64</a:t>
            </a:r>
            <a:endParaRPr lang="it-IT" sz="2000" kern="0" dirty="0"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it-IT" sz="2000" kern="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Albania         	   </a:t>
            </a:r>
            <a:r>
              <a:rPr lang="it-IT" sz="2000" kern="0" dirty="0" smtClean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125.91</a:t>
            </a:r>
            <a:endParaRPr lang="it-IT" sz="2000" kern="0" dirty="0"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it-IT" sz="2000" kern="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Algria           	     </a:t>
            </a:r>
            <a:r>
              <a:rPr lang="it-IT" sz="2000" kern="0" dirty="0" smtClean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14.18</a:t>
            </a:r>
            <a:endParaRPr lang="it-IT" sz="2000" kern="0" dirty="0"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it-IT" sz="2000" kern="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American Samoa    </a:t>
            </a:r>
            <a:r>
              <a:rPr lang="it-IT" sz="2000" kern="0" dirty="0" smtClean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288.92</a:t>
            </a:r>
            <a:endParaRPr lang="it-IT" sz="2000" kern="0" dirty="0"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56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367076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a typeface="ＭＳ Ｐゴシック" charset="0"/>
              </a:rPr>
              <a:t>Step Two</a:t>
            </a:r>
            <a:endParaRPr lang="en-US" dirty="0">
              <a:ea typeface="ＭＳ Ｐゴシック" charset="0"/>
            </a:endParaRPr>
          </a:p>
        </p:txBody>
      </p:sp>
      <p:sp>
        <p:nvSpPr>
          <p:cNvPr id="614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Determine the file you need to read and write</a:t>
            </a:r>
          </a:p>
          <a:p>
            <a:pPr lvl="1" eaLnBrk="1" hangingPunct="1"/>
            <a:r>
              <a:rPr lang="en-US" altLang="en-US" sz="2000" dirty="0" smtClean="0"/>
              <a:t>There are two input files:</a:t>
            </a:r>
          </a:p>
          <a:p>
            <a:pPr lvl="2" eaLnBrk="1" hangingPunct="1"/>
            <a:r>
              <a:rPr lang="en-US" altLang="en-US" sz="2000" dirty="0" smtClean="0"/>
              <a:t>worldpop.txt</a:t>
            </a:r>
          </a:p>
          <a:p>
            <a:pPr lvl="2" eaLnBrk="1" hangingPunct="1"/>
            <a:r>
              <a:rPr lang="en-US" altLang="en-US" sz="2000" dirty="0" smtClean="0"/>
              <a:t>worldarea.txt</a:t>
            </a:r>
          </a:p>
          <a:p>
            <a:pPr lvl="1" eaLnBrk="1" hangingPunct="1"/>
            <a:r>
              <a:rPr lang="en-US" altLang="en-US" sz="2000" dirty="0" smtClean="0"/>
              <a:t>There is one output file:</a:t>
            </a:r>
          </a:p>
          <a:p>
            <a:pPr lvl="2" eaLnBrk="1" hangingPunct="1"/>
            <a:r>
              <a:rPr lang="en-US" altLang="en-US" sz="2000" dirty="0" smtClean="0"/>
              <a:t>world_pop_density.txt</a:t>
            </a:r>
          </a:p>
          <a:p>
            <a:pPr lvl="2" eaLnBrk="1" hangingPunct="1"/>
            <a:endParaRPr lang="en-US" altLang="en-US" dirty="0" smtClean="0"/>
          </a:p>
        </p:txBody>
      </p:sp>
      <p:sp>
        <p:nvSpPr>
          <p:cNvPr id="61443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2DEE56F-D022-4F41-A3E8-97FBDA05F5FF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57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6577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a typeface="ＭＳ Ｐゴシック" charset="0"/>
              </a:rPr>
              <a:t>Step Three</a:t>
            </a:r>
            <a:endParaRPr lang="en-US" dirty="0">
              <a:ea typeface="ＭＳ Ｐゴシック" charset="0"/>
            </a:endParaRPr>
          </a:p>
        </p:txBody>
      </p:sp>
      <p:sp>
        <p:nvSpPr>
          <p:cNvPr id="624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Choose a mechanism for obtaining the file names</a:t>
            </a:r>
          </a:p>
          <a:p>
            <a:pPr eaLnBrk="1" hangingPunct="1"/>
            <a:r>
              <a:rPr lang="en-US" altLang="en-US" dirty="0" smtClean="0"/>
              <a:t>We have three options:</a:t>
            </a:r>
          </a:p>
          <a:p>
            <a:pPr lvl="1" eaLnBrk="1" hangingPunct="1"/>
            <a:r>
              <a:rPr lang="en-US" altLang="en-US" sz="2000" dirty="0" smtClean="0"/>
              <a:t>Hardcode the filename as a constant</a:t>
            </a:r>
          </a:p>
          <a:p>
            <a:pPr lvl="1" eaLnBrk="1" hangingPunct="1"/>
            <a:r>
              <a:rPr lang="en-US" altLang="en-US" sz="2000" dirty="0" smtClean="0"/>
              <a:t>Prompt the user</a:t>
            </a:r>
          </a:p>
          <a:p>
            <a:pPr lvl="1" eaLnBrk="1" hangingPunct="1"/>
            <a:r>
              <a:rPr lang="en-US" altLang="en-US" sz="2000" dirty="0" smtClean="0"/>
              <a:t>Use a command line argument</a:t>
            </a:r>
          </a:p>
          <a:p>
            <a:pPr eaLnBrk="1" hangingPunct="1"/>
            <a:r>
              <a:rPr lang="en-US" altLang="en-US" dirty="0" smtClean="0"/>
              <a:t>We will use hard-coded files names </a:t>
            </a:r>
          </a:p>
          <a:p>
            <a:pPr lvl="1" eaLnBrk="1" hangingPunct="1"/>
            <a:r>
              <a:rPr lang="en-US" altLang="en-US" sz="2000" dirty="0" smtClean="0"/>
              <a:t>The file names are constant in this example</a:t>
            </a:r>
          </a:p>
        </p:txBody>
      </p:sp>
      <p:sp>
        <p:nvSpPr>
          <p:cNvPr id="62467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FD47921-9E09-4EA9-B4A8-75D68D964026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58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2617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a typeface="ＭＳ Ｐゴシック" charset="0"/>
              </a:rPr>
              <a:t>Step Four</a:t>
            </a:r>
            <a:endParaRPr lang="en-US" dirty="0">
              <a:ea typeface="ＭＳ Ｐゴシック" charset="0"/>
            </a:endParaRPr>
          </a:p>
        </p:txBody>
      </p:sp>
      <p:sp>
        <p:nvSpPr>
          <p:cNvPr id="634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Choose between iterating over the file or reading individual lines</a:t>
            </a:r>
          </a:p>
          <a:p>
            <a:pPr eaLnBrk="1" hangingPunct="1"/>
            <a:r>
              <a:rPr lang="en-US" altLang="en-US" smtClean="0"/>
              <a:t>Generally if the data is grouped on lines we iterate over the file</a:t>
            </a:r>
          </a:p>
          <a:p>
            <a:pPr eaLnBrk="1" hangingPunct="1"/>
            <a:r>
              <a:rPr lang="en-US" altLang="en-US" smtClean="0"/>
              <a:t>If the data is spread over several line, we read the individual lines</a:t>
            </a:r>
          </a:p>
          <a:p>
            <a:pPr eaLnBrk="1" hangingPunct="1"/>
            <a:r>
              <a:rPr lang="en-US" altLang="en-US" smtClean="0"/>
              <a:t>In this example we will read individual lines since we are reading from two input files</a:t>
            </a:r>
          </a:p>
        </p:txBody>
      </p:sp>
      <p:sp>
        <p:nvSpPr>
          <p:cNvPr id="63491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6DACAD7-7256-4E6D-A002-BCD885339A23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59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553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a typeface="ＭＳ Ｐゴシック" charset="0"/>
              </a:rPr>
              <a:t>Step Five</a:t>
            </a:r>
            <a:endParaRPr lang="en-US" dirty="0">
              <a:ea typeface="ＭＳ Ｐゴシック" charset="0"/>
            </a:endParaRPr>
          </a:p>
        </p:txBody>
      </p:sp>
      <p:sp>
        <p:nvSpPr>
          <p:cNvPr id="645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Extract the data into the individual fields</a:t>
            </a:r>
          </a:p>
          <a:p>
            <a:pPr lvl="1" eaLnBrk="1" hangingPunct="1"/>
            <a:r>
              <a:rPr lang="en-US" altLang="en-US" sz="2000" dirty="0" smtClean="0"/>
              <a:t>Use spilt or </a:t>
            </a:r>
            <a:r>
              <a:rPr lang="en-US" altLang="en-US" sz="2000" dirty="0" err="1" smtClean="0"/>
              <a:t>rsplit</a:t>
            </a:r>
            <a:r>
              <a:rPr lang="en-US" altLang="en-US" sz="2000" dirty="0" smtClean="0"/>
              <a:t> to  extract the data elements</a:t>
            </a:r>
          </a:p>
        </p:txBody>
      </p:sp>
      <p:sp>
        <p:nvSpPr>
          <p:cNvPr id="64515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6B7E900-D0D5-4CA4-A93E-AE37011409B7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60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9409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a typeface="ＭＳ Ｐゴシック" charset="0"/>
              </a:rPr>
              <a:t>Step Six</a:t>
            </a:r>
            <a:endParaRPr lang="en-US" dirty="0">
              <a:ea typeface="ＭＳ Ｐゴシック" charset="0"/>
            </a:endParaRPr>
          </a:p>
        </p:txBody>
      </p:sp>
      <p:sp>
        <p:nvSpPr>
          <p:cNvPr id="655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Use functions to factor out common tasks</a:t>
            </a:r>
          </a:p>
          <a:p>
            <a:pPr eaLnBrk="1" hangingPunct="1"/>
            <a:r>
              <a:rPr lang="en-US" altLang="en-US" smtClean="0"/>
              <a:t>Find the repetitive tasks and develop functions to handle them  </a:t>
            </a:r>
          </a:p>
        </p:txBody>
      </p:sp>
      <p:sp>
        <p:nvSpPr>
          <p:cNvPr id="65539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FC5FED2-D2BC-439C-A40B-F0D6F3E1A415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61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66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a typeface="ＭＳ Ｐゴシック" charset="0"/>
              </a:rPr>
              <a:t>Example Code</a:t>
            </a:r>
            <a:endParaRPr lang="en-US" dirty="0">
              <a:ea typeface="ＭＳ Ｐゴシック" charset="0"/>
            </a:endParaRPr>
          </a:p>
        </p:txBody>
      </p:sp>
      <p:sp>
        <p:nvSpPr>
          <p:cNvPr id="665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Open the file population.py</a:t>
            </a:r>
          </a:p>
        </p:txBody>
      </p:sp>
      <p:sp>
        <p:nvSpPr>
          <p:cNvPr id="66563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6AEA65B-DB43-4E05-9CB5-A27D78C91504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62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68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a typeface="+mj-ea"/>
              </a:rPr>
              <a:t>Exception Handling</a:t>
            </a:r>
            <a:endParaRPr lang="en-US" dirty="0">
              <a:ea typeface="+mj-ea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US" dirty="0" smtClean="0">
                <a:ea typeface="+mn-ea"/>
              </a:rPr>
              <a:t>Section 7.4</a:t>
            </a:r>
            <a:endParaRPr lang="en-US" dirty="0">
              <a:ea typeface="+mn-ea"/>
            </a:endParaRPr>
          </a:p>
        </p:txBody>
      </p:sp>
      <p:sp>
        <p:nvSpPr>
          <p:cNvPr id="20483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0826BEE-3E2A-4A28-85BE-91A777FED428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A32480-9A40-478D-A920-65566AABF4F6}" type="slidenum">
              <a:rPr lang="en-US" altLang="en-US" smtClean="0"/>
              <a:pPr/>
              <a:t>63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836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Exception Handling</a:t>
            </a:r>
          </a:p>
        </p:txBody>
      </p:sp>
      <p:sp>
        <p:nvSpPr>
          <p:cNvPr id="29699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200"/>
              </a:spcBef>
              <a:buFont typeface="Arial" charset="0"/>
              <a:buChar char="•"/>
              <a:defRPr/>
            </a:pPr>
            <a:r>
              <a:rPr lang="en-US" dirty="0">
                <a:ea typeface="MS PGothic" charset="0"/>
                <a:cs typeface="MS PGothic" charset="0"/>
              </a:rPr>
              <a:t>There are two aspects to dealing with run-time program errors:</a:t>
            </a:r>
          </a:p>
          <a:p>
            <a:pPr marL="914400" lvl="1" indent="-457200" eaLnBrk="1" hangingPunct="1">
              <a:buFont typeface="Wingdings" charset="0"/>
              <a:buAutoNum type="arabicParenR"/>
              <a:defRPr/>
            </a:pPr>
            <a:r>
              <a:rPr lang="en-US" sz="2000" dirty="0">
                <a:ea typeface="MS PGothic" charset="0"/>
                <a:cs typeface="MS PGothic" charset="0"/>
              </a:rPr>
              <a:t>Detecting Errors</a:t>
            </a:r>
          </a:p>
          <a:p>
            <a:pPr marL="914400" lvl="1" indent="-457200" eaLnBrk="1" hangingPunct="1">
              <a:buFont typeface="Wingdings" charset="0"/>
              <a:buAutoNum type="arabicParenR"/>
              <a:defRPr/>
            </a:pPr>
            <a:r>
              <a:rPr lang="en-US" sz="2000" dirty="0">
                <a:ea typeface="MS PGothic" charset="0"/>
                <a:cs typeface="MS PGothic" charset="0"/>
              </a:rPr>
              <a:t>Handling </a:t>
            </a:r>
            <a:r>
              <a:rPr lang="en-US" sz="2000" dirty="0" smtClean="0">
                <a:ea typeface="MS PGothic" charset="0"/>
                <a:cs typeface="MS PGothic" charset="0"/>
              </a:rPr>
              <a:t>Errors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US" dirty="0" smtClean="0">
                <a:ea typeface="MS PGothic" charset="0"/>
                <a:cs typeface="MS PGothic" charset="0"/>
              </a:rPr>
              <a:t>The open function can detect an attempt to read from a non-existent file</a:t>
            </a:r>
          </a:p>
          <a:p>
            <a:pPr lvl="1" eaLnBrk="1" hangingPunct="1">
              <a:buFont typeface="Arial" charset="0"/>
              <a:buChar char="•"/>
              <a:defRPr/>
            </a:pPr>
            <a:r>
              <a:rPr lang="en-US" sz="2000" dirty="0" smtClean="0">
                <a:ea typeface="MS PGothic" charset="0"/>
                <a:cs typeface="MS PGothic" charset="0"/>
              </a:rPr>
              <a:t>The open function cannot handle the error</a:t>
            </a:r>
          </a:p>
          <a:p>
            <a:pPr lvl="1" eaLnBrk="1" hangingPunct="1">
              <a:buFont typeface="Arial" charset="0"/>
              <a:buChar char="•"/>
              <a:defRPr/>
            </a:pPr>
            <a:r>
              <a:rPr lang="en-US" sz="2000" dirty="0" smtClean="0">
                <a:ea typeface="MS PGothic" charset="0"/>
                <a:cs typeface="MS PGothic" charset="0"/>
              </a:rPr>
              <a:t>There are multiple alternatives, the function does not know which is the correct choice</a:t>
            </a:r>
          </a:p>
          <a:p>
            <a:pPr lvl="1" eaLnBrk="1" hangingPunct="1">
              <a:buFont typeface="Arial" charset="0"/>
              <a:buChar char="•"/>
              <a:defRPr/>
            </a:pPr>
            <a:r>
              <a:rPr lang="en-US" sz="2000" dirty="0" smtClean="0">
                <a:ea typeface="MS PGothic" charset="0"/>
                <a:cs typeface="MS PGothic" charset="0"/>
              </a:rPr>
              <a:t>The function reports the error to another part of the program to be handled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US" dirty="0" smtClean="0">
                <a:ea typeface="MS PGothic" charset="0"/>
                <a:cs typeface="MS PGothic" charset="0"/>
              </a:rPr>
              <a:t>Exception handling provides a flexible mechanism for passing control from the point of the error to a </a:t>
            </a:r>
            <a:r>
              <a:rPr lang="en-US" b="1" dirty="0" smtClean="0">
                <a:solidFill>
                  <a:srgbClr val="FF0000"/>
                </a:solidFill>
                <a:ea typeface="MS PGothic" charset="0"/>
                <a:cs typeface="MS PGothic" charset="0"/>
              </a:rPr>
              <a:t>handler</a:t>
            </a:r>
            <a:r>
              <a:rPr lang="en-US" dirty="0" smtClean="0">
                <a:ea typeface="MS PGothic" charset="0"/>
                <a:cs typeface="MS PGothic" charset="0"/>
              </a:rPr>
              <a:t> that can deal with the error</a:t>
            </a:r>
            <a:endParaRPr lang="en-US" dirty="0">
              <a:ea typeface="MS PGothic" charset="0"/>
              <a:cs typeface="MS PGothic" charset="0"/>
            </a:endParaRPr>
          </a:p>
        </p:txBody>
      </p:sp>
      <p:sp>
        <p:nvSpPr>
          <p:cNvPr id="21507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297C4FC-B438-48EE-B7E3-EDC4D038499C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64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560690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Detecting Errors</a:t>
            </a:r>
          </a:p>
        </p:txBody>
      </p:sp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838200" y="1295400"/>
            <a:ext cx="7543800" cy="25908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What do you do if someone tries to withdraw too much money from a bank account?</a:t>
            </a:r>
          </a:p>
          <a:p>
            <a:pPr eaLnBrk="1" hangingPunct="1"/>
            <a:r>
              <a:rPr lang="en-US" altLang="en-US" dirty="0" smtClean="0"/>
              <a:t>You can </a:t>
            </a:r>
            <a:r>
              <a:rPr lang="en-US" altLang="ja-JP" b="1" dirty="0" smtClean="0">
                <a:solidFill>
                  <a:srgbClr val="FF0000"/>
                </a:solidFill>
              </a:rPr>
              <a:t>raise</a:t>
            </a:r>
            <a:r>
              <a:rPr lang="en-US" altLang="ja-JP" dirty="0" smtClean="0"/>
              <a:t> an exception</a:t>
            </a:r>
          </a:p>
          <a:p>
            <a:pPr eaLnBrk="1" hangingPunct="1"/>
            <a:r>
              <a:rPr lang="en-US" altLang="ja-JP" dirty="0" smtClean="0"/>
              <a:t>When you </a:t>
            </a:r>
            <a:r>
              <a:rPr lang="en-US" altLang="ja-JP" b="1" dirty="0" smtClean="0">
                <a:solidFill>
                  <a:srgbClr val="FF0000"/>
                </a:solidFill>
              </a:rPr>
              <a:t>raise</a:t>
            </a:r>
            <a:r>
              <a:rPr lang="en-US" altLang="ja-JP" dirty="0" smtClean="0"/>
              <a:t> an exception, execution does not continue with the next statement</a:t>
            </a:r>
          </a:p>
          <a:p>
            <a:pPr lvl="1" eaLnBrk="1" hangingPunct="1"/>
            <a:r>
              <a:rPr lang="en-US" altLang="ja-JP" dirty="0" smtClean="0"/>
              <a:t>It transfers to the </a:t>
            </a:r>
            <a:r>
              <a:rPr lang="en-US" altLang="ja-JP" b="1" dirty="0" smtClean="0">
                <a:solidFill>
                  <a:srgbClr val="FF0000"/>
                </a:solidFill>
              </a:rPr>
              <a:t>exception handler</a:t>
            </a:r>
          </a:p>
          <a:p>
            <a:pPr eaLnBrk="1" hangingPunct="1"/>
            <a:endParaRPr lang="en-US" altLang="ja-JP" dirty="0" smtClean="0"/>
          </a:p>
          <a:p>
            <a:pPr eaLnBrk="1" hangingPunct="1"/>
            <a:endParaRPr lang="en-US" altLang="ja-JP" dirty="0" smtClean="0"/>
          </a:p>
          <a:p>
            <a:pPr eaLnBrk="1" hangingPunct="1"/>
            <a:endParaRPr lang="en-US" altLang="ja-JP" dirty="0" smtClean="0"/>
          </a:p>
        </p:txBody>
      </p:sp>
      <p:sp>
        <p:nvSpPr>
          <p:cNvPr id="22531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76A110C-6C76-4F08-9B33-6A78BCC98759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219200" y="4267200"/>
            <a:ext cx="7467600" cy="762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if amount &gt; balance :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raise ValueError("Amount exceeds balance")</a:t>
            </a:r>
            <a:endParaRPr lang="en-US" b="1" kern="0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</p:txBody>
      </p:sp>
      <p:sp>
        <p:nvSpPr>
          <p:cNvPr id="22534" name="TextBox 9"/>
          <p:cNvSpPr txBox="1">
            <a:spLocks noChangeArrowheads="1"/>
          </p:cNvSpPr>
          <p:nvPr/>
        </p:nvSpPr>
        <p:spPr bwMode="auto">
          <a:xfrm>
            <a:off x="838200" y="3559175"/>
            <a:ext cx="3276600" cy="646331"/>
          </a:xfrm>
          <a:prstGeom prst="rect">
            <a:avLst/>
          </a:prstGeom>
          <a:solidFill>
            <a:srgbClr val="FFDC4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Consolas" panose="020B0609020204030204" pitchFamily="49" charset="0"/>
                <a:cs typeface="Consolas" panose="020B0609020204030204" pitchFamily="49" charset="0"/>
              </a:rPr>
              <a:t>Use the raise statement to signal an exception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65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512184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Exception Classes (a subset)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 smtClean="0"/>
              <a:t>Look for an appropriate exception</a:t>
            </a:r>
          </a:p>
          <a:p>
            <a:pPr eaLnBrk="1" hangingPunct="1"/>
            <a:endParaRPr lang="en-US" altLang="en-US" dirty="0" smtClean="0"/>
          </a:p>
        </p:txBody>
      </p:sp>
      <p:sp>
        <p:nvSpPr>
          <p:cNvPr id="23555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698D593-B6C8-419D-902A-214C47C08A58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pic>
        <p:nvPicPr>
          <p:cNvPr id="23557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752600"/>
            <a:ext cx="8305800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66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910849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Syntax: Raising an Exception</a:t>
            </a:r>
          </a:p>
        </p:txBody>
      </p:sp>
      <p:pic>
        <p:nvPicPr>
          <p:cNvPr id="24578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371600"/>
            <a:ext cx="8375650" cy="3200400"/>
          </a:xfrm>
        </p:spPr>
      </p:pic>
      <p:sp>
        <p:nvSpPr>
          <p:cNvPr id="24579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928197E-56CC-4B62-8245-23F8FBEC86FA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67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115327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Handling Exceptions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313" indent="-284163" eaLnBrk="1" hangingPunct="1">
              <a:spcBef>
                <a:spcPts val="200"/>
              </a:spcBef>
              <a:buFont typeface="Arial" charset="0"/>
              <a:buChar char="•"/>
              <a:defRPr/>
            </a:pPr>
            <a:r>
              <a:rPr lang="en-US" dirty="0" smtClean="0">
                <a:ea typeface="MS PGothic" charset="0"/>
                <a:cs typeface="MS PGothic" charset="0"/>
              </a:rPr>
              <a:t>Every exception should be handled somewhere in the program</a:t>
            </a:r>
          </a:p>
          <a:p>
            <a:pPr marL="341313" indent="-284163" eaLnBrk="1" hangingPunct="1">
              <a:spcBef>
                <a:spcPts val="200"/>
              </a:spcBef>
              <a:buFont typeface="Arial" charset="0"/>
              <a:buChar char="•"/>
              <a:defRPr/>
            </a:pPr>
            <a:r>
              <a:rPr lang="en-US" dirty="0" smtClean="0">
                <a:ea typeface="MS PGothic" charset="0"/>
                <a:cs typeface="MS PGothic" charset="0"/>
              </a:rPr>
              <a:t>This </a:t>
            </a:r>
            <a:r>
              <a:rPr lang="en-US" dirty="0">
                <a:ea typeface="MS PGothic" charset="0"/>
                <a:cs typeface="MS PGothic" charset="0"/>
              </a:rPr>
              <a:t>is </a:t>
            </a:r>
            <a:r>
              <a:rPr lang="en-US" dirty="0" smtClean="0">
                <a:ea typeface="MS PGothic" charset="0"/>
                <a:cs typeface="MS PGothic" charset="0"/>
              </a:rPr>
              <a:t>a complex problem</a:t>
            </a:r>
          </a:p>
          <a:p>
            <a:pPr marL="569913" lvl="1" indent="-284163" eaLnBrk="1" hangingPunct="1">
              <a:buFont typeface="Arial" charset="0"/>
              <a:buChar char="•"/>
              <a:defRPr/>
            </a:pPr>
            <a:r>
              <a:rPr lang="en-US" sz="2000" dirty="0" smtClean="0">
                <a:ea typeface="MS PGothic" charset="0"/>
                <a:cs typeface="MS PGothic" charset="0"/>
              </a:rPr>
              <a:t>  </a:t>
            </a:r>
            <a:r>
              <a:rPr lang="en-US" sz="2000" dirty="0">
                <a:ea typeface="MS PGothic" charset="0"/>
                <a:cs typeface="MS PGothic" charset="0"/>
              </a:rPr>
              <a:t>You need to handle </a:t>
            </a:r>
            <a:r>
              <a:rPr lang="en-US" altLang="ja-JP" sz="2000" dirty="0">
                <a:ea typeface="MS PGothic" charset="0"/>
                <a:cs typeface="MS PGothic" charset="0"/>
              </a:rPr>
              <a:t>each possible exception and react to it appropriately</a:t>
            </a:r>
            <a:endParaRPr lang="en-US" sz="2000" dirty="0">
              <a:ea typeface="MS PGothic" charset="0"/>
              <a:cs typeface="MS PGothic" charset="0"/>
            </a:endParaRPr>
          </a:p>
          <a:p>
            <a:pPr marL="341313" indent="-284163" eaLnBrk="1" hangingPunct="1">
              <a:spcBef>
                <a:spcPts val="200"/>
              </a:spcBef>
              <a:buFont typeface="Arial" charset="0"/>
              <a:buChar char="•"/>
              <a:defRPr/>
            </a:pPr>
            <a:r>
              <a:rPr lang="en-US" dirty="0">
                <a:ea typeface="MS PGothic" charset="0"/>
                <a:cs typeface="MS PGothic" charset="0"/>
              </a:rPr>
              <a:t>Handling recoverable errors can be done:</a:t>
            </a:r>
          </a:p>
          <a:p>
            <a:pPr marL="914400" lvl="1" indent="-457200" eaLnBrk="1" hangingPunct="1">
              <a:buFont typeface="Arial" charset="0"/>
              <a:buChar char="•"/>
              <a:defRPr/>
            </a:pPr>
            <a:r>
              <a:rPr lang="en-US" sz="2000" dirty="0">
                <a:ea typeface="MS PGothic" charset="0"/>
                <a:cs typeface="MS PGothic" charset="0"/>
              </a:rPr>
              <a:t>Simply:  exit the program</a:t>
            </a:r>
          </a:p>
          <a:p>
            <a:pPr marL="914400" lvl="1" indent="-457200" eaLnBrk="1" hangingPunct="1">
              <a:buFont typeface="Arial" charset="0"/>
              <a:buChar char="•"/>
              <a:defRPr/>
            </a:pPr>
            <a:r>
              <a:rPr lang="en-US" sz="2000" dirty="0">
                <a:ea typeface="MS PGothic" charset="0"/>
                <a:cs typeface="MS PGothic" charset="0"/>
              </a:rPr>
              <a:t>User-friendly:  Ask the user to correct the error</a:t>
            </a:r>
          </a:p>
        </p:txBody>
      </p:sp>
      <p:sp>
        <p:nvSpPr>
          <p:cNvPr id="2560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18C805A-B75A-43D4-A8AC-0C2CDE5FC74D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68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358099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Handling Exceptions: Try-Except</a:t>
            </a:r>
          </a:p>
        </p:txBody>
      </p:sp>
      <p:sp>
        <p:nvSpPr>
          <p:cNvPr id="26626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You handle exceptions with the try/except statement </a:t>
            </a:r>
          </a:p>
          <a:p>
            <a:pPr eaLnBrk="1" hangingPunct="1"/>
            <a:r>
              <a:rPr lang="en-US" altLang="en-US" dirty="0" smtClean="0"/>
              <a:t>Place the statement into a location of your program that knows how to handle a particular exception </a:t>
            </a:r>
          </a:p>
          <a:p>
            <a:pPr eaLnBrk="1" hangingPunct="1"/>
            <a:r>
              <a:rPr lang="en-US" altLang="en-US" dirty="0" smtClean="0"/>
              <a:t>The try block contains one or more statements that may cause an exception of the kind that you are willing to handle </a:t>
            </a:r>
          </a:p>
          <a:p>
            <a:pPr eaLnBrk="1" hangingPunct="1"/>
            <a:r>
              <a:rPr lang="en-US" altLang="en-US" dirty="0" smtClean="0"/>
              <a:t>Each except clause contains the handler for an exception type</a:t>
            </a:r>
          </a:p>
        </p:txBody>
      </p:sp>
      <p:sp>
        <p:nvSpPr>
          <p:cNvPr id="26627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84B5402-017B-4BE6-927E-00C1AF3A67A8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69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80564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Syntax: Try-Except</a:t>
            </a:r>
          </a:p>
        </p:txBody>
      </p:sp>
      <p:pic>
        <p:nvPicPr>
          <p:cNvPr id="27650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25" y="1215462"/>
            <a:ext cx="7560047" cy="4880538"/>
          </a:xfrm>
        </p:spPr>
      </p:pic>
      <p:sp>
        <p:nvSpPr>
          <p:cNvPr id="27651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0BDAB8C-5665-430C-A48B-BBF016877163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70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390309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Try-Except: An Example</a:t>
            </a:r>
          </a:p>
        </p:txBody>
      </p:sp>
      <p:sp>
        <p:nvSpPr>
          <p:cNvPr id="28674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5FD3E42-7216-46EB-B532-9559401A9F3D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17500" y="1295400"/>
            <a:ext cx="5854700" cy="3352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try :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filename = input("Enter filename: ")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infile = 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open(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filename, "r"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)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line = </a:t>
            </a:r>
            <a:r>
              <a:rPr lang="en-US" dirty="0" err="1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infile.readline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()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value = </a:t>
            </a:r>
            <a:r>
              <a:rPr lang="en-US" dirty="0">
                <a:solidFill>
                  <a:srgbClr val="00B05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int(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line</a:t>
            </a:r>
            <a:r>
              <a:rPr lang="en-US" dirty="0">
                <a:solidFill>
                  <a:srgbClr val="00B05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)</a:t>
            </a:r>
          </a:p>
          <a:p>
            <a:pPr eaLnBrk="1" hangingPunct="1">
              <a:defRPr/>
            </a:pPr>
            <a:r>
              <a:rPr lang="en-US" dirty="0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. . .</a:t>
            </a:r>
            <a:endParaRPr lang="en-US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  <a:p>
            <a:pPr eaLnBrk="1" hangingPunct="1">
              <a:defRPr/>
            </a:pP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except IOError 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: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print("Error: file not </a:t>
            </a:r>
            <a:r>
              <a:rPr lang="en-US" dirty="0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found.")</a:t>
            </a:r>
            <a:endParaRPr lang="en-US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except ValueError as exception :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print("Error:", str(exception))</a:t>
            </a:r>
            <a:endParaRPr lang="en-US" b="1" kern="0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</p:txBody>
      </p:sp>
      <p:sp>
        <p:nvSpPr>
          <p:cNvPr id="7" name="Left Arrow 6"/>
          <p:cNvSpPr/>
          <p:nvPr/>
        </p:nvSpPr>
        <p:spPr>
          <a:xfrm>
            <a:off x="5334000" y="3124200"/>
            <a:ext cx="3617913" cy="990600"/>
          </a:xfrm>
          <a:prstGeom prst="lef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Execution transfers here </a:t>
            </a: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if file cannot be opened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Left Arrow 7"/>
          <p:cNvSpPr/>
          <p:nvPr/>
        </p:nvSpPr>
        <p:spPr>
          <a:xfrm>
            <a:off x="3352800" y="2286000"/>
            <a:ext cx="3200400" cy="990600"/>
          </a:xfrm>
          <a:prstGeom prst="lef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int() </a:t>
            </a:r>
            <a:r>
              <a:rPr lang="en-US" dirty="0">
                <a:solidFill>
                  <a:schemeClr val="tx1"/>
                </a:solidFill>
              </a:rPr>
              <a:t>can raise a </a:t>
            </a: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ValueError </a:t>
            </a:r>
            <a:r>
              <a:rPr lang="en-US" dirty="0">
                <a:solidFill>
                  <a:schemeClr val="tx1"/>
                </a:solidFill>
              </a:rPr>
              <a:t>exception</a:t>
            </a:r>
          </a:p>
        </p:txBody>
      </p:sp>
      <p:sp>
        <p:nvSpPr>
          <p:cNvPr id="9" name="Left Arrow 8"/>
          <p:cNvSpPr/>
          <p:nvPr/>
        </p:nvSpPr>
        <p:spPr>
          <a:xfrm>
            <a:off x="4989513" y="1603375"/>
            <a:ext cx="3616325" cy="990600"/>
          </a:xfrm>
          <a:prstGeom prst="lef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open() </a:t>
            </a:r>
            <a:r>
              <a:rPr lang="en-US" dirty="0">
                <a:solidFill>
                  <a:schemeClr val="tx1"/>
                </a:solidFill>
              </a:rPr>
              <a:t>can raise an </a:t>
            </a: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IOError </a:t>
            </a:r>
            <a:r>
              <a:rPr lang="en-US" dirty="0">
                <a:solidFill>
                  <a:schemeClr val="tx1"/>
                </a:solidFill>
              </a:rPr>
              <a:t>exception</a:t>
            </a:r>
          </a:p>
        </p:txBody>
      </p:sp>
      <p:sp>
        <p:nvSpPr>
          <p:cNvPr id="10" name="Left Arrow 9"/>
          <p:cNvSpPr/>
          <p:nvPr/>
        </p:nvSpPr>
        <p:spPr>
          <a:xfrm rot="716817">
            <a:off x="5083175" y="4092575"/>
            <a:ext cx="3617913" cy="1447800"/>
          </a:xfrm>
          <a:prstGeom prst="lef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Execution transfers here </a:t>
            </a: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if the string cannot be converted to an int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874" name="TextBox 9"/>
          <p:cNvSpPr txBox="1">
            <a:spLocks noChangeArrowheads="1"/>
          </p:cNvSpPr>
          <p:nvPr/>
        </p:nvSpPr>
        <p:spPr bwMode="auto">
          <a:xfrm>
            <a:off x="685800" y="4876800"/>
            <a:ext cx="4254500" cy="1016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algn="ctr">
              <a:defRPr/>
            </a:pPr>
            <a:r>
              <a:rPr lang="en-US" sz="2000" b="1" i="1" dirty="0" smtClean="0">
                <a:latin typeface="+mn-lt"/>
              </a:rPr>
              <a:t>If either of these exceptions is raised, the rest of the instructions in the </a:t>
            </a:r>
            <a:r>
              <a:rPr lang="en-US" sz="2000" b="1" i="1" dirty="0" smtClean="0">
                <a:latin typeface="+mn-lt"/>
                <a:cs typeface="Consolas" charset="0"/>
              </a:rPr>
              <a:t>try</a:t>
            </a:r>
            <a:r>
              <a:rPr lang="en-US" sz="2000" b="1" i="1" dirty="0" smtClean="0">
                <a:latin typeface="+mn-lt"/>
              </a:rPr>
              <a:t> block are skipped</a:t>
            </a:r>
            <a:endParaRPr lang="en-US" sz="2000" b="1" i="1" dirty="0" smtClean="0">
              <a:latin typeface="+mn-lt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71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309488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a typeface="ＭＳ Ｐゴシック" charset="0"/>
              </a:rPr>
              <a:t>Example</a:t>
            </a:r>
            <a:endParaRPr lang="en-US" dirty="0">
              <a:ea typeface="ＭＳ Ｐゴシック" charset="0"/>
            </a:endParaRPr>
          </a:p>
        </p:txBody>
      </p:sp>
      <p:sp>
        <p:nvSpPr>
          <p:cNvPr id="675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If an IOError exception is raised, the </a:t>
            </a:r>
            <a:r>
              <a:rPr lang="en-US" altLang="en-US" b="1" smtClean="0">
                <a:solidFill>
                  <a:srgbClr val="FF0000"/>
                </a:solidFill>
              </a:rPr>
              <a:t>except</a:t>
            </a:r>
            <a:r>
              <a:rPr lang="en-US" altLang="en-US" smtClean="0"/>
              <a:t> clause for the IOError exception is executed</a:t>
            </a:r>
          </a:p>
          <a:p>
            <a:pPr eaLnBrk="1" hangingPunct="1"/>
            <a:r>
              <a:rPr lang="en-US" altLang="en-US" smtClean="0"/>
              <a:t>If a ValueError exception occurs, then second </a:t>
            </a:r>
            <a:r>
              <a:rPr lang="en-US" altLang="en-US" b="1" smtClean="0">
                <a:solidFill>
                  <a:srgbClr val="FF0000"/>
                </a:solidFill>
              </a:rPr>
              <a:t>except</a:t>
            </a:r>
            <a:r>
              <a:rPr lang="en-US" altLang="en-US" smtClean="0"/>
              <a:t> clause is executed</a:t>
            </a:r>
          </a:p>
          <a:p>
            <a:pPr eaLnBrk="1" hangingPunct="1"/>
            <a:r>
              <a:rPr lang="en-US" altLang="en-US" smtClean="0"/>
              <a:t>If any other exception is raised it will not be handled by any of the </a:t>
            </a:r>
            <a:r>
              <a:rPr lang="en-US" altLang="en-US" b="1" smtClean="0">
                <a:solidFill>
                  <a:srgbClr val="FF0000"/>
                </a:solidFill>
              </a:rPr>
              <a:t>except</a:t>
            </a:r>
            <a:r>
              <a:rPr lang="en-US" altLang="en-US" smtClean="0"/>
              <a:t> blocks</a:t>
            </a:r>
          </a:p>
        </p:txBody>
      </p:sp>
      <p:sp>
        <p:nvSpPr>
          <p:cNvPr id="67587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03D7ACD-3046-49A6-BA77-220B5D80BE20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72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1148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Output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725487"/>
          </a:xfrm>
        </p:spPr>
        <p:txBody>
          <a:bodyPr rtlCol="0">
            <a:normAutofit/>
          </a:bodyPr>
          <a:lstStyle/>
          <a:p>
            <a:pPr eaLnBrk="1" fontAlgn="auto" hangingPunct="1"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When the body of this handler is executed, it prints the message included with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the exception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9699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9767625-8246-4752-8801-F526D7882639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22325" y="1981200"/>
            <a:ext cx="5429250" cy="762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except 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ValueError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as exception :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print("Error:", str(exception))</a:t>
            </a:r>
            <a:endParaRPr lang="en-US" b="1" kern="0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73</a:t>
            </a:fld>
            <a:endParaRPr lang="en-US" alt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22325" y="2950431"/>
            <a:ext cx="7543800" cy="110062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For example, if the string passed to the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Consolas" pitchFamily="49" charset="0"/>
              </a:rPr>
              <a:t>int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Consolas" pitchFamily="49" charset="0"/>
              </a:rPr>
              <a:t>()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function was "35x2", then the message included with the exception will be:</a:t>
            </a:r>
          </a:p>
          <a:p>
            <a:pPr lvl="1" indent="0" eaLnBrk="1" fontAlgn="auto" hangingPunct="1">
              <a:buFont typeface="Wingdings" panose="05000000000000000000" pitchFamily="2" charset="2"/>
              <a:buNone/>
              <a:defRPr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Consolas" pitchFamily="49" charset="0"/>
              </a:rPr>
              <a:t>invalid literal for </a:t>
            </a:r>
            <a:r>
              <a:rPr 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Consolas" pitchFamily="49" charset="0"/>
              </a:rPr>
              <a:t>int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Consolas" pitchFamily="49" charset="0"/>
              </a:rPr>
              <a:t>() with base 10: '35x2'</a:t>
            </a:r>
          </a:p>
          <a:p>
            <a:pPr lvl="1" eaLnBrk="1" fontAlgn="auto" hangingPunct="1">
              <a:defRPr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85151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Output Messages (2)</a:t>
            </a:r>
          </a:p>
        </p:txBody>
      </p:sp>
      <p:sp>
        <p:nvSpPr>
          <p:cNvPr id="30722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156368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To obtain the message, we must have access to the exception object itself </a:t>
            </a:r>
          </a:p>
          <a:p>
            <a:pPr eaLnBrk="1" hangingPunct="1"/>
            <a:r>
              <a:rPr lang="en-US" altLang="en-US" dirty="0" smtClean="0"/>
              <a:t>You can store the exception object in a variable with the as syntax:</a:t>
            </a:r>
          </a:p>
        </p:txBody>
      </p:sp>
      <p:sp>
        <p:nvSpPr>
          <p:cNvPr id="3072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1948E53-2CCA-4E37-886C-3D7388188D36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95338" y="2362200"/>
            <a:ext cx="5429250" cy="457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except ValueError as exception :</a:t>
            </a:r>
            <a:endParaRPr lang="en-US" b="1" kern="0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74</a:t>
            </a:fld>
            <a:endParaRPr lang="en-US" alt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795338" y="3004100"/>
            <a:ext cx="7543800" cy="1090246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dirty="0" smtClean="0"/>
              <a:t>When the handler for </a:t>
            </a:r>
            <a:r>
              <a:rPr lang="en-US" altLang="en-US" dirty="0" err="1" smtClean="0">
                <a:cs typeface="Consolas" panose="020B0609020204030204" pitchFamily="49" charset="0"/>
              </a:rPr>
              <a:t>ValueErro</a:t>
            </a:r>
            <a:r>
              <a:rPr lang="en-US" altLang="en-US" dirty="0" err="1" smtClean="0"/>
              <a:t>r</a:t>
            </a:r>
            <a:r>
              <a:rPr lang="en-US" altLang="en-US" dirty="0" smtClean="0"/>
              <a:t> is executed, </a:t>
            </a:r>
            <a:r>
              <a:rPr lang="en-US" altLang="en-US" b="1" dirty="0" smtClean="0"/>
              <a:t>exception</a:t>
            </a:r>
            <a:r>
              <a:rPr lang="en-US" altLang="en-US" dirty="0" smtClean="0"/>
              <a:t> is set to the exception object. In our code, we then obtain the message string by calling </a:t>
            </a:r>
            <a:r>
              <a:rPr lang="en-US" altLang="en-US" b="1" dirty="0" err="1" smtClean="0"/>
              <a:t>str</a:t>
            </a:r>
            <a:r>
              <a:rPr lang="en-US" altLang="en-US" b="1" dirty="0" smtClean="0"/>
              <a:t>(exception)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08294026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Source of Output Messages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87788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When you raise an exception, you can provide your own message string. For example, when you call</a:t>
            </a:r>
          </a:p>
        </p:txBody>
      </p:sp>
      <p:sp>
        <p:nvSpPr>
          <p:cNvPr id="31747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A0597BF-EC6F-462B-910A-F5BDF9627A7A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38200" y="2133600"/>
            <a:ext cx="6586538" cy="457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raise ValueError("Amount exceeds balance")</a:t>
            </a:r>
            <a:endParaRPr lang="en-US" b="1" kern="0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75</a:t>
            </a:fld>
            <a:endParaRPr lang="en-US" alt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26477" y="2934371"/>
            <a:ext cx="7543800" cy="223202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dirty="0" smtClean="0"/>
              <a:t>The message of the exception, </a:t>
            </a:r>
            <a:r>
              <a:rPr 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"Amount exceeds balance"</a:t>
            </a:r>
            <a:r>
              <a:rPr lang="en-US" dirty="0" smtClean="0">
                <a:latin typeface="Arial" charset="0"/>
                <a:ea typeface="ＭＳ Ｐゴシック" panose="020B0600070205080204" pitchFamily="34" charset="-128"/>
              </a:rPr>
              <a:t>,</a:t>
            </a:r>
            <a:r>
              <a:rPr lang="en-US" altLang="en-US" dirty="0" smtClean="0"/>
              <a:t> is the string provided as the argument to the constructor</a:t>
            </a:r>
          </a:p>
        </p:txBody>
      </p:sp>
    </p:spTree>
    <p:extLst>
      <p:ext uri="{BB962C8B-B14F-4D97-AF65-F5344CB8AC3E}">
        <p14:creationId xmlns:p14="http://schemas.microsoft.com/office/powerpoint/2010/main" val="202511755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The </a:t>
            </a:r>
            <a:r>
              <a:rPr lang="en-US" altLang="en-US" dirty="0" smtClean="0">
                <a:solidFill>
                  <a:srgbClr val="FF0000"/>
                </a:solidFill>
                <a:ea typeface="ＭＳ Ｐゴシック" panose="020B0600070205080204" pitchFamily="34" charset="-128"/>
              </a:rPr>
              <a:t>finally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 Clause</a:t>
            </a:r>
          </a:p>
        </p:txBody>
      </p:sp>
      <p:sp>
        <p:nvSpPr>
          <p:cNvPr id="3277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The </a:t>
            </a:r>
            <a:r>
              <a:rPr lang="en-US" altLang="en-US" dirty="0" smtClean="0">
                <a:solidFill>
                  <a:srgbClr val="FF0000"/>
                </a:solidFill>
                <a:cs typeface="Consolas" panose="020B0609020204030204" pitchFamily="49" charset="0"/>
              </a:rPr>
              <a:t>finally</a:t>
            </a:r>
            <a:r>
              <a:rPr lang="en-US" altLang="en-US" dirty="0" smtClean="0"/>
              <a:t> clause is used when you need to take some action whether or not an exception is raised </a:t>
            </a:r>
          </a:p>
          <a:p>
            <a:pPr eaLnBrk="1" hangingPunct="1"/>
            <a:r>
              <a:rPr lang="en-US" altLang="en-US" dirty="0" smtClean="0"/>
              <a:t>Here is a typical situation</a:t>
            </a:r>
          </a:p>
          <a:p>
            <a:pPr lvl="1" eaLnBrk="1" hangingPunct="1"/>
            <a:r>
              <a:rPr lang="en-US" altLang="en-US" sz="2000" dirty="0" smtClean="0"/>
              <a:t>It is important to always close an output file whether or not an exception was raised (to ensure that all output is written to the file)</a:t>
            </a:r>
          </a:p>
          <a:p>
            <a:pPr lvl="1" eaLnBrk="1" hangingPunct="1"/>
            <a:r>
              <a:rPr lang="en-US" altLang="en-US" sz="2000" dirty="0" smtClean="0"/>
              <a:t>Place the call to </a:t>
            </a:r>
            <a:r>
              <a:rPr lang="en-US" altLang="en-US" sz="2000" dirty="0" smtClean="0">
                <a:solidFill>
                  <a:srgbClr val="0033CC"/>
                </a:solidFill>
              </a:rPr>
              <a:t>close() </a:t>
            </a:r>
            <a:r>
              <a:rPr lang="en-US" altLang="en-US" sz="2000" dirty="0" smtClean="0"/>
              <a:t>inside a finally clause:</a:t>
            </a:r>
          </a:p>
        </p:txBody>
      </p:sp>
      <p:sp>
        <p:nvSpPr>
          <p:cNvPr id="32771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1B1E136-AB1C-4ABE-82C4-11766A10DB5C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38200" y="3505200"/>
            <a:ext cx="5429250" cy="1676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outfile = open(filename, "w")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try :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writeData(outfile)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finally :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</a:t>
            </a:r>
            <a:r>
              <a:rPr lang="en-US" dirty="0" err="1" smtClean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outfile.close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()</a:t>
            </a:r>
            <a:endParaRPr lang="en-US" b="1" kern="0" dirty="0">
              <a:solidFill>
                <a:srgbClr val="0033CC"/>
              </a:solidFill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76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118498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Syntax: The Finally Clause</a:t>
            </a:r>
          </a:p>
        </p:txBody>
      </p:sp>
      <p:pic>
        <p:nvPicPr>
          <p:cNvPr id="33794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219200"/>
            <a:ext cx="8466138" cy="4572000"/>
          </a:xfrm>
        </p:spPr>
      </p:pic>
      <p:sp>
        <p:nvSpPr>
          <p:cNvPr id="33795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8795CB5-E6C5-450E-B342-859C09648FF3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77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117164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Programming Tip</a:t>
            </a:r>
          </a:p>
        </p:txBody>
      </p:sp>
      <p:sp>
        <p:nvSpPr>
          <p:cNvPr id="3481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Throw exceptions early</a:t>
            </a:r>
          </a:p>
          <a:p>
            <a:pPr lvl="1" eaLnBrk="1" hangingPunct="1"/>
            <a:r>
              <a:rPr lang="en-US" altLang="en-US" sz="2000" dirty="0" smtClean="0"/>
              <a:t>When a method detects a problem that it cannot solve, it is better to throw an exception rather than try to come up with an imperfect fix</a:t>
            </a:r>
          </a:p>
          <a:p>
            <a:pPr eaLnBrk="1" hangingPunct="1"/>
            <a:r>
              <a:rPr lang="en-US" altLang="en-US" dirty="0" smtClean="0"/>
              <a:t>Catch exceptions late</a:t>
            </a:r>
          </a:p>
          <a:p>
            <a:pPr lvl="1" eaLnBrk="1" hangingPunct="1"/>
            <a:r>
              <a:rPr lang="en-US" altLang="en-US" sz="2000" dirty="0" smtClean="0"/>
              <a:t>Conversely, a method should only catch an exception if it can really remedy the situation</a:t>
            </a:r>
          </a:p>
          <a:p>
            <a:pPr lvl="1" eaLnBrk="1" hangingPunct="1"/>
            <a:r>
              <a:rPr lang="en-US" altLang="en-US" sz="2000" dirty="0" smtClean="0"/>
              <a:t>Otherwise, the best remedy is simply to have the exception propagate to its caller, allowing it to be caught by a competent handler</a:t>
            </a:r>
          </a:p>
        </p:txBody>
      </p:sp>
      <p:sp>
        <p:nvSpPr>
          <p:cNvPr id="34819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040F024-393D-4E7F-8EB6-50573D21F3EF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78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158680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Programming Tip</a:t>
            </a:r>
          </a:p>
        </p:txBody>
      </p:sp>
      <p:sp>
        <p:nvSpPr>
          <p:cNvPr id="358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Do not use </a:t>
            </a:r>
            <a:r>
              <a:rPr lang="en-US" altLang="en-US" dirty="0" smtClean="0">
                <a:solidFill>
                  <a:srgbClr val="0033CC"/>
                </a:solidFill>
              </a:rPr>
              <a:t>except</a:t>
            </a:r>
            <a:r>
              <a:rPr lang="en-US" altLang="en-US" dirty="0" smtClean="0"/>
              <a:t> and </a:t>
            </a:r>
            <a:r>
              <a:rPr lang="en-US" altLang="en-US" dirty="0" smtClean="0">
                <a:solidFill>
                  <a:srgbClr val="0033CC"/>
                </a:solidFill>
              </a:rPr>
              <a:t>finally</a:t>
            </a:r>
            <a:r>
              <a:rPr lang="en-US" altLang="en-US" dirty="0" smtClean="0"/>
              <a:t> in the same </a:t>
            </a:r>
            <a:r>
              <a:rPr lang="en-US" altLang="en-US" dirty="0" smtClean="0">
                <a:solidFill>
                  <a:srgbClr val="0033CC"/>
                </a:solidFill>
              </a:rPr>
              <a:t>try</a:t>
            </a:r>
            <a:r>
              <a:rPr lang="en-US" altLang="en-US" dirty="0" smtClean="0"/>
              <a:t> block</a:t>
            </a:r>
          </a:p>
          <a:p>
            <a:pPr lvl="1" eaLnBrk="1" hangingPunct="1"/>
            <a:r>
              <a:rPr lang="en-US" altLang="en-US" sz="2000" dirty="0" smtClean="0"/>
              <a:t>The </a:t>
            </a:r>
            <a:r>
              <a:rPr lang="en-US" altLang="en-US" sz="2000" dirty="0" smtClean="0">
                <a:solidFill>
                  <a:srgbClr val="0033CC"/>
                </a:solidFill>
              </a:rPr>
              <a:t>finally</a:t>
            </a:r>
            <a:r>
              <a:rPr lang="en-US" altLang="en-US" sz="2000" dirty="0" smtClean="0"/>
              <a:t> clause is executed whenever the try block is exited in any of three ways:</a:t>
            </a:r>
          </a:p>
          <a:p>
            <a:pPr lvl="2" eaLnBrk="1" hangingPunct="1">
              <a:buFontTx/>
              <a:buNone/>
            </a:pPr>
            <a:r>
              <a:rPr lang="en-US" altLang="en-US" sz="2000" dirty="0" smtClean="0"/>
              <a:t>1. After completing the last statement of the </a:t>
            </a:r>
            <a:r>
              <a:rPr lang="en-US" altLang="en-US" sz="2000" dirty="0" smtClean="0">
                <a:solidFill>
                  <a:srgbClr val="0033CC"/>
                </a:solidFill>
              </a:rPr>
              <a:t>try</a:t>
            </a:r>
            <a:r>
              <a:rPr lang="en-US" altLang="en-US" sz="2000" dirty="0" smtClean="0"/>
              <a:t> block</a:t>
            </a:r>
          </a:p>
          <a:p>
            <a:pPr lvl="2" eaLnBrk="1" hangingPunct="1">
              <a:buFontTx/>
              <a:buNone/>
            </a:pPr>
            <a:r>
              <a:rPr lang="en-US" altLang="en-US" sz="2000" dirty="0" smtClean="0"/>
              <a:t>2. After completing the last statement of a </a:t>
            </a:r>
            <a:r>
              <a:rPr lang="en-US" altLang="en-US" sz="2000" dirty="0" smtClean="0">
                <a:solidFill>
                  <a:srgbClr val="0033CC"/>
                </a:solidFill>
              </a:rPr>
              <a:t>except</a:t>
            </a:r>
            <a:r>
              <a:rPr lang="en-US" altLang="en-US" sz="2000" dirty="0" smtClean="0"/>
              <a:t> clause, if this try block caught an exception</a:t>
            </a:r>
          </a:p>
          <a:p>
            <a:pPr lvl="2" eaLnBrk="1" hangingPunct="1">
              <a:buFontTx/>
              <a:buNone/>
            </a:pPr>
            <a:r>
              <a:rPr lang="en-US" altLang="en-US" sz="2000" dirty="0" smtClean="0"/>
              <a:t>3. When an exception was raised in the </a:t>
            </a:r>
            <a:r>
              <a:rPr lang="en-US" altLang="en-US" sz="2000" dirty="0" smtClean="0">
                <a:solidFill>
                  <a:srgbClr val="0033CC"/>
                </a:solidFill>
              </a:rPr>
              <a:t>try</a:t>
            </a:r>
            <a:r>
              <a:rPr lang="en-US" altLang="en-US" sz="2000" dirty="0" smtClean="0"/>
              <a:t> block and not handled</a:t>
            </a:r>
          </a:p>
          <a:p>
            <a:pPr lvl="2" eaLnBrk="1" hangingPunct="1">
              <a:buFontTx/>
              <a:buNone/>
            </a:pPr>
            <a:endParaRPr lang="en-US" altLang="en-US" sz="2000" dirty="0" smtClean="0"/>
          </a:p>
        </p:txBody>
      </p:sp>
      <p:sp>
        <p:nvSpPr>
          <p:cNvPr id="3584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CEDE07F-A886-4374-8A2B-CCE051BBA7FF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45175" y="3505200"/>
            <a:ext cx="1579563" cy="609600"/>
          </a:xfrm>
          <a:prstGeom prst="rect">
            <a:avLst/>
          </a:prstGeom>
          <a:solidFill>
            <a:srgbClr val="FAE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5175" y="4495800"/>
            <a:ext cx="1081088" cy="609600"/>
          </a:xfrm>
          <a:prstGeom prst="rect">
            <a:avLst/>
          </a:prstGeom>
          <a:solidFill>
            <a:srgbClr val="FAE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except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7575" y="5562600"/>
            <a:ext cx="1295400" cy="609600"/>
          </a:xfrm>
          <a:prstGeom prst="rect">
            <a:avLst/>
          </a:prstGeom>
          <a:solidFill>
            <a:srgbClr val="FAE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finally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rot="5400000">
            <a:off x="6415088" y="4843462"/>
            <a:ext cx="1447800" cy="317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>
            <a:off x="5999162" y="5332413"/>
            <a:ext cx="455613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 rot="10536360">
            <a:off x="5464175" y="3748088"/>
            <a:ext cx="1595438" cy="2182812"/>
          </a:xfrm>
          <a:prstGeom prst="arc">
            <a:avLst>
              <a:gd name="adj1" fmla="val 17247893"/>
              <a:gd name="adj2" fmla="val 4377772"/>
            </a:avLst>
          </a:prstGeom>
          <a:ln w="28575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rot="5400000">
            <a:off x="6034882" y="4304506"/>
            <a:ext cx="381000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79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960621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Programming Tip</a:t>
            </a:r>
          </a:p>
        </p:txBody>
      </p:sp>
      <p:sp>
        <p:nvSpPr>
          <p:cNvPr id="368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It is better to use two (nested) </a:t>
            </a:r>
            <a:r>
              <a:rPr lang="en-US" altLang="en-US" sz="2400" smtClean="0">
                <a:latin typeface="Consolas" panose="020B0609020204030204" pitchFamily="49" charset="0"/>
              </a:rPr>
              <a:t>try</a:t>
            </a:r>
            <a:r>
              <a:rPr lang="en-US" altLang="en-US" sz="2400" smtClean="0"/>
              <a:t> clauses to control the flow</a:t>
            </a:r>
            <a:endParaRPr lang="en-US" altLang="en-US" smtClean="0"/>
          </a:p>
          <a:p>
            <a:pPr lvl="2" eaLnBrk="1" hangingPunct="1">
              <a:buFontTx/>
              <a:buNone/>
            </a:pPr>
            <a:endParaRPr lang="en-US" altLang="en-US" sz="2000" smtClean="0"/>
          </a:p>
        </p:txBody>
      </p:sp>
      <p:sp>
        <p:nvSpPr>
          <p:cNvPr id="36867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5D8ACB3-EEBE-43F0-B306-6A5E7D021B0D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45350" y="2209800"/>
            <a:ext cx="1517650" cy="609600"/>
          </a:xfrm>
          <a:prstGeom prst="rect">
            <a:avLst/>
          </a:prstGeom>
          <a:solidFill>
            <a:srgbClr val="FAE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77000" y="4648200"/>
            <a:ext cx="1289050" cy="609600"/>
          </a:xfrm>
          <a:prstGeom prst="rect">
            <a:avLst/>
          </a:prstGeom>
          <a:solidFill>
            <a:srgbClr val="FAE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except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900" y="3575050"/>
            <a:ext cx="1371600" cy="609600"/>
          </a:xfrm>
          <a:prstGeom prst="rect">
            <a:avLst/>
          </a:prstGeom>
          <a:solidFill>
            <a:srgbClr val="FAE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finally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rot="5400000">
            <a:off x="7164388" y="3194050"/>
            <a:ext cx="760412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>
            <a:off x="5716588" y="3427412"/>
            <a:ext cx="2438400" cy="317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822325" y="2224088"/>
            <a:ext cx="5121275" cy="242411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try :</a:t>
            </a:r>
            <a:endParaRPr lang="en-US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outfile = open(filename, "w")</a:t>
            </a: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</a:t>
            </a:r>
            <a:r>
              <a:rPr lang="en-US" dirty="0">
                <a:solidFill>
                  <a:srgbClr val="00B05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try :</a:t>
            </a: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solidFill>
                  <a:srgbClr val="00B0F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# Write output to outfile</a:t>
            </a: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solidFill>
                  <a:srgbClr val="00B0F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</a:t>
            </a:r>
            <a:r>
              <a:rPr lang="en-US" dirty="0">
                <a:solidFill>
                  <a:srgbClr val="00B05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finally :</a:t>
            </a: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</a:t>
            </a:r>
            <a:r>
              <a:rPr lang="en-US" dirty="0" err="1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out.close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()  </a:t>
            </a:r>
            <a:r>
              <a:rPr lang="en-US" dirty="0">
                <a:solidFill>
                  <a:srgbClr val="00B0F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# Close resources</a:t>
            </a:r>
            <a:endParaRPr lang="en-US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except IOError :</a:t>
            </a: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</a:t>
            </a:r>
            <a:r>
              <a:rPr lang="en-US" dirty="0">
                <a:solidFill>
                  <a:srgbClr val="00B0F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# Handle exception</a:t>
            </a: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b="1" kern="0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77000" y="1600200"/>
            <a:ext cx="1289050" cy="609600"/>
          </a:xfrm>
          <a:prstGeom prst="rect">
            <a:avLst/>
          </a:prstGeom>
          <a:solidFill>
            <a:srgbClr val="FAE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try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rot="5400000">
            <a:off x="7315994" y="4191794"/>
            <a:ext cx="27432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80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385441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The </a:t>
            </a:r>
            <a:r>
              <a:rPr lang="en-US" altLang="en-US" sz="3600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With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325" y="1255713"/>
            <a:ext cx="7543800" cy="1366837"/>
          </a:xfrm>
        </p:spPr>
        <p:txBody>
          <a:bodyPr rtlCol="0">
            <a:normAutofit/>
          </a:bodyPr>
          <a:lstStyle/>
          <a:p>
            <a:pPr eaLnBrk="1" fontAlgn="auto" hangingPunct="1"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Because a try/finally statement for opening and closing files is so common, Python has a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special shortcut: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</p:txBody>
      </p:sp>
      <p:sp>
        <p:nvSpPr>
          <p:cNvPr id="37891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449B79C-0544-4F36-ADD2-6D0F6978C8A6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914400" y="1981200"/>
            <a:ext cx="5429250" cy="685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itchFamily="49" charset="0"/>
              </a:rPr>
              <a:t>with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open(filename, "w") as outfile :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Write output to </a:t>
            </a:r>
            <a:r>
              <a:rPr lang="en-US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outfile</a:t>
            </a:r>
            <a:endParaRPr lang="en-US" dirty="0">
              <a:latin typeface="Consolas" panose="020B0609020204030204" pitchFamily="49" charset="0"/>
              <a:ea typeface="ＭＳ Ｐゴシック" panose="020B0600070205080204" pitchFamily="34" charset="-128"/>
              <a:cs typeface="Consolas" panose="020B0609020204030204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81</a:t>
            </a:fld>
            <a:endParaRPr lang="en-US" alt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22325" y="2959589"/>
            <a:ext cx="7543800" cy="1792287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404040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This </a:t>
            </a:r>
            <a:r>
              <a:rPr lang="en-US" dirty="0" smtClean="0">
                <a:solidFill>
                  <a:srgbClr val="0033CC"/>
                </a:solidFill>
                <a:ea typeface="+mn-ea"/>
              </a:rPr>
              <a:t>with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 statement opens the file with the given name, sets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Consolas" pitchFamily="49" charset="0"/>
              </a:rPr>
              <a:t>outfile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 to the file object, and closes the file object when the end of the statement has been reached or an exception is raised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903776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a typeface="+mj-ea"/>
              </a:rPr>
              <a:t>Handling Input Errors</a:t>
            </a:r>
            <a:endParaRPr lang="en-US" dirty="0">
              <a:ea typeface="+mj-ea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US" dirty="0" smtClean="0">
                <a:ea typeface="+mn-ea"/>
              </a:rPr>
              <a:t>Section 7.6</a:t>
            </a:r>
            <a:endParaRPr lang="en-US" dirty="0">
              <a:ea typeface="+mn-ea"/>
            </a:endParaRPr>
          </a:p>
        </p:txBody>
      </p:sp>
      <p:sp>
        <p:nvSpPr>
          <p:cNvPr id="38915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6ABCD2C-46CD-422E-8D2A-256D3FCC00F7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A32480-9A40-478D-A920-65566AABF4F6}" type="slidenum">
              <a:rPr lang="en-US" altLang="en-US" smtClean="0"/>
              <a:pPr/>
              <a:t>82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22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Handling Input Errors</a:t>
            </a:r>
          </a:p>
        </p:txBody>
      </p:sp>
      <p:sp>
        <p:nvSpPr>
          <p:cNvPr id="39938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100"/>
              </a:spcBef>
            </a:pPr>
            <a:r>
              <a:rPr lang="en-US" altLang="en-US" dirty="0" smtClean="0"/>
              <a:t>File Reading Application Example</a:t>
            </a:r>
          </a:p>
          <a:p>
            <a:pPr lvl="1" eaLnBrk="1" hangingPunct="1">
              <a:spcBef>
                <a:spcPts val="100"/>
              </a:spcBef>
            </a:pPr>
            <a:r>
              <a:rPr lang="en-US" altLang="en-US" sz="2000" dirty="0" smtClean="0"/>
              <a:t>Goal:  Read a file of data values</a:t>
            </a:r>
          </a:p>
          <a:p>
            <a:pPr lvl="2" eaLnBrk="1" hangingPunct="1">
              <a:spcBef>
                <a:spcPts val="100"/>
              </a:spcBef>
            </a:pPr>
            <a:r>
              <a:rPr lang="en-US" altLang="en-US" sz="2000" dirty="0" smtClean="0"/>
              <a:t>First line is the count of values</a:t>
            </a:r>
          </a:p>
          <a:p>
            <a:pPr lvl="2" eaLnBrk="1" hangingPunct="1">
              <a:spcBef>
                <a:spcPts val="100"/>
              </a:spcBef>
            </a:pPr>
            <a:r>
              <a:rPr lang="en-US" altLang="en-US" sz="2000" dirty="0" smtClean="0"/>
              <a:t>Remaining lines have values</a:t>
            </a:r>
          </a:p>
          <a:p>
            <a:pPr lvl="1" eaLnBrk="1" hangingPunct="1">
              <a:spcBef>
                <a:spcPts val="100"/>
              </a:spcBef>
            </a:pPr>
            <a:r>
              <a:rPr lang="en-US" altLang="en-US" sz="2000" dirty="0" smtClean="0"/>
              <a:t>Risks:</a:t>
            </a:r>
          </a:p>
          <a:p>
            <a:pPr lvl="2" eaLnBrk="1" hangingPunct="1">
              <a:spcBef>
                <a:spcPts val="100"/>
              </a:spcBef>
            </a:pPr>
            <a:r>
              <a:rPr lang="en-US" altLang="en-US" sz="2000" dirty="0" smtClean="0"/>
              <a:t>The file may not exist</a:t>
            </a:r>
          </a:p>
          <a:p>
            <a:pPr lvl="3" eaLnBrk="1" hangingPunct="1"/>
            <a:r>
              <a:rPr lang="en-US" altLang="en-US" sz="2000" dirty="0" smtClean="0"/>
              <a:t>The </a:t>
            </a:r>
            <a:r>
              <a:rPr lang="en-US" altLang="en-US" sz="2000" dirty="0" smtClean="0">
                <a:cs typeface="Consolas" panose="020B0609020204030204" pitchFamily="49" charset="0"/>
              </a:rPr>
              <a:t>open()</a:t>
            </a:r>
            <a:r>
              <a:rPr lang="en-US" altLang="en-US" sz="2000" dirty="0" smtClean="0"/>
              <a:t> function will raise an exception when the file does not exist</a:t>
            </a:r>
          </a:p>
          <a:p>
            <a:pPr lvl="2" eaLnBrk="1" hangingPunct="1"/>
            <a:r>
              <a:rPr lang="en-US" altLang="en-US" sz="2000" dirty="0" smtClean="0"/>
              <a:t>The file might have data in the wrong format</a:t>
            </a:r>
          </a:p>
          <a:p>
            <a:pPr lvl="3" eaLnBrk="1" hangingPunct="1"/>
            <a:r>
              <a:rPr lang="en-US" altLang="en-US" sz="2000" dirty="0" smtClean="0"/>
              <a:t>When there are fewer data items than expected, or when the file doesn’t start with the count of values, the program will raise a </a:t>
            </a:r>
            <a:r>
              <a:rPr lang="en-US" altLang="en-US" sz="2000" dirty="0" err="1" smtClean="0"/>
              <a:t>ValueError</a:t>
            </a:r>
            <a:r>
              <a:rPr lang="en-US" altLang="en-US" sz="2000" dirty="0" smtClean="0"/>
              <a:t> exception</a:t>
            </a:r>
          </a:p>
          <a:p>
            <a:pPr lvl="3" eaLnBrk="1" hangingPunct="1"/>
            <a:r>
              <a:rPr lang="en-US" altLang="en-US" sz="2000" dirty="0" smtClean="0"/>
              <a:t>Finally, when there are more inputs than expected, a </a:t>
            </a:r>
            <a:r>
              <a:rPr lang="en-US" altLang="en-US" sz="2000" dirty="0" err="1" smtClean="0"/>
              <a:t>RuntimeError</a:t>
            </a:r>
            <a:r>
              <a:rPr lang="en-US" altLang="en-US" sz="2000" dirty="0" smtClean="0"/>
              <a:t> exception should be raised</a:t>
            </a:r>
          </a:p>
        </p:txBody>
      </p:sp>
      <p:sp>
        <p:nvSpPr>
          <p:cNvPr id="39939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8A45F11-26E2-45E0-A060-8F7358D54C54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8" name="Content Placeholder 8"/>
          <p:cNvSpPr txBox="1">
            <a:spLocks/>
          </p:cNvSpPr>
          <p:nvPr/>
        </p:nvSpPr>
        <p:spPr bwMode="auto">
          <a:xfrm>
            <a:off x="6129338" y="1447800"/>
            <a:ext cx="1295400" cy="1371600"/>
          </a:xfrm>
          <a:prstGeom prst="rect">
            <a:avLst/>
          </a:prstGeom>
          <a:solidFill>
            <a:srgbClr val="FAE1A4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sz="2000" dirty="0">
                <a:latin typeface="Courier New"/>
                <a:ea typeface="ＭＳ Ｐゴシック" panose="020B0600070205080204" pitchFamily="34" charset="-128"/>
                <a:cs typeface="Courier New"/>
              </a:rPr>
              <a:t>3</a:t>
            </a:r>
          </a:p>
          <a:p>
            <a:pPr eaLnBrk="1" hangingPunct="1">
              <a:defRPr/>
            </a:pPr>
            <a:r>
              <a:rPr lang="en-US" sz="2000" dirty="0" smtClean="0">
                <a:latin typeface="Courier New"/>
                <a:ea typeface="ＭＳ Ｐゴシック" panose="020B0600070205080204" pitchFamily="34" charset="-128"/>
                <a:cs typeface="Courier New"/>
              </a:rPr>
              <a:t>1.45</a:t>
            </a:r>
            <a:endParaRPr lang="en-US" sz="2000" dirty="0">
              <a:latin typeface="Courier New"/>
              <a:ea typeface="ＭＳ Ｐゴシック" panose="020B0600070205080204" pitchFamily="34" charset="-128"/>
              <a:cs typeface="Courier New"/>
            </a:endParaRPr>
          </a:p>
          <a:p>
            <a:pPr eaLnBrk="1" hangingPunct="1">
              <a:defRPr/>
            </a:pPr>
            <a:r>
              <a:rPr lang="en-US" sz="2000" dirty="0">
                <a:latin typeface="Courier New"/>
                <a:ea typeface="ＭＳ Ｐゴシック" panose="020B0600070205080204" pitchFamily="34" charset="-128"/>
                <a:cs typeface="Courier New"/>
              </a:rPr>
              <a:t>-</a:t>
            </a:r>
            <a:r>
              <a:rPr lang="en-US" sz="2000" dirty="0" smtClean="0">
                <a:latin typeface="Courier New"/>
                <a:ea typeface="ＭＳ Ｐゴシック" panose="020B0600070205080204" pitchFamily="34" charset="-128"/>
                <a:cs typeface="Courier New"/>
              </a:rPr>
              <a:t>2.1</a:t>
            </a:r>
            <a:endParaRPr lang="en-US" sz="2000" dirty="0">
              <a:latin typeface="Courier New"/>
              <a:ea typeface="ＭＳ Ｐゴシック" panose="020B0600070205080204" pitchFamily="34" charset="-128"/>
              <a:cs typeface="Courier New"/>
            </a:endParaRPr>
          </a:p>
          <a:p>
            <a:pPr eaLnBrk="1" hangingPunct="1">
              <a:defRPr/>
            </a:pPr>
            <a:r>
              <a:rPr lang="en-US" sz="2000" dirty="0" smtClean="0">
                <a:latin typeface="Courier New"/>
                <a:ea typeface="ＭＳ Ｐゴシック" panose="020B0600070205080204" pitchFamily="34" charset="-128"/>
                <a:cs typeface="Courier New"/>
              </a:rPr>
              <a:t>0.05</a:t>
            </a:r>
            <a:endParaRPr lang="en-US" sz="2400" kern="0" dirty="0"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83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016601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Handling Input Errors: </a:t>
            </a:r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cs typeface="Consolas" panose="020B0609020204030204" pitchFamily="49" charset="0"/>
              </a:rPr>
              <a:t>main()</a:t>
            </a:r>
          </a:p>
        </p:txBody>
      </p:sp>
      <p:sp>
        <p:nvSpPr>
          <p:cNvPr id="40962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200"/>
              </a:spcBef>
            </a:pPr>
            <a:r>
              <a:rPr lang="en-US" altLang="en-US" smtClean="0"/>
              <a:t>Outline for method with all exception handling</a:t>
            </a:r>
          </a:p>
        </p:txBody>
      </p:sp>
      <p:sp>
        <p:nvSpPr>
          <p:cNvPr id="4096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6EA18E4-3EFD-4620-BB1F-2C502C5E9086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822325" y="1695450"/>
            <a:ext cx="7239000" cy="3733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done = False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while not done :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try: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# Prompt user for file name</a:t>
            </a: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data = </a:t>
            </a:r>
            <a:r>
              <a:rPr lang="en-US" dirty="0">
                <a:solidFill>
                  <a:srgbClr val="00B05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readFile(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filename</a:t>
            </a:r>
            <a:r>
              <a:rPr lang="en-US" dirty="0">
                <a:solidFill>
                  <a:srgbClr val="00B05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)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</a:t>
            </a:r>
            <a:r>
              <a:rPr lang="en-US" dirty="0">
                <a:solidFill>
                  <a:srgbClr val="00B0F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# May raise exceptions</a:t>
            </a: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# Process data</a:t>
            </a: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done = true;</a:t>
            </a: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except 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IOError:</a:t>
            </a: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  print("File not </a:t>
            </a:r>
            <a:r>
              <a:rPr lang="en-US" dirty="0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found.")  </a:t>
            </a:r>
            <a:endParaRPr lang="en-US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except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ValueError :</a:t>
            </a: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  print("File contents </a:t>
            </a:r>
            <a:r>
              <a:rPr lang="en-US" dirty="0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invalid.")  </a:t>
            </a:r>
            <a:endParaRPr lang="en-US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except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RuntimeError as error:</a:t>
            </a: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  print("Error:", str(error))</a:t>
            </a:r>
            <a:endParaRPr lang="en-US" b="1" kern="0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84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768754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ＭＳ Ｐゴシック" panose="020B0600070205080204" pitchFamily="34" charset="-128"/>
              </a:rPr>
              <a:t>Handling Input Errors: </a:t>
            </a:r>
            <a:r>
              <a:rPr lang="en-US" altLang="en-US" sz="3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ＭＳ Ｐゴシック" panose="020B0600070205080204" pitchFamily="34" charset="-128"/>
                <a:cs typeface="Consolas" panose="020B0609020204030204" pitchFamily="49" charset="0"/>
              </a:rPr>
              <a:t>readFile</a:t>
            </a:r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ＭＳ Ｐゴシック" panose="020B0600070205080204" pitchFamily="34" charset="-128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41986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sz="2000" dirty="0" smtClean="0"/>
              <a:t>Creates the file object and calls the </a:t>
            </a:r>
            <a:r>
              <a:rPr lang="en-US" altLang="en-US" sz="2000" dirty="0" err="1" smtClean="0">
                <a:cs typeface="Consolas" panose="020B0609020204030204" pitchFamily="49" charset="0"/>
              </a:rPr>
              <a:t>readData</a:t>
            </a:r>
            <a:r>
              <a:rPr lang="en-US" altLang="en-US" sz="2000" dirty="0" smtClean="0">
                <a:cs typeface="Consolas" panose="020B0609020204030204" pitchFamily="49" charset="0"/>
              </a:rPr>
              <a:t>() </a:t>
            </a:r>
            <a:r>
              <a:rPr lang="en-US" altLang="en-US" sz="2000" dirty="0" smtClean="0"/>
              <a:t>function</a:t>
            </a:r>
          </a:p>
          <a:p>
            <a:pPr lvl="1" eaLnBrk="1" hangingPunct="1"/>
            <a:r>
              <a:rPr lang="en-US" altLang="en-US" sz="2000" dirty="0" smtClean="0"/>
              <a:t>No exception handling (no except clauses)</a:t>
            </a:r>
          </a:p>
          <a:p>
            <a:pPr lvl="1" eaLnBrk="1" hangingPunct="1"/>
            <a:r>
              <a:rPr lang="en-US" altLang="en-US" sz="2000" dirty="0" smtClean="0">
                <a:solidFill>
                  <a:srgbClr val="0033CC"/>
                </a:solidFill>
              </a:rPr>
              <a:t>finally</a:t>
            </a:r>
            <a:r>
              <a:rPr lang="en-US" altLang="en-US" sz="2000" dirty="0" smtClean="0"/>
              <a:t> clause closes file in all cases (exception or not)</a:t>
            </a:r>
          </a:p>
          <a:p>
            <a:pPr lvl="1" eaLnBrk="1" hangingPunct="1"/>
            <a:endParaRPr lang="en-US" altLang="en-US" sz="2000" dirty="0" smtClean="0"/>
          </a:p>
        </p:txBody>
      </p:sp>
      <p:sp>
        <p:nvSpPr>
          <p:cNvPr id="41987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DCF8884-A644-4DBE-838F-0A9D7EE11A3D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838200" y="2667000"/>
            <a:ext cx="7543800" cy="1981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def </a:t>
            </a:r>
            <a:r>
              <a:rPr lang="en-US" dirty="0">
                <a:solidFill>
                  <a:srgbClr val="00B05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readFile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(filename) :</a:t>
            </a:r>
          </a:p>
          <a:p>
            <a:pPr marL="342900" indent="-342900">
              <a:buClr>
                <a:srgbClr val="835E01"/>
              </a:buClr>
              <a:buSzPct val="60000"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inFile = open(filename, "r") </a:t>
            </a:r>
            <a:r>
              <a:rPr lang="en-US" dirty="0">
                <a:solidFill>
                  <a:srgbClr val="00B0F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# May throw exceptions </a:t>
            </a:r>
            <a:endParaRPr lang="en-US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try</a:t>
            </a:r>
            <a:endParaRPr lang="en-US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  return </a:t>
            </a:r>
            <a:r>
              <a:rPr lang="en-US" dirty="0">
                <a:solidFill>
                  <a:srgbClr val="333333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readData(inFile)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</a:t>
            </a: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solidFill>
                  <a:srgbClr val="0033CC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finally</a:t>
            </a:r>
            <a:endParaRPr lang="en-US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  <a:p>
            <a:pPr marL="342900" indent="-34290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  </a:t>
            </a:r>
            <a:r>
              <a:rPr lang="en-US" dirty="0" err="1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in.close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85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153489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40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Handling Input Errors: </a:t>
            </a:r>
            <a:r>
              <a:rPr lang="en-US" altLang="en-US" sz="3400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readData()</a:t>
            </a:r>
          </a:p>
        </p:txBody>
      </p:sp>
      <p:sp>
        <p:nvSpPr>
          <p:cNvPr id="43010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dirty="0" smtClean="0"/>
              <a:t>No exception handling (no try or except clauses)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 smtClean="0">
                <a:solidFill>
                  <a:srgbClr val="0033CC"/>
                </a:solidFill>
              </a:rPr>
              <a:t>raise</a:t>
            </a:r>
            <a:r>
              <a:rPr lang="en-US" altLang="en-US" dirty="0" smtClean="0"/>
              <a:t> creates an </a:t>
            </a:r>
            <a:r>
              <a:rPr lang="en-US" altLang="en-US" dirty="0" err="1" smtClean="0">
                <a:solidFill>
                  <a:srgbClr val="C00000"/>
                </a:solidFill>
              </a:rPr>
              <a:t>ValueError</a:t>
            </a:r>
            <a:r>
              <a:rPr lang="en-US" altLang="en-US" dirty="0" smtClean="0">
                <a:solidFill>
                  <a:srgbClr val="C00000"/>
                </a:solidFill>
              </a:rPr>
              <a:t> exception  </a:t>
            </a:r>
            <a:r>
              <a:rPr lang="en-US" altLang="en-US" dirty="0" smtClean="0"/>
              <a:t>and exits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 err="1" smtClean="0">
                <a:solidFill>
                  <a:srgbClr val="00B0F0"/>
                </a:solidFill>
              </a:rPr>
              <a:t>RuntimeError</a:t>
            </a:r>
            <a:r>
              <a:rPr lang="en-US" altLang="en-US" dirty="0" smtClean="0"/>
              <a:t> exception can occur</a:t>
            </a:r>
          </a:p>
        </p:txBody>
      </p:sp>
      <p:sp>
        <p:nvSpPr>
          <p:cNvPr id="43011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520438C-135D-43C9-AB01-294E68DB55D8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381000" y="2362200"/>
            <a:ext cx="8610600" cy="3886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def readData(inFile) :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line = </a:t>
            </a:r>
            <a:r>
              <a:rPr lang="en-US" dirty="0" err="1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inFile.readline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()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numberOfValues = int(line) </a:t>
            </a:r>
            <a:r>
              <a:rPr lang="en-US" dirty="0">
                <a:solidFill>
                  <a:srgbClr val="C0000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# May raise a </a:t>
            </a:r>
            <a:r>
              <a:rPr lang="en-US" dirty="0" err="1">
                <a:solidFill>
                  <a:srgbClr val="C0000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ValueError</a:t>
            </a:r>
            <a:r>
              <a:rPr lang="en-US" dirty="0">
                <a:solidFill>
                  <a:srgbClr val="C0000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exception.</a:t>
            </a:r>
            <a:endParaRPr lang="en-US" dirty="0">
              <a:solidFill>
                <a:srgbClr val="C00000"/>
              </a:solidFill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data = []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for i in range(numberOfValues) :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    line = </a:t>
            </a:r>
            <a:r>
              <a:rPr lang="en-US" dirty="0" err="1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inFile.readline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()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    value = int(line) </a:t>
            </a:r>
            <a:r>
              <a:rPr lang="en-US" dirty="0">
                <a:solidFill>
                  <a:srgbClr val="C0000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# May raise a </a:t>
            </a:r>
            <a:r>
              <a:rPr lang="en-US" dirty="0" err="1">
                <a:solidFill>
                  <a:srgbClr val="C0000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ValueError</a:t>
            </a:r>
            <a:r>
              <a:rPr lang="en-US" dirty="0">
                <a:solidFill>
                  <a:srgbClr val="C0000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exception.</a:t>
            </a:r>
            <a:endParaRPr lang="en-US" dirty="0">
              <a:solidFill>
                <a:srgbClr val="C00000"/>
              </a:solidFill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    </a:t>
            </a:r>
            <a:r>
              <a:rPr lang="en-US" dirty="0" err="1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data.append</a:t>
            </a:r>
            <a:r>
              <a:rPr lang="en-US" dirty="0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(value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)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# Make sure there are no more values in the </a:t>
            </a:r>
            <a:r>
              <a:rPr lang="en-US" dirty="0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file.</a:t>
            </a:r>
            <a:endParaRPr lang="en-US" dirty="0"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line = </a:t>
            </a:r>
            <a:r>
              <a:rPr lang="en-US" dirty="0" err="1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inFile.readline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()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B0F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# Extra data in file 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if line != "" :</a:t>
            </a: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    raise </a:t>
            </a:r>
            <a:r>
              <a:rPr lang="en-US" dirty="0">
                <a:solidFill>
                  <a:srgbClr val="00B0F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RuntimeError(</a:t>
            </a: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"End of file </a:t>
            </a:r>
            <a:r>
              <a:rPr lang="en-US" dirty="0" smtClean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expected."</a:t>
            </a:r>
            <a:r>
              <a:rPr lang="en-US" dirty="0" smtClean="0">
                <a:solidFill>
                  <a:srgbClr val="00B0F0"/>
                </a:solidFill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)</a:t>
            </a:r>
            <a:endParaRPr lang="en-US" dirty="0">
              <a:solidFill>
                <a:srgbClr val="00B0F0"/>
              </a:solidFill>
              <a:latin typeface="Consolas" pitchFamily="49" charset="0"/>
              <a:ea typeface="ＭＳ Ｐゴシック" panose="020B0600070205080204" pitchFamily="34" charset="-128"/>
              <a:cs typeface="Consolas" pitchFamily="49" charset="0"/>
            </a:endParaRP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ＭＳ Ｐゴシック" panose="020B0600070205080204" pitchFamily="34" charset="-128"/>
                <a:cs typeface="Consolas" pitchFamily="49" charset="0"/>
              </a:rPr>
              <a:t>    return data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86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218601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a typeface="ＭＳ Ｐゴシック" charset="0"/>
              </a:rPr>
              <a:t>Once Scenario</a:t>
            </a:r>
            <a:endParaRPr lang="en-US" dirty="0">
              <a:ea typeface="ＭＳ Ｐゴシック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1775" indent="-231775" eaLnBrk="1" hangingPunct="1">
              <a:buFont typeface="+mj-lt"/>
              <a:buAutoNum type="arabicPeriod"/>
              <a:defRPr/>
            </a:pPr>
            <a:r>
              <a:rPr lang="en-US" dirty="0" smtClean="0">
                <a:ea typeface="ＭＳ Ｐゴシック" charset="0"/>
              </a:rPr>
              <a:t>main calls </a:t>
            </a:r>
            <a:r>
              <a:rPr lang="en-US" dirty="0" err="1" smtClean="0">
                <a:solidFill>
                  <a:srgbClr val="FF0000"/>
                </a:solidFill>
                <a:ea typeface="ＭＳ Ｐゴシック" charset="0"/>
              </a:rPr>
              <a:t>readFile</a:t>
            </a:r>
            <a:endParaRPr lang="en-US" dirty="0" smtClean="0">
              <a:solidFill>
                <a:srgbClr val="FF0000"/>
              </a:solidFill>
              <a:ea typeface="ＭＳ Ｐゴシック" charset="0"/>
            </a:endParaRPr>
          </a:p>
          <a:p>
            <a:pPr marL="231775" indent="-231775" eaLnBrk="1" hangingPunct="1">
              <a:buFont typeface="+mj-lt"/>
              <a:buAutoNum type="arabicPeriod"/>
              <a:defRPr/>
            </a:pPr>
            <a:r>
              <a:rPr lang="en-US" dirty="0" err="1">
                <a:solidFill>
                  <a:srgbClr val="FF0000"/>
                </a:solidFill>
                <a:ea typeface="ＭＳ Ｐゴシック" charset="0"/>
              </a:rPr>
              <a:t>r</a:t>
            </a:r>
            <a:r>
              <a:rPr lang="en-US" dirty="0" err="1" smtClean="0">
                <a:solidFill>
                  <a:srgbClr val="FF0000"/>
                </a:solidFill>
                <a:ea typeface="ＭＳ Ｐゴシック" charset="0"/>
              </a:rPr>
              <a:t>eadFile</a:t>
            </a:r>
            <a:r>
              <a:rPr lang="en-US" dirty="0" smtClean="0">
                <a:ea typeface="ＭＳ Ｐゴシック" charset="0"/>
              </a:rPr>
              <a:t> calls </a:t>
            </a:r>
            <a:r>
              <a:rPr lang="en-US" dirty="0" err="1" smtClean="0">
                <a:solidFill>
                  <a:srgbClr val="FF0000"/>
                </a:solidFill>
                <a:ea typeface="ＭＳ Ｐゴシック" charset="0"/>
              </a:rPr>
              <a:t>readData</a:t>
            </a:r>
            <a:endParaRPr lang="en-US" dirty="0" smtClean="0">
              <a:solidFill>
                <a:srgbClr val="FF0000"/>
              </a:solidFill>
              <a:ea typeface="ＭＳ Ｐゴシック" charset="0"/>
            </a:endParaRPr>
          </a:p>
          <a:p>
            <a:pPr marL="231775" indent="-231775" eaLnBrk="1" hangingPunct="1">
              <a:buFont typeface="+mj-lt"/>
              <a:buAutoNum type="arabicPeriod"/>
              <a:defRPr/>
            </a:pPr>
            <a:r>
              <a:rPr lang="en-US" dirty="0" err="1" smtClean="0">
                <a:solidFill>
                  <a:srgbClr val="FF0000"/>
                </a:solidFill>
                <a:ea typeface="ＭＳ Ｐゴシック" charset="0"/>
              </a:rPr>
              <a:t>readData</a:t>
            </a:r>
            <a:r>
              <a:rPr lang="en-US" dirty="0" smtClean="0">
                <a:ea typeface="ＭＳ Ｐゴシック" charset="0"/>
              </a:rPr>
              <a:t> calls </a:t>
            </a:r>
            <a:r>
              <a:rPr lang="en-US" dirty="0" smtClean="0">
                <a:solidFill>
                  <a:srgbClr val="FF0000"/>
                </a:solidFill>
                <a:ea typeface="ＭＳ Ｐゴシック" charset="0"/>
              </a:rPr>
              <a:t>int</a:t>
            </a:r>
          </a:p>
          <a:p>
            <a:pPr marL="231775" indent="-231775" eaLnBrk="1" hangingPunct="1">
              <a:buFont typeface="+mj-lt"/>
              <a:buAutoNum type="arabicPeriod"/>
              <a:defRPr/>
            </a:pPr>
            <a:r>
              <a:rPr lang="en-US" dirty="0" smtClean="0">
                <a:ea typeface="ＭＳ Ｐゴシック" charset="0"/>
              </a:rPr>
              <a:t>There is no integer in the input, and int raises a </a:t>
            </a:r>
            <a:r>
              <a:rPr lang="en-US" dirty="0" err="1" smtClean="0">
                <a:solidFill>
                  <a:srgbClr val="FF0000"/>
                </a:solidFill>
                <a:ea typeface="ＭＳ Ｐゴシック" charset="0"/>
              </a:rPr>
              <a:t>ValueError</a:t>
            </a:r>
            <a:r>
              <a:rPr lang="en-US" dirty="0" smtClean="0">
                <a:ea typeface="ＭＳ Ｐゴシック" charset="0"/>
              </a:rPr>
              <a:t> exception</a:t>
            </a:r>
          </a:p>
          <a:p>
            <a:pPr marL="231775" indent="-231775" eaLnBrk="1" hangingPunct="1">
              <a:buFont typeface="+mj-lt"/>
              <a:buAutoNum type="arabicPeriod"/>
              <a:defRPr/>
            </a:pPr>
            <a:r>
              <a:rPr lang="en-US" dirty="0" err="1" smtClean="0">
                <a:solidFill>
                  <a:srgbClr val="FF0000"/>
                </a:solidFill>
                <a:ea typeface="ＭＳ Ｐゴシック" charset="0"/>
              </a:rPr>
              <a:t>readData</a:t>
            </a:r>
            <a:r>
              <a:rPr lang="en-US" dirty="0" smtClean="0">
                <a:ea typeface="ＭＳ Ｐゴシック" charset="0"/>
              </a:rPr>
              <a:t> has no </a:t>
            </a:r>
            <a:r>
              <a:rPr lang="en-US" dirty="0" smtClean="0">
                <a:solidFill>
                  <a:srgbClr val="FF0000"/>
                </a:solidFill>
                <a:ea typeface="ＭＳ Ｐゴシック" charset="0"/>
              </a:rPr>
              <a:t>except</a:t>
            </a:r>
            <a:r>
              <a:rPr lang="en-US" dirty="0" smtClean="0">
                <a:ea typeface="ＭＳ Ｐゴシック" charset="0"/>
              </a:rPr>
              <a:t> clause; it terminates immediately</a:t>
            </a:r>
          </a:p>
          <a:p>
            <a:pPr marL="231775" indent="-231775" eaLnBrk="1" hangingPunct="1">
              <a:buFont typeface="+mj-lt"/>
              <a:buAutoNum type="arabicPeriod"/>
              <a:defRPr/>
            </a:pPr>
            <a:r>
              <a:rPr lang="en-US" dirty="0" err="1" smtClean="0">
                <a:solidFill>
                  <a:srgbClr val="FF0000"/>
                </a:solidFill>
                <a:ea typeface="ＭＳ Ｐゴシック" charset="0"/>
              </a:rPr>
              <a:t>readFile</a:t>
            </a:r>
            <a:r>
              <a:rPr lang="en-US" dirty="0" smtClean="0">
                <a:ea typeface="ＭＳ Ｐゴシック" charset="0"/>
              </a:rPr>
              <a:t> has no </a:t>
            </a:r>
            <a:r>
              <a:rPr lang="en-US" dirty="0" smtClean="0">
                <a:solidFill>
                  <a:srgbClr val="FF0000"/>
                </a:solidFill>
                <a:ea typeface="ＭＳ Ｐゴシック" charset="0"/>
              </a:rPr>
              <a:t>except</a:t>
            </a:r>
            <a:r>
              <a:rPr lang="en-US" dirty="0" smtClean="0">
                <a:ea typeface="ＭＳ Ｐゴシック" charset="0"/>
              </a:rPr>
              <a:t> clause; it terminates immediately after executing the </a:t>
            </a:r>
            <a:r>
              <a:rPr lang="en-US" dirty="0" smtClean="0">
                <a:solidFill>
                  <a:srgbClr val="FF0000"/>
                </a:solidFill>
                <a:ea typeface="ＭＳ Ｐゴシック" charset="0"/>
              </a:rPr>
              <a:t>finally</a:t>
            </a:r>
            <a:r>
              <a:rPr lang="en-US" dirty="0" smtClean="0">
                <a:ea typeface="ＭＳ Ｐゴシック" charset="0"/>
              </a:rPr>
              <a:t> clause and closing the file</a:t>
            </a:r>
          </a:p>
          <a:p>
            <a:pPr marL="231775" indent="-231775" eaLnBrk="1" hangingPunct="1">
              <a:buFont typeface="+mj-lt"/>
              <a:buAutoNum type="arabicPeriod"/>
              <a:defRPr/>
            </a:pPr>
            <a:r>
              <a:rPr lang="en-US" dirty="0" smtClean="0">
                <a:ea typeface="ＭＳ Ｐゴシック" charset="0"/>
              </a:rPr>
              <a:t>The </a:t>
            </a:r>
            <a:r>
              <a:rPr lang="en-US" dirty="0" err="1" smtClean="0">
                <a:solidFill>
                  <a:srgbClr val="FF0000"/>
                </a:solidFill>
                <a:ea typeface="ＭＳ Ｐゴシック" charset="0"/>
              </a:rPr>
              <a:t>IOError</a:t>
            </a:r>
            <a:r>
              <a:rPr lang="en-US" dirty="0" smtClean="0">
                <a:ea typeface="ＭＳ Ｐゴシック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ea typeface="ＭＳ Ｐゴシック" charset="0"/>
              </a:rPr>
              <a:t>except</a:t>
            </a:r>
            <a:r>
              <a:rPr lang="en-US" dirty="0" smtClean="0">
                <a:ea typeface="ＭＳ Ｐゴシック" charset="0"/>
              </a:rPr>
              <a:t> clause is skipped</a:t>
            </a:r>
          </a:p>
          <a:p>
            <a:pPr marL="231775" indent="-231775" eaLnBrk="1" hangingPunct="1">
              <a:buFont typeface="+mj-lt"/>
              <a:buAutoNum type="arabicPeriod"/>
              <a:defRPr/>
            </a:pPr>
            <a:r>
              <a:rPr lang="en-US" dirty="0" smtClean="0">
                <a:ea typeface="ＭＳ Ｐゴシック" charset="0"/>
              </a:rPr>
              <a:t>The </a:t>
            </a:r>
            <a:r>
              <a:rPr lang="en-US" dirty="0" err="1" smtClean="0">
                <a:solidFill>
                  <a:srgbClr val="FF0000"/>
                </a:solidFill>
                <a:ea typeface="ＭＳ Ｐゴシック" charset="0"/>
              </a:rPr>
              <a:t>ValueError</a:t>
            </a:r>
            <a:r>
              <a:rPr lang="en-US" dirty="0" smtClean="0">
                <a:solidFill>
                  <a:srgbClr val="FF0000"/>
                </a:solidFill>
                <a:ea typeface="ＭＳ Ｐゴシック" charset="0"/>
              </a:rPr>
              <a:t> except</a:t>
            </a:r>
            <a:r>
              <a:rPr lang="en-US" dirty="0" smtClean="0">
                <a:ea typeface="ＭＳ Ｐゴシック" charset="0"/>
              </a:rPr>
              <a:t> clause is executed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n-US" dirty="0" smtClean="0">
              <a:ea typeface="ＭＳ Ｐゴシック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dirty="0">
              <a:ea typeface="ＭＳ Ｐゴシック" charset="0"/>
            </a:endParaRPr>
          </a:p>
        </p:txBody>
      </p:sp>
      <p:sp>
        <p:nvSpPr>
          <p:cNvPr id="68611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360DF1C-8D9B-4200-B97B-96ADAA4983EB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87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467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a typeface="ＭＳ Ｐゴシック" charset="0"/>
              </a:rPr>
              <a:t>Example Code</a:t>
            </a:r>
            <a:endParaRPr lang="en-US" dirty="0">
              <a:ea typeface="ＭＳ Ｐゴシック" charset="0"/>
            </a:endParaRPr>
          </a:p>
        </p:txBody>
      </p:sp>
      <p:sp>
        <p:nvSpPr>
          <p:cNvPr id="696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Open the file analyzedata.py</a:t>
            </a:r>
          </a:p>
        </p:txBody>
      </p:sp>
      <p:sp>
        <p:nvSpPr>
          <p:cNvPr id="69635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234A33-6F1F-4F21-8FBE-F31FF39295C7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88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346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Summary:  File Input/Output</a:t>
            </a:r>
          </a:p>
        </p:txBody>
      </p:sp>
      <p:sp>
        <p:nvSpPr>
          <p:cNvPr id="440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When opening a file, you supply the name of the file stored on disk and the mode in which the file is to be opened</a:t>
            </a:r>
          </a:p>
          <a:p>
            <a:pPr eaLnBrk="1" hangingPunct="1"/>
            <a:r>
              <a:rPr lang="en-US" altLang="en-US" dirty="0" smtClean="0"/>
              <a:t>Close all files when you are done processing them</a:t>
            </a:r>
          </a:p>
          <a:p>
            <a:pPr eaLnBrk="1" hangingPunct="1"/>
            <a:r>
              <a:rPr lang="en-US" altLang="en-US" dirty="0" smtClean="0"/>
              <a:t>Use the </a:t>
            </a:r>
            <a:r>
              <a:rPr lang="en-US" altLang="en-US" dirty="0" err="1" smtClean="0">
                <a:cs typeface="Consolas" panose="020B0609020204030204" pitchFamily="49" charset="0"/>
              </a:rPr>
              <a:t>readline</a:t>
            </a:r>
            <a:r>
              <a:rPr lang="en-US" altLang="en-US" dirty="0" smtClean="0">
                <a:cs typeface="Consolas" panose="020B0609020204030204" pitchFamily="49" charset="0"/>
              </a:rPr>
              <a:t>() </a:t>
            </a:r>
            <a:r>
              <a:rPr lang="en-US" altLang="en-US" dirty="0" smtClean="0"/>
              <a:t>method to obtain lines of text from a file</a:t>
            </a:r>
          </a:p>
          <a:p>
            <a:pPr eaLnBrk="1" hangingPunct="1"/>
            <a:r>
              <a:rPr lang="en-US" altLang="en-US" dirty="0" smtClean="0"/>
              <a:t>Write to a file using the write() method or the print() function</a:t>
            </a:r>
          </a:p>
        </p:txBody>
      </p:sp>
      <p:sp>
        <p:nvSpPr>
          <p:cNvPr id="44035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5D6A11B-390C-44C1-AEE8-B11DF25BEFA5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89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44783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Summary:  Processing Text Files</a:t>
            </a:r>
          </a:p>
        </p:txBody>
      </p:sp>
      <p:sp>
        <p:nvSpPr>
          <p:cNvPr id="450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You can iterate over a file object to read the lines of text in the file</a:t>
            </a:r>
          </a:p>
          <a:p>
            <a:pPr eaLnBrk="1" hangingPunct="1"/>
            <a:r>
              <a:rPr lang="en-US" altLang="en-US" dirty="0" smtClean="0"/>
              <a:t>Use the </a:t>
            </a:r>
            <a:r>
              <a:rPr lang="en-US" altLang="en-US" dirty="0" err="1" smtClean="0">
                <a:cs typeface="Consolas" panose="020B0609020204030204" pitchFamily="49" charset="0"/>
              </a:rPr>
              <a:t>rstrip</a:t>
            </a:r>
            <a:r>
              <a:rPr lang="en-US" altLang="en-US" dirty="0" smtClean="0">
                <a:cs typeface="Consolas" panose="020B0609020204030204" pitchFamily="49" charset="0"/>
              </a:rPr>
              <a:t>()</a:t>
            </a:r>
            <a:r>
              <a:rPr lang="en-US" altLang="en-US" dirty="0" smtClean="0"/>
              <a:t> method to remove the newline character from a line of text</a:t>
            </a:r>
          </a:p>
          <a:p>
            <a:pPr eaLnBrk="1" hangingPunct="1"/>
            <a:r>
              <a:rPr lang="en-US" altLang="en-US" dirty="0" smtClean="0"/>
              <a:t>Use the split() method to split a string into individual words</a:t>
            </a:r>
          </a:p>
          <a:p>
            <a:pPr eaLnBrk="1" hangingPunct="1"/>
            <a:r>
              <a:rPr lang="en-US" altLang="en-US" dirty="0" smtClean="0"/>
              <a:t>Read one or more characters with the read() method</a:t>
            </a:r>
          </a:p>
        </p:txBody>
      </p:sp>
      <p:sp>
        <p:nvSpPr>
          <p:cNvPr id="45059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40F944-3F84-4E45-A91E-929C2F13496B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90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109822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Command Line Arguments</a:t>
            </a:r>
          </a:p>
        </p:txBody>
      </p:sp>
      <p:sp>
        <p:nvSpPr>
          <p:cNvPr id="460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Programs that start from the command line receive the command line arguments in the </a:t>
            </a:r>
            <a:r>
              <a:rPr lang="en-US" altLang="en-US" dirty="0" err="1" smtClean="0">
                <a:cs typeface="Consolas" panose="020B0609020204030204" pitchFamily="49" charset="0"/>
              </a:rPr>
              <a:t>argv</a:t>
            </a:r>
            <a:r>
              <a:rPr lang="en-US" altLang="en-US" dirty="0" smtClean="0"/>
              <a:t> list defined in the sys module</a:t>
            </a:r>
          </a:p>
        </p:txBody>
      </p:sp>
      <p:sp>
        <p:nvSpPr>
          <p:cNvPr id="4608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7EBAB0B-0C40-48EB-AEE4-D9B342F271B6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91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920520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Summary:  Exceptions (1)</a:t>
            </a:r>
          </a:p>
        </p:txBody>
      </p:sp>
      <p:sp>
        <p:nvSpPr>
          <p:cNvPr id="471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To signal an exceptional condition, use the </a:t>
            </a:r>
            <a:r>
              <a:rPr lang="en-US" altLang="en-US" dirty="0" smtClean="0">
                <a:solidFill>
                  <a:srgbClr val="0033CC"/>
                </a:solidFill>
              </a:rPr>
              <a:t>raise</a:t>
            </a:r>
            <a:r>
              <a:rPr lang="en-US" altLang="en-US" dirty="0" smtClean="0"/>
              <a:t> statement to raise an exception object</a:t>
            </a:r>
          </a:p>
          <a:p>
            <a:pPr eaLnBrk="1" hangingPunct="1"/>
            <a:r>
              <a:rPr lang="en-US" altLang="en-US" dirty="0" smtClean="0"/>
              <a:t>When you </a:t>
            </a:r>
            <a:r>
              <a:rPr lang="en-US" altLang="en-US" dirty="0" smtClean="0">
                <a:solidFill>
                  <a:srgbClr val="0033CC"/>
                </a:solidFill>
              </a:rPr>
              <a:t>raise</a:t>
            </a:r>
            <a:r>
              <a:rPr lang="en-US" altLang="en-US" dirty="0" smtClean="0"/>
              <a:t> an exception, processing continues in an exception handler</a:t>
            </a:r>
          </a:p>
          <a:p>
            <a:pPr eaLnBrk="1" hangingPunct="1"/>
            <a:r>
              <a:rPr lang="en-US" altLang="en-US" dirty="0" smtClean="0"/>
              <a:t>Place the statements that can cause an exception inside a </a:t>
            </a:r>
            <a:r>
              <a:rPr lang="en-US" altLang="en-US" dirty="0" smtClean="0">
                <a:solidFill>
                  <a:srgbClr val="0033CC"/>
                </a:solidFill>
              </a:rPr>
              <a:t>try</a:t>
            </a:r>
            <a:r>
              <a:rPr lang="en-US" altLang="en-US" dirty="0" smtClean="0"/>
              <a:t> block, and the handler inside an </a:t>
            </a:r>
            <a:r>
              <a:rPr lang="en-US" altLang="en-US" dirty="0" smtClean="0">
                <a:solidFill>
                  <a:srgbClr val="0033CC"/>
                </a:solidFill>
              </a:rPr>
              <a:t>except</a:t>
            </a:r>
            <a:r>
              <a:rPr lang="en-US" altLang="en-US" dirty="0" smtClean="0"/>
              <a:t> clause</a:t>
            </a:r>
          </a:p>
          <a:p>
            <a:pPr eaLnBrk="1" hangingPunct="1"/>
            <a:r>
              <a:rPr lang="en-US" altLang="en-US" dirty="0" smtClean="0"/>
              <a:t>Once a </a:t>
            </a:r>
            <a:r>
              <a:rPr lang="en-US" altLang="en-US" dirty="0" smtClean="0">
                <a:solidFill>
                  <a:srgbClr val="0033CC"/>
                </a:solidFill>
              </a:rPr>
              <a:t>try</a:t>
            </a:r>
            <a:r>
              <a:rPr lang="en-US" altLang="en-US" dirty="0" smtClean="0"/>
              <a:t> block is entered, the statements in a </a:t>
            </a:r>
            <a:r>
              <a:rPr lang="en-US" altLang="en-US" dirty="0" smtClean="0">
                <a:solidFill>
                  <a:srgbClr val="0033CC"/>
                </a:solidFill>
              </a:rPr>
              <a:t>finally</a:t>
            </a:r>
            <a:r>
              <a:rPr lang="en-US" altLang="en-US" dirty="0" smtClean="0"/>
              <a:t> clause are guaranteed to be executed, whether or not an exception is raised</a:t>
            </a:r>
          </a:p>
        </p:txBody>
      </p:sp>
      <p:sp>
        <p:nvSpPr>
          <p:cNvPr id="47107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50309CE-CACA-4DBD-92DE-A7EBDFC10F5B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92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872113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Summary:  Exceptions (2)</a:t>
            </a:r>
          </a:p>
        </p:txBody>
      </p:sp>
      <p:sp>
        <p:nvSpPr>
          <p:cNvPr id="481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300"/>
              </a:spcBef>
            </a:pPr>
            <a:r>
              <a:rPr lang="en-US" altLang="en-US" dirty="0" smtClean="0"/>
              <a:t>Raise an exception as soon as a problem is detected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000" dirty="0" smtClean="0"/>
              <a:t>Handle it only when the problem can be handled</a:t>
            </a:r>
          </a:p>
          <a:p>
            <a:pPr eaLnBrk="1" hangingPunct="1"/>
            <a:r>
              <a:rPr lang="en-US" altLang="en-US" dirty="0" smtClean="0"/>
              <a:t>When designing a program, ask yourself what kinds of exceptions can occur</a:t>
            </a:r>
          </a:p>
          <a:p>
            <a:pPr eaLnBrk="1" hangingPunct="1"/>
            <a:r>
              <a:rPr lang="en-US" altLang="en-US" dirty="0" smtClean="0"/>
              <a:t>For each exception, you need to decide which part of your program can competently handle it</a:t>
            </a:r>
          </a:p>
        </p:txBody>
      </p:sp>
      <p:sp>
        <p:nvSpPr>
          <p:cNvPr id="48131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18312ED-25E0-488C-9FE3-76E0A7D978D9}" type="datetime1">
              <a:rPr lang="en-US" altLang="en-US" sz="1200" smtClean="0">
                <a:solidFill>
                  <a:schemeClr val="accent1"/>
                </a:solidFill>
              </a:rPr>
              <a:t>11/15/2015</a:t>
            </a:fld>
            <a:endParaRPr lang="en-US" altLang="en-US" sz="120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Page </a:t>
            </a:r>
            <a:fld id="{E3B93FE9-A421-4B87-A671-7CC69EB1D69E}" type="slidenum">
              <a:rPr lang="en-US" altLang="en-US" smtClean="0"/>
              <a:pPr/>
              <a:t>93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69312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47f6f9d1d3c533cf13bc6be01e5702879ecb4d"/>
</p:tagLst>
</file>

<file path=ppt/theme/theme1.xml><?xml version="1.0" encoding="utf-8"?>
<a:theme xmlns:a="http://schemas.openxmlformats.org/drawingml/2006/main" name="RMC Presentation">
  <a:themeElements>
    <a:clrScheme name="Custom 1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FFFF00"/>
      </a:accent1>
      <a:accent2>
        <a:srgbClr val="000000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MC Presentation" id="{F133566A-6107-4ECA-B6E3-BC26A31F9F4B}" vid="{0E2C91F3-DABD-4653-8A6F-0A5A5848A1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8640</TotalTime>
  <Words>4713</Words>
  <Application>Microsoft Office PowerPoint</Application>
  <PresentationFormat>On-screen Show (4:3)</PresentationFormat>
  <Paragraphs>737</Paragraphs>
  <Slides>93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103" baseType="lpstr">
      <vt:lpstr>ＭＳ Ｐゴシック</vt:lpstr>
      <vt:lpstr>ＭＳ Ｐゴシック</vt:lpstr>
      <vt:lpstr>Arial</vt:lpstr>
      <vt:lpstr>Calibri</vt:lpstr>
      <vt:lpstr>Calibri Light</vt:lpstr>
      <vt:lpstr>Consolas</vt:lpstr>
      <vt:lpstr>Courier New</vt:lpstr>
      <vt:lpstr>Times New Roman</vt:lpstr>
      <vt:lpstr>Wingdings</vt:lpstr>
      <vt:lpstr>RMC Presentation</vt:lpstr>
      <vt:lpstr>Chapter Seven</vt:lpstr>
      <vt:lpstr>Chapter Goals</vt:lpstr>
      <vt:lpstr>Contents</vt:lpstr>
      <vt:lpstr>Reading and Writing Text Files</vt:lpstr>
      <vt:lpstr>Reading and Writing Text Files</vt:lpstr>
      <vt:lpstr>Opening Files: Reading</vt:lpstr>
      <vt:lpstr>Opening Files: Reading (2)</vt:lpstr>
      <vt:lpstr>Opening Files: Writing</vt:lpstr>
      <vt:lpstr>Closing Files: Important</vt:lpstr>
      <vt:lpstr>Syntax: Opening And Closing Files</vt:lpstr>
      <vt:lpstr>Reading From a File</vt:lpstr>
      <vt:lpstr>Reading From a File (2)</vt:lpstr>
      <vt:lpstr>Reading From a File (3)</vt:lpstr>
      <vt:lpstr>Reading Multiple Lines From a File</vt:lpstr>
      <vt:lpstr>Converting File Input</vt:lpstr>
      <vt:lpstr>Writing To A File</vt:lpstr>
      <vt:lpstr>Example: File Reading/Writing</vt:lpstr>
      <vt:lpstr>Example: File Reading/Writing (2)</vt:lpstr>
      <vt:lpstr>Example One</vt:lpstr>
      <vt:lpstr>Common Error</vt:lpstr>
      <vt:lpstr>Text Input and Output</vt:lpstr>
      <vt:lpstr>Text Input and Output</vt:lpstr>
      <vt:lpstr>Processing Text Input</vt:lpstr>
      <vt:lpstr>Text Input and Output</vt:lpstr>
      <vt:lpstr>An Example of Reading a File</vt:lpstr>
      <vt:lpstr>Removing The Newline (1)</vt:lpstr>
      <vt:lpstr>Removing The Newline (2)</vt:lpstr>
      <vt:lpstr>Character Strip Methods</vt:lpstr>
      <vt:lpstr>Character Strip Examples</vt:lpstr>
      <vt:lpstr>Reading Words</vt:lpstr>
      <vt:lpstr>Reading Words (2)</vt:lpstr>
      <vt:lpstr>Reading Words (3)</vt:lpstr>
      <vt:lpstr>Reading Words (4)</vt:lpstr>
      <vt:lpstr>Reading Words: Complete Example</vt:lpstr>
      <vt:lpstr>Example Two</vt:lpstr>
      <vt:lpstr>Additional String Splitting Methods</vt:lpstr>
      <vt:lpstr>Additional String Splitting Examples</vt:lpstr>
      <vt:lpstr>Reading Characters</vt:lpstr>
      <vt:lpstr>Algorithm: Reading Characters</vt:lpstr>
      <vt:lpstr>Reading Records</vt:lpstr>
      <vt:lpstr>Record Formats: Example</vt:lpstr>
      <vt:lpstr>Record Formats: Example</vt:lpstr>
      <vt:lpstr>Record Formats: Example 2</vt:lpstr>
      <vt:lpstr>Record Formats: Example 3</vt:lpstr>
      <vt:lpstr>Record Formats: Example 3</vt:lpstr>
      <vt:lpstr>Record Formats: Example 3</vt:lpstr>
      <vt:lpstr>File Operations</vt:lpstr>
      <vt:lpstr>A Second Example</vt:lpstr>
      <vt:lpstr>Command Line Arguments</vt:lpstr>
      <vt:lpstr>Using Command Line Arguments</vt:lpstr>
      <vt:lpstr>Command Line Arguments</vt:lpstr>
      <vt:lpstr>When to use Command Line Arguments</vt:lpstr>
      <vt:lpstr>Processing Text Files Example</vt:lpstr>
      <vt:lpstr>Steps to Processing Text Files</vt:lpstr>
      <vt:lpstr>Six Steps to Processing Text Files</vt:lpstr>
      <vt:lpstr>Processing Text Files: Pseudocode</vt:lpstr>
      <vt:lpstr>Step Two</vt:lpstr>
      <vt:lpstr>Step Three</vt:lpstr>
      <vt:lpstr>Step Four</vt:lpstr>
      <vt:lpstr>Step Five</vt:lpstr>
      <vt:lpstr>Step Six</vt:lpstr>
      <vt:lpstr>Example Code</vt:lpstr>
      <vt:lpstr>Exception Handling</vt:lpstr>
      <vt:lpstr>Exception Handling</vt:lpstr>
      <vt:lpstr>Detecting Errors</vt:lpstr>
      <vt:lpstr>Exception Classes (a subset)</vt:lpstr>
      <vt:lpstr>Syntax: Raising an Exception</vt:lpstr>
      <vt:lpstr>Handling Exceptions</vt:lpstr>
      <vt:lpstr>Handling Exceptions: Try-Except</vt:lpstr>
      <vt:lpstr>Syntax: Try-Except</vt:lpstr>
      <vt:lpstr>Try-Except: An Example</vt:lpstr>
      <vt:lpstr>Example</vt:lpstr>
      <vt:lpstr>Output Messages</vt:lpstr>
      <vt:lpstr>Output Messages (2)</vt:lpstr>
      <vt:lpstr>Source of Output Messages</vt:lpstr>
      <vt:lpstr>The finally Clause</vt:lpstr>
      <vt:lpstr>Syntax: The Finally Clause</vt:lpstr>
      <vt:lpstr>Programming Tip</vt:lpstr>
      <vt:lpstr>Programming Tip</vt:lpstr>
      <vt:lpstr>Programming Tip</vt:lpstr>
      <vt:lpstr>The With Statement</vt:lpstr>
      <vt:lpstr>Handling Input Errors</vt:lpstr>
      <vt:lpstr>Handling Input Errors</vt:lpstr>
      <vt:lpstr>Handling Input Errors: main()</vt:lpstr>
      <vt:lpstr>Handling Input Errors: readFile()</vt:lpstr>
      <vt:lpstr>Handling Input Errors: readData()</vt:lpstr>
      <vt:lpstr>Once Scenario</vt:lpstr>
      <vt:lpstr>Example Code</vt:lpstr>
      <vt:lpstr>Summary:  File Input/Output</vt:lpstr>
      <vt:lpstr>Summary:  Processing Text Files</vt:lpstr>
      <vt:lpstr>Command Line Arguments</vt:lpstr>
      <vt:lpstr>Summary:  Exceptions (1)</vt:lpstr>
      <vt:lpstr>Summary:  Exceptions (2)</vt:lpstr>
    </vt:vector>
  </TitlesOfParts>
  <Company>Technetrain.com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I/O and Exceptions</dc:title>
  <dc:subject>Java for Everyone 2e</dc:subject>
  <dc:description>Based on bjlo_ch07_8.pdf</dc:description>
  <cp:lastModifiedBy>Amanda Stouder</cp:lastModifiedBy>
  <cp:revision>492</cp:revision>
  <dcterms:created xsi:type="dcterms:W3CDTF">2007-02-01T21:32:19Z</dcterms:created>
  <dcterms:modified xsi:type="dcterms:W3CDTF">2015-11-16T02:53:05Z</dcterms:modified>
  <cp:contentStatus>Final Draft</cp:contentStatus>
</cp:coreProperties>
</file>