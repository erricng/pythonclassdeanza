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44" r:id="rId1"/>
  </p:sldMasterIdLst>
  <p:notesMasterIdLst>
    <p:notesMasterId r:id="rId114"/>
  </p:notesMasterIdLst>
  <p:handoutMasterIdLst>
    <p:handoutMasterId r:id="rId115"/>
  </p:handoutMasterIdLst>
  <p:sldIdLst>
    <p:sldId id="365" r:id="rId2"/>
    <p:sldId id="366" r:id="rId3"/>
    <p:sldId id="367" r:id="rId4"/>
    <p:sldId id="368" r:id="rId5"/>
    <p:sldId id="369" r:id="rId6"/>
    <p:sldId id="460" r:id="rId7"/>
    <p:sldId id="461" r:id="rId8"/>
    <p:sldId id="462" r:id="rId9"/>
    <p:sldId id="463" r:id="rId10"/>
    <p:sldId id="464" r:id="rId11"/>
    <p:sldId id="419" r:id="rId12"/>
    <p:sldId id="465" r:id="rId13"/>
    <p:sldId id="471" r:id="rId14"/>
    <p:sldId id="466" r:id="rId15"/>
    <p:sldId id="467" r:id="rId16"/>
    <p:sldId id="468" r:id="rId17"/>
    <p:sldId id="469" r:id="rId18"/>
    <p:sldId id="470" r:id="rId19"/>
    <p:sldId id="472" r:id="rId20"/>
    <p:sldId id="540" r:id="rId21"/>
    <p:sldId id="370" r:id="rId22"/>
    <p:sldId id="371" r:id="rId23"/>
    <p:sldId id="473" r:id="rId24"/>
    <p:sldId id="474" r:id="rId25"/>
    <p:sldId id="475" r:id="rId26"/>
    <p:sldId id="476" r:id="rId27"/>
    <p:sldId id="374" r:id="rId28"/>
    <p:sldId id="477" r:id="rId29"/>
    <p:sldId id="478" r:id="rId30"/>
    <p:sldId id="450" r:id="rId31"/>
    <p:sldId id="482" r:id="rId32"/>
    <p:sldId id="483" r:id="rId33"/>
    <p:sldId id="481" r:id="rId34"/>
    <p:sldId id="479" r:id="rId35"/>
    <p:sldId id="480" r:id="rId36"/>
    <p:sldId id="484" r:id="rId37"/>
    <p:sldId id="485" r:id="rId38"/>
    <p:sldId id="378" r:id="rId39"/>
    <p:sldId id="380" r:id="rId40"/>
    <p:sldId id="486" r:id="rId41"/>
    <p:sldId id="487" r:id="rId42"/>
    <p:sldId id="488" r:id="rId43"/>
    <p:sldId id="489" r:id="rId44"/>
    <p:sldId id="490" r:id="rId45"/>
    <p:sldId id="491" r:id="rId46"/>
    <p:sldId id="492" r:id="rId47"/>
    <p:sldId id="493" r:id="rId48"/>
    <p:sldId id="494" r:id="rId49"/>
    <p:sldId id="495" r:id="rId50"/>
    <p:sldId id="496" r:id="rId51"/>
    <p:sldId id="390" r:id="rId52"/>
    <p:sldId id="497" r:id="rId53"/>
    <p:sldId id="498" r:id="rId54"/>
    <p:sldId id="499" r:id="rId55"/>
    <p:sldId id="500" r:id="rId56"/>
    <p:sldId id="501" r:id="rId57"/>
    <p:sldId id="502" r:id="rId58"/>
    <p:sldId id="392" r:id="rId59"/>
    <p:sldId id="504" r:id="rId60"/>
    <p:sldId id="503" r:id="rId61"/>
    <p:sldId id="420" r:id="rId62"/>
    <p:sldId id="441" r:id="rId63"/>
    <p:sldId id="421" r:id="rId64"/>
    <p:sldId id="442" r:id="rId65"/>
    <p:sldId id="443" r:id="rId66"/>
    <p:sldId id="444" r:id="rId67"/>
    <p:sldId id="445" r:id="rId68"/>
    <p:sldId id="446" r:id="rId69"/>
    <p:sldId id="447" r:id="rId70"/>
    <p:sldId id="399" r:id="rId71"/>
    <p:sldId id="400" r:id="rId72"/>
    <p:sldId id="529" r:id="rId73"/>
    <p:sldId id="402" r:id="rId74"/>
    <p:sldId id="403" r:id="rId75"/>
    <p:sldId id="448" r:id="rId76"/>
    <p:sldId id="530" r:id="rId77"/>
    <p:sldId id="531" r:id="rId78"/>
    <p:sldId id="532" r:id="rId79"/>
    <p:sldId id="404" r:id="rId80"/>
    <p:sldId id="505" r:id="rId81"/>
    <p:sldId id="507" r:id="rId82"/>
    <p:sldId id="508" r:id="rId83"/>
    <p:sldId id="509" r:id="rId84"/>
    <p:sldId id="511" r:id="rId85"/>
    <p:sldId id="512" r:id="rId86"/>
    <p:sldId id="513" r:id="rId87"/>
    <p:sldId id="514" r:id="rId88"/>
    <p:sldId id="515" r:id="rId89"/>
    <p:sldId id="516" r:id="rId90"/>
    <p:sldId id="517" r:id="rId91"/>
    <p:sldId id="518" r:id="rId92"/>
    <p:sldId id="519" r:id="rId93"/>
    <p:sldId id="520" r:id="rId94"/>
    <p:sldId id="521" r:id="rId95"/>
    <p:sldId id="522" r:id="rId96"/>
    <p:sldId id="523" r:id="rId97"/>
    <p:sldId id="524" r:id="rId98"/>
    <p:sldId id="525" r:id="rId99"/>
    <p:sldId id="526" r:id="rId100"/>
    <p:sldId id="527" r:id="rId101"/>
    <p:sldId id="528" r:id="rId102"/>
    <p:sldId id="414" r:id="rId103"/>
    <p:sldId id="415" r:id="rId104"/>
    <p:sldId id="416" r:id="rId105"/>
    <p:sldId id="418" r:id="rId106"/>
    <p:sldId id="533" r:id="rId107"/>
    <p:sldId id="534" r:id="rId108"/>
    <p:sldId id="535" r:id="rId109"/>
    <p:sldId id="536" r:id="rId110"/>
    <p:sldId id="537" r:id="rId111"/>
    <p:sldId id="538" r:id="rId112"/>
    <p:sldId id="539" r:id="rId113"/>
  </p:sldIdLst>
  <p:sldSz cx="9144000" cy="6858000" type="screen4x3"/>
  <p:notesSz cx="6858000" cy="9144000"/>
  <p:custDataLst>
    <p:tags r:id="rId116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333333"/>
    <a:srgbClr val="9933FF"/>
    <a:srgbClr val="9966FF"/>
    <a:srgbClr val="3853A8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21" autoAdjust="0"/>
    <p:restoredTop sz="94660"/>
  </p:normalViewPr>
  <p:slideViewPr>
    <p:cSldViewPr>
      <p:cViewPr varScale="1">
        <p:scale>
          <a:sx n="44" d="100"/>
          <a:sy n="44" d="100"/>
        </p:scale>
        <p:origin x="62" y="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3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2700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notesMaster" Target="notesMasters/notesMaster1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2ADB9E05-6532-401B-9ED7-FD016F791E3D}" type="datetimeFigureOut">
              <a:rPr lang="en-US"/>
              <a:pPr>
                <a:defRPr/>
              </a:pPr>
              <a:t>11/16/2015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23913BD-246A-4A92-971C-3DD4BD86DB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54646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dirty="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90CB4C11-F028-42E9-BEF7-887FFC40966B}" type="datetimeFigureOut">
              <a:rPr lang="en-US"/>
              <a:pPr>
                <a:defRPr/>
              </a:pPr>
              <a:t>11/16/2015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dirty="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Arial" panose="020B0604020202020204" pitchFamily="34" charset="0"/>
              </a:defRPr>
            </a:lvl1pPr>
          </a:lstStyle>
          <a:p>
            <a:fld id="{B44A6515-53BB-4583-9A89-193E132A6D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07845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A6515-53BB-4583-9A89-193E132A6DB0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7736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4A6515-53BB-4583-9A89-193E132A6DB0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1327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1259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1FAECB7-2310-4895-98FF-084A652C6972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5578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800518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22961" y="3505413"/>
            <a:ext cx="7543800" cy="72576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7131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fld id="{878F7340-A7CA-480D-92D2-D3FEF9C76EFC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7543800" y="6400800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fld id="{5377897D-8B40-47E8-9453-480ECD64FFBC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74084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77886"/>
            <a:ext cx="7543800" cy="1647226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4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fld id="{C715EF9C-E282-4B72-A5D9-76843FD1016F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fld id="{5377897D-8B40-47E8-9453-480ECD64FFB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801960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807637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77475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404257"/>
            <a:ext cx="3703320" cy="44648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404258"/>
            <a:ext cx="3703320" cy="44648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fld id="{E2833631-CF1F-43E7-A17D-21E361BAC79E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fld id="{10AC2DB3-9000-4EC8-B97E-74B7B11597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1869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B70B998A-3321-4DE5-89FA-F344DED26450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10AC2DB3-9000-4EC8-B97E-74B7B11597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4378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75423-6D5F-41D8-A0E0-8741F7F432FF}" type="datetime1">
              <a:rPr lang="en-US" smtClean="0"/>
              <a:t>11/16/2015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C2DB3-9000-4EC8-B97E-74B7B115971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381" y="6793992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706003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7257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255006"/>
            <a:ext cx="7543801" cy="461408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DB599352-7521-4452-A2E8-9B7731F1C3A8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00"/>
                </a:solidFill>
              </a:defRPr>
            </a:lvl1pPr>
          </a:lstStyle>
          <a:p>
            <a:fld id="{5377897D-8B40-47E8-9453-480ECD64FFBC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1540" y="1133688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-1" y="6800964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57959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5" r:id="rId1"/>
    <p:sldLayoutId id="2147484146" r:id="rId2"/>
    <p:sldLayoutId id="2147484147" r:id="rId3"/>
    <p:sldLayoutId id="2147484148" r:id="rId4"/>
    <p:sldLayoutId id="2147484150" r:id="rId5"/>
    <p:sldLayoutId id="2147484151" r:id="rId6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TextBox 8"/>
          <p:cNvSpPr txBox="1">
            <a:spLocks noChangeArrowheads="1"/>
          </p:cNvSpPr>
          <p:nvPr/>
        </p:nvSpPr>
        <p:spPr bwMode="auto">
          <a:xfrm>
            <a:off x="7046913" y="6246813"/>
            <a:ext cx="95726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1000" dirty="0"/>
              <a:t>May 17, 2013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OBJECTS AND CLASSES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Nine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Chapter Goals</a:t>
            </a:r>
          </a:p>
        </p:txBody>
      </p:sp>
      <p:sp>
        <p:nvSpPr>
          <p:cNvPr id="11267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To understand the concepts of classes, objects and encapsulation</a:t>
            </a:r>
          </a:p>
          <a:p>
            <a:r>
              <a:rPr lang="en-US" altLang="en-US" dirty="0" smtClean="0"/>
              <a:t>To implement instance variables, methods and constructors</a:t>
            </a:r>
          </a:p>
          <a:p>
            <a:r>
              <a:rPr lang="en-US" altLang="en-US" dirty="0" smtClean="0"/>
              <a:t>To be able to design, implement, and test your own classes</a:t>
            </a:r>
          </a:p>
          <a:p>
            <a:r>
              <a:rPr lang="en-US" altLang="en-US" dirty="0" smtClean="0"/>
              <a:t>To understand the behavior of object references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FD918-096B-4EFB-8B7B-F0109BD57BD0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11268" name="TextBox 6"/>
          <p:cNvSpPr txBox="1">
            <a:spLocks noChangeArrowheads="1"/>
          </p:cNvSpPr>
          <p:nvPr/>
        </p:nvSpPr>
        <p:spPr bwMode="auto">
          <a:xfrm>
            <a:off x="1866900" y="4038600"/>
            <a:ext cx="5410200" cy="1016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000" dirty="0">
                <a:latin typeface="+mn-lt"/>
                <a:cs typeface="Arial" panose="020B0604020202020204" pitchFamily="34" charset="0"/>
              </a:rPr>
              <a:t>In this chapter, you will learn how to discover, specify, and implement your own classes, and how to use them in your programs.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Contents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mtClean="0"/>
              <a:t>Object-Oriented Programming</a:t>
            </a:r>
          </a:p>
          <a:p>
            <a:r>
              <a:rPr lang="en-US" altLang="en-US" smtClean="0"/>
              <a:t>Implementing a Simple Class</a:t>
            </a:r>
          </a:p>
          <a:p>
            <a:r>
              <a:rPr lang="en-US" altLang="en-US" smtClean="0"/>
              <a:t>Specifying the Public Interface of a Class</a:t>
            </a:r>
          </a:p>
          <a:p>
            <a:r>
              <a:rPr lang="en-US" altLang="en-US" smtClean="0"/>
              <a:t>Designing the Data Representation</a:t>
            </a:r>
          </a:p>
          <a:p>
            <a:r>
              <a:rPr lang="en-US" altLang="en-US" smtClean="0"/>
              <a:t>Constructors</a:t>
            </a:r>
          </a:p>
          <a:p>
            <a:r>
              <a:rPr lang="en-US" altLang="en-US" smtClean="0"/>
              <a:t>Implementing Methods</a:t>
            </a:r>
          </a:p>
          <a:p>
            <a:r>
              <a:rPr lang="en-US" altLang="en-US" smtClean="0"/>
              <a:t>Testing a Class</a:t>
            </a:r>
          </a:p>
          <a:p>
            <a:r>
              <a:rPr lang="en-US" altLang="en-US" smtClean="0"/>
              <a:t>Problem Solving: Tracing Objects</a:t>
            </a:r>
          </a:p>
          <a:p>
            <a:r>
              <a:rPr lang="en-US" altLang="en-US" smtClean="0"/>
              <a:t>Problem Solving: Patterns for Object data</a:t>
            </a:r>
          </a:p>
          <a:p>
            <a:r>
              <a:rPr lang="en-US" altLang="en-US" smtClean="0"/>
              <a:t>Object References</a:t>
            </a:r>
          </a:p>
          <a:p>
            <a:r>
              <a:rPr lang="en-US" altLang="en-US" smtClean="0"/>
              <a:t>Application: Writing a Fraction Class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DE968-126C-48CE-B8ED-8B8121E63680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Object-Oriented Programming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You have learned structured programming</a:t>
            </a:r>
          </a:p>
          <a:p>
            <a:pPr lvl="1"/>
            <a:r>
              <a:rPr lang="en-US" altLang="en-US" smtClean="0"/>
              <a:t>Breaking tasks into subtasks</a:t>
            </a:r>
          </a:p>
          <a:p>
            <a:pPr lvl="1"/>
            <a:r>
              <a:rPr lang="en-US" altLang="en-US" smtClean="0"/>
              <a:t>Writing re-usable methods to handle tasks</a:t>
            </a:r>
          </a:p>
          <a:p>
            <a:r>
              <a:rPr lang="en-US" altLang="en-US" smtClean="0"/>
              <a:t>We will now study Objects and Classes</a:t>
            </a:r>
          </a:p>
          <a:p>
            <a:pPr lvl="1"/>
            <a:r>
              <a:rPr lang="en-US" altLang="en-US" smtClean="0"/>
              <a:t>To build larger and more complex programs</a:t>
            </a:r>
          </a:p>
          <a:p>
            <a:pPr lvl="1"/>
            <a:r>
              <a:rPr lang="en-US" altLang="en-US" smtClean="0"/>
              <a:t>To model objects we use in the world </a:t>
            </a:r>
          </a:p>
          <a:p>
            <a:pPr lvl="1"/>
            <a:endParaRPr lang="en-US" altLang="en-US" smtClean="0"/>
          </a:p>
          <a:p>
            <a:endParaRPr lang="en-US" altLang="en-US" smtClean="0"/>
          </a:p>
          <a:p>
            <a:endParaRPr lang="en-US" altLang="en-US" dirty="0" smtClean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690CC-33BA-4581-B26D-9E05160B72BC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13316" name="TextBox 6"/>
          <p:cNvSpPr txBox="1">
            <a:spLocks noChangeArrowheads="1"/>
          </p:cNvSpPr>
          <p:nvPr/>
        </p:nvSpPr>
        <p:spPr bwMode="auto">
          <a:xfrm>
            <a:off x="800100" y="4178478"/>
            <a:ext cx="7543801" cy="1015663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dirty="0">
                <a:cs typeface="Arial" panose="020B0604020202020204" pitchFamily="34" charset="0"/>
              </a:rPr>
              <a:t>A class </a:t>
            </a:r>
            <a:r>
              <a:rPr lang="en-US" altLang="en-US" sz="2000" dirty="0">
                <a:latin typeface="+mn-lt"/>
                <a:cs typeface="Arial" panose="020B0604020202020204" pitchFamily="34" charset="0"/>
              </a:rPr>
              <a:t>describes</a:t>
            </a:r>
            <a:r>
              <a:rPr lang="en-US" altLang="en-US" sz="2000" dirty="0">
                <a:cs typeface="Arial" panose="020B0604020202020204" pitchFamily="34" charset="0"/>
              </a:rPr>
              <a:t> objects with the same behavior. </a:t>
            </a:r>
            <a:endParaRPr lang="en-US" altLang="en-US" sz="2000" dirty="0" smtClean="0"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sz="2000" dirty="0" smtClean="0">
                <a:cs typeface="Arial" panose="020B0604020202020204" pitchFamily="34" charset="0"/>
              </a:rPr>
              <a:t>For </a:t>
            </a:r>
            <a:r>
              <a:rPr lang="en-US" altLang="en-US" sz="2000" dirty="0">
                <a:cs typeface="Arial" panose="020B0604020202020204" pitchFamily="34" charset="0"/>
              </a:rPr>
              <a:t>example, a Car class describes all passenger vehicles that have a certain capacity and shape.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Objects and Programs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You have learned how to structure your programs by decomposing tasks into functions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Experience shows that it does not go far enough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It is difficult to understand and update a program that consists of a large collection of functions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To overcome this problem, computer scientists invented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object-oriented programming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, a programming style in which tasks are solved by collaborating objects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Each object has its own set of data, together with a set of methods that act upon the data</a:t>
            </a:r>
            <a:endParaRPr lang="en-US" altLang="en-US" sz="7200" dirty="0" smtClean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3998B-B088-49C2-A806-511F249DA480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Objects and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You have already experienced this programming style when you used strings, lists, and file objects. Each of these objects has a set of methods</a:t>
            </a:r>
          </a:p>
          <a:p>
            <a:pPr>
              <a:defRPr/>
            </a:pPr>
            <a:r>
              <a:rPr lang="en-US" dirty="0"/>
              <a:t>For example, you can </a:t>
            </a:r>
            <a:r>
              <a:rPr lang="en-US" dirty="0" smtClean="0"/>
              <a:t>use the 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insert()</a:t>
            </a:r>
            <a:r>
              <a:rPr lang="en-US" dirty="0" smtClean="0">
                <a:cs typeface="Consolas" pitchFamily="49" charset="0"/>
              </a:rPr>
              <a:t> </a:t>
            </a:r>
            <a:r>
              <a:rPr lang="en-US" dirty="0"/>
              <a:t>or 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remove()</a:t>
            </a:r>
            <a:r>
              <a:rPr lang="en-US" dirty="0" smtClean="0"/>
              <a:t> </a:t>
            </a:r>
            <a:r>
              <a:rPr lang="en-US" dirty="0"/>
              <a:t>methods to operate on list </a:t>
            </a:r>
            <a:r>
              <a:rPr lang="en-US" dirty="0" smtClean="0"/>
              <a:t>objects</a:t>
            </a:r>
            <a:endParaRPr lang="en-US" dirty="0">
              <a:ea typeface="ＭＳ Ｐゴシック" pitchFamily="34" charset="-128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 smtClean="0">
              <a:ea typeface="ＭＳ Ｐゴシック" pitchFamily="34" charset="-128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64BB3-E9DE-4487-9A03-DCF5A0464E3A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Python Classes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A class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describes a set of objects with the same behavior.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For example, the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str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class describes the behavior of all strings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This class specifies how a string stores its characters, which methods can be used with strings, and how the methods are implemented.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For example, when you have a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str</a:t>
            </a:r>
            <a:r>
              <a:rPr lang="en-US" altLang="en-US" dirty="0" smtClean="0">
                <a:ea typeface="ＭＳ Ｐゴシック" panose="020B0600070205080204" pitchFamily="34" charset="-128"/>
                <a:cs typeface="Consolas" panose="020B0609020204030204" pitchFamily="49" charset="0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object, you can invoke the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upper method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: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C3657-EC01-4687-880D-FE99C07A8609}" type="datetime1">
              <a:rPr lang="en-US" smtClean="0"/>
              <a:t>11/16/2015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1257300" y="3505200"/>
            <a:ext cx="6430963" cy="1419606"/>
            <a:chOff x="1295400" y="3505200"/>
            <a:chExt cx="6430963" cy="1419606"/>
          </a:xfrm>
        </p:grpSpPr>
        <p:sp>
          <p:nvSpPr>
            <p:cNvPr id="6" name="Content Placeholder 2"/>
            <p:cNvSpPr txBox="1">
              <a:spLocks/>
            </p:cNvSpPr>
            <p:nvPr/>
          </p:nvSpPr>
          <p:spPr bwMode="auto">
            <a:xfrm>
              <a:off x="1295400" y="3505200"/>
              <a:ext cx="6430963" cy="5334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18900000" algn="bl" rotWithShape="0">
                <a:srgbClr val="808080">
                  <a:alpha val="39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en-US" dirty="0">
                  <a:latin typeface="Consolas" pitchFamily="49" charset="0"/>
                  <a:cs typeface="Consolas" pitchFamily="49" charset="0"/>
                </a:rPr>
                <a:t>"Hello, World".upper()</a:t>
              </a:r>
            </a:p>
          </p:txBody>
        </p:sp>
        <p:sp>
          <p:nvSpPr>
            <p:cNvPr id="7" name="Right Brace 6"/>
            <p:cNvSpPr/>
            <p:nvPr/>
          </p:nvSpPr>
          <p:spPr>
            <a:xfrm rot="5400000">
              <a:off x="2076450" y="3473450"/>
              <a:ext cx="533400" cy="1485900"/>
            </a:xfrm>
            <a:prstGeom prst="righ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" name="Right Brace 7"/>
            <p:cNvSpPr/>
            <p:nvPr/>
          </p:nvSpPr>
          <p:spPr>
            <a:xfrm rot="5400000">
              <a:off x="3478276" y="3676650"/>
              <a:ext cx="622300" cy="990600"/>
            </a:xfrm>
            <a:prstGeom prst="righ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16393" name="TextBox 6"/>
            <p:cNvSpPr txBox="1">
              <a:spLocks noChangeArrowheads="1"/>
            </p:cNvSpPr>
            <p:nvPr/>
          </p:nvSpPr>
          <p:spPr bwMode="auto">
            <a:xfrm>
              <a:off x="1541145" y="4518152"/>
              <a:ext cx="1604010" cy="4000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/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r>
                <a:rPr lang="en-US" altLang="en-US" sz="2000" dirty="0">
                  <a:latin typeface="+mn-lt"/>
                  <a:cs typeface="Consolas" panose="020B0609020204030204" pitchFamily="49" charset="0"/>
                </a:rPr>
                <a:t>String</a:t>
              </a:r>
              <a:r>
                <a:rPr lang="en-US" altLang="en-US" sz="2000" dirty="0">
                  <a:latin typeface="+mn-lt"/>
                  <a:cs typeface="Arial" panose="020B0604020202020204" pitchFamily="34" charset="0"/>
                </a:rPr>
                <a:t> object</a:t>
              </a:r>
            </a:p>
          </p:txBody>
        </p:sp>
        <p:sp>
          <p:nvSpPr>
            <p:cNvPr id="16394" name="TextBox 6"/>
            <p:cNvSpPr txBox="1">
              <a:spLocks noChangeArrowheads="1"/>
            </p:cNvSpPr>
            <p:nvPr/>
          </p:nvSpPr>
          <p:spPr bwMode="auto">
            <a:xfrm>
              <a:off x="3543300" y="4524756"/>
              <a:ext cx="2590800" cy="4000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/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2000">
                  <a:latin typeface="+mn-lt"/>
                  <a:cs typeface="Consolas" panose="020B0609020204030204" pitchFamily="49" charset="0"/>
                </a:rPr>
                <a:t>Method of class String</a:t>
              </a:r>
              <a:endParaRPr lang="en-US" altLang="en-US" sz="2000">
                <a:latin typeface="+mn-lt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Python Classes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2173994"/>
          </a:xfrm>
        </p:spPr>
        <p:txBody>
          <a:bodyPr/>
          <a:lstStyle/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In contrast, the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list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class describes the behavior of objects that can be used to store a collection of values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This class has a different set of methods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For example, the following call would be illegal—the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list</a:t>
            </a:r>
            <a:r>
              <a:rPr lang="en-US" altLang="en-US" sz="1600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class has no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upper()</a:t>
            </a:r>
            <a:r>
              <a:rPr lang="en-US" altLang="en-US" sz="1600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method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142999" y="3048000"/>
            <a:ext cx="3657601" cy="381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["Hello", "World"].upper()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142999" y="4077547"/>
            <a:ext cx="3657602" cy="381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["Hello", "World"].pop()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4FBD-3F07-4CA4-8DB7-912E4178724D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22958" y="3614185"/>
            <a:ext cx="7543801" cy="65386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lang="en-US" altLang="en-US" dirty="0" smtClean="0">
                <a:ea typeface="ＭＳ Ｐゴシック" panose="020B0600070205080204" pitchFamily="34" charset="-128"/>
              </a:rPr>
              <a:t>However,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list</a:t>
            </a:r>
            <a:r>
              <a:rPr lang="en-US" altLang="en-US" sz="1600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has a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pop()</a:t>
            </a:r>
            <a:r>
              <a:rPr lang="en-US" altLang="en-US" sz="1600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method, and the following call is legal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Public Interfaces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The set of all methods provided by a class, together with a description of their behavior, is called the public interface of the class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When you work with an object of a class, you do not know how the object stores its data, or how the methods are implemented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You need not know how a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str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object organizes a character sequence, or how a list stores its elements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All you need to know is the public interface––which methods you can apply, and what these methods do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D1DA7-2B13-4249-986A-201E768D8CB6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Public Interfaces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The process of providing a public interface, while hiding the implementation details, is called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encapsulation</a:t>
            </a:r>
            <a:endParaRPr lang="en-US" altLang="en-US" dirty="0" smtClean="0">
              <a:ea typeface="ＭＳ Ｐゴシック" panose="020B0600070205080204" pitchFamily="34" charset="-128"/>
            </a:endParaRP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If you work on a program that is being developed over a long period of time, it is common for implementation details to change, usually to make objects more efficient or more capable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When the implementation is hidden, the improvements do not affect the programmers who use the objects</a:t>
            </a:r>
          </a:p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B5830-5760-41C8-9530-B7C9D02282CC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 smtClean="0">
                <a:ea typeface="ＭＳ Ｐゴシック" panose="020B0600070205080204" pitchFamily="34" charset="-128"/>
              </a:rPr>
              <a:t>Implementing a Simple Class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Example:  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Tally Counter:  A class that models a mechanical device that is used to count people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For example, to find out how many people attend a concert or board a bus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What should it do?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Increment the tally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Get the current total</a:t>
            </a:r>
          </a:p>
          <a:p>
            <a:pPr lvl="1"/>
            <a:endParaRPr lang="en-US" altLang="en-US" dirty="0" smtClean="0"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AC5A8-A7B2-4A27-B7F9-D3FE267E1A52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Using the </a:t>
            </a:r>
            <a:r>
              <a:rPr lang="en-US" altLang="en-US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Counter</a:t>
            </a:r>
            <a:r>
              <a:rPr lang="en-US" altLang="en-US" smtClean="0">
                <a:ea typeface="ＭＳ Ｐゴシック" panose="020B0600070205080204" pitchFamily="34" charset="-128"/>
              </a:rPr>
              <a:t> Class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First, we construct an object of the class (object construction will be covered shortly):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In Python, you don’t explicitly declare instance variables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Instead, when one first assigns a value to an instance variable, the instance variable is created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066800" y="3371550"/>
            <a:ext cx="6430963" cy="381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tally = Counter()   # Creates an instance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3C090-B692-402E-913F-0ED5E320C92B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Using the </a:t>
            </a:r>
            <a:r>
              <a:rPr lang="en-US" altLang="en-US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Counter</a:t>
            </a:r>
            <a:r>
              <a:rPr lang="en-US" altLang="en-US" smtClean="0">
                <a:ea typeface="ＭＳ Ｐゴシック" panose="020B0600070205080204" pitchFamily="34" charset="-128"/>
              </a:rPr>
              <a:t> Class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Next, we invoke methods on our object</a:t>
            </a:r>
          </a:p>
          <a:p>
            <a:endParaRPr lang="en-US" altLang="en-US" dirty="0" smtClean="0">
              <a:ea typeface="ＭＳ Ｐゴシック" panose="020B0600070205080204" pitchFamily="34" charset="-128"/>
            </a:endParaRPr>
          </a:p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356519" y="1676400"/>
            <a:ext cx="6430963" cy="1905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tally.reset()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tally.click()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tally.click()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result = tally.getValue()  # Result is 2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tally.click()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result = tally.getValue() # Result is 3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7C855-6599-432D-A379-602783F06638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Instance Variables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An object stores its data in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instance variables</a:t>
            </a:r>
            <a:endParaRPr lang="en-US" altLang="en-US" dirty="0" smtClean="0">
              <a:ea typeface="ＭＳ Ｐゴシック" panose="020B0600070205080204" pitchFamily="34" charset="-128"/>
            </a:endParaRP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An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instance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of a class is an object of the class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In our example, each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Counter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object has a single instance variable named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_value</a:t>
            </a:r>
            <a:endParaRPr lang="en-US" altLang="en-US" sz="1800" dirty="0" smtClean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For example, if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concertCounter</a:t>
            </a:r>
            <a:r>
              <a:rPr lang="en-US" altLang="en-US" sz="1600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and</a:t>
            </a:r>
            <a:r>
              <a:rPr lang="en-US" altLang="en-US" sz="3200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boardingCounter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are two objects of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Counter</a:t>
            </a:r>
            <a:r>
              <a:rPr lang="en-US" altLang="en-US" sz="1600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class, then each object has its own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_value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variable</a:t>
            </a:r>
          </a:p>
          <a:p>
            <a:endParaRPr lang="en-US" altLang="en-US" dirty="0" smtClean="0">
              <a:ea typeface="ＭＳ Ｐゴシック" panose="020B0600070205080204" pitchFamily="34" charset="-128"/>
            </a:endParaRPr>
          </a:p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pic>
        <p:nvPicPr>
          <p:cNvPr id="23558" name="Picture 2" descr="U:\PC\publisher\2013 wiley slides\Ch 5-9, FM\Chapter  9\Media\Illustrations\py_09_02_300dp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654" y="3886201"/>
            <a:ext cx="5256693" cy="2368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D02EF-85C6-4860-90C1-3EC34EC8F34C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Instance Variables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Instance variables are part of the implementation details that should be hidden from the user of the class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With some programming languages an instance variable can only be accessed by the methods of its own class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The Python language does not enforce this restriction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However, the underscore indicates to class users that they should not directly access the instance variables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2F327-250A-4B1C-B1AB-BA68370DBDD9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Class Methods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1155227"/>
          </a:xfrm>
        </p:spPr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The methods provided by the class are defined in the class body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The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click()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method advances the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_value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instance variable by 1</a:t>
            </a:r>
          </a:p>
          <a:p>
            <a:pPr marL="0" indent="0">
              <a:buNone/>
            </a:pP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143000" y="2133600"/>
            <a:ext cx="6430963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click(self)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self._value = self._value + 1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4A2C-F760-459A-8E2C-13E154CA2756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22959" y="3138192"/>
            <a:ext cx="7543801" cy="194717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en-US" dirty="0" smtClean="0">
                <a:ea typeface="ＭＳ Ｐゴシック" panose="020B0600070205080204" pitchFamily="34" charset="-128"/>
              </a:rPr>
              <a:t>A method definition is very similar to a function with these exceptions:</a:t>
            </a:r>
          </a:p>
          <a:p>
            <a:pPr lvl="1" fontAlgn="auto"/>
            <a:r>
              <a:rPr lang="en-US" altLang="en-US" dirty="0" smtClean="0">
                <a:ea typeface="ＭＳ Ｐゴシック" panose="020B0600070205080204" pitchFamily="34" charset="-128"/>
              </a:rPr>
              <a:t>A method is defined as part of a class definition</a:t>
            </a:r>
          </a:p>
          <a:p>
            <a:pPr lvl="1" fontAlgn="auto"/>
            <a:r>
              <a:rPr lang="en-US" altLang="en-US" dirty="0" smtClean="0">
                <a:ea typeface="ＭＳ Ｐゴシック" panose="020B0600070205080204" pitchFamily="34" charset="-128"/>
              </a:rPr>
              <a:t>The first parameter variable of a method is called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self</a:t>
            </a:r>
            <a:endParaRPr lang="en-US" altLang="en-US" sz="1800" dirty="0" smtClean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Class Methods and Attributes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Note how the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click()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method increments the instance variable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_value </a:t>
            </a:r>
          </a:p>
          <a:p>
            <a:r>
              <a:rPr lang="en-US" altLang="en-US" i="1" dirty="0" smtClean="0">
                <a:ea typeface="ＭＳ Ｐゴシック" panose="020B0600070205080204" pitchFamily="34" charset="-128"/>
              </a:rPr>
              <a:t>Which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instance variable? The one belonging to the object on which the method is invoked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In the example below the call to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click()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advances the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_value variable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of the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concertCounter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object 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No argument was provided when the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click()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method was called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even though the definition includes the </a:t>
            </a:r>
            <a:r>
              <a:rPr lang="en-US" altLang="en-US" sz="1800" i="1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self</a:t>
            </a:r>
            <a:r>
              <a:rPr lang="en-US" altLang="en-US" i="1" dirty="0" err="1" smtClean="0">
                <a:ea typeface="ＭＳ Ｐゴシック" panose="020B0600070205080204" pitchFamily="34" charset="-128"/>
                <a:cs typeface="Consolas" panose="020B0609020204030204" pitchFamily="49" charset="0"/>
              </a:rPr>
              <a:t> </a:t>
            </a:r>
            <a:r>
              <a:rPr lang="en-US" altLang="en-US" i="1" dirty="0" err="1" smtClean="0">
                <a:ea typeface="ＭＳ Ｐゴシック" panose="020B0600070205080204" pitchFamily="34" charset="-128"/>
              </a:rPr>
              <a:t>parameter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variable</a:t>
            </a:r>
          </a:p>
          <a:p>
            <a:pPr lvl="1"/>
            <a:endParaRPr lang="en-US" altLang="en-US" dirty="0" smtClean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The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self</a:t>
            </a:r>
            <a:r>
              <a:rPr lang="en-US" altLang="en-US" sz="1600" dirty="0" err="1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err="1" smtClean="0">
                <a:ea typeface="ＭＳ Ｐゴシック" panose="020B0600070205080204" pitchFamily="34" charset="-128"/>
              </a:rPr>
              <a:t>parameter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variable refers to the object on which the method was invoked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concertCounter</a:t>
            </a:r>
            <a:r>
              <a:rPr lang="en-US" altLang="en-US" sz="1600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in this example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878834" y="4953000"/>
            <a:ext cx="3432049" cy="4191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concertCounter.click()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B60E6-2348-41CC-A12E-623AD67BA49E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Example of Encapsulation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878594"/>
          </a:xfrm>
        </p:spPr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The </a:t>
            </a:r>
            <a:r>
              <a:rPr lang="en-US" altLang="en-US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getValue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()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method returns the current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_value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: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0668" y="1752600"/>
            <a:ext cx="6430963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getValue(self)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return self._value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F5489-AA1A-461D-9513-0FB6AA6C8972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22958" y="2631194"/>
            <a:ext cx="7543801" cy="207667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en-US" dirty="0" smtClean="0">
                <a:ea typeface="ＭＳ Ｐゴシック" panose="020B0600070205080204" pitchFamily="34" charset="-128"/>
              </a:rPr>
              <a:t>This method is provided so that users of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Counter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class can find out how many times a particular counter has been clicked</a:t>
            </a:r>
          </a:p>
          <a:p>
            <a:pPr fontAlgn="auto"/>
            <a:r>
              <a:rPr lang="en-US" altLang="en-US" dirty="0" smtClean="0">
                <a:ea typeface="ＭＳ Ｐゴシック" panose="020B0600070205080204" pitchFamily="34" charset="-128"/>
              </a:rPr>
              <a:t>A class user should not directly access any instance variables</a:t>
            </a:r>
          </a:p>
          <a:p>
            <a:pPr fontAlgn="auto"/>
            <a:r>
              <a:rPr lang="en-US" altLang="en-US" dirty="0" smtClean="0">
                <a:ea typeface="ＭＳ Ｐゴシック" panose="020B0600070205080204" pitchFamily="34" charset="-128"/>
              </a:rPr>
              <a:t>Restricting access to instance variables is an essential part of encapsulation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anose="020B0600070205080204" pitchFamily="34" charset="-128"/>
                <a:cs typeface="Consolas" panose="020B0609020204030204" pitchFamily="49" charset="0"/>
              </a:rPr>
              <a:t>Complete Simple Class Example</a:t>
            </a:r>
            <a:endParaRPr lang="en-US" altLang="en-US" sz="3600" smtClean="0">
              <a:latin typeface="Consolas" panose="020B0609020204030204" pitchFamily="49" charset="0"/>
              <a:ea typeface="ＭＳ Ｐゴシック" panose="020B0600070205080204" pitchFamily="34" charset="-128"/>
              <a:cs typeface="Consolas" panose="020B0609020204030204" pitchFamily="49" charset="0"/>
            </a:endParaRPr>
          </a:p>
        </p:txBody>
      </p:sp>
      <p:pic>
        <p:nvPicPr>
          <p:cNvPr id="28675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8"/>
          <a:stretch>
            <a:fillRect/>
          </a:stretch>
        </p:blipFill>
        <p:spPr>
          <a:xfrm>
            <a:off x="304800" y="1295400"/>
            <a:ext cx="3906838" cy="3505200"/>
          </a:xfrm>
        </p:spPr>
      </p:pic>
      <p:pic>
        <p:nvPicPr>
          <p:cNvPr id="28678" name="Content Placeholder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905000"/>
            <a:ext cx="4919663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795963"/>
            <a:ext cx="32766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304800" y="5454650"/>
            <a:ext cx="3429000" cy="400050"/>
          </a:xfrm>
          <a:prstGeom prst="rect">
            <a:avLst/>
          </a:prstGeom>
          <a:solidFill>
            <a:srgbClr val="FFDC4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en-US" sz="2000" dirty="0" smtClean="0">
                <a:latin typeface="+mn-lt"/>
                <a:cs typeface="Consolas" pitchFamily="49" charset="0"/>
              </a:rPr>
              <a:t>Program execution</a:t>
            </a:r>
            <a:endParaRPr lang="en-US" sz="2000" dirty="0" smtClean="0">
              <a:latin typeface="+mn-lt"/>
              <a:cs typeface="Arial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05005-7F43-4F83-887C-6637C09758FF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 smtClean="0">
                <a:ea typeface="ＭＳ Ｐゴシック" panose="020B0600070205080204" pitchFamily="34" charset="-128"/>
              </a:rPr>
              <a:t>Public Interface of a Class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5069594"/>
          </a:xfrm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When you design a class, start by specifying the public interface of the new class</a:t>
            </a:r>
          </a:p>
          <a:p>
            <a:pPr lvl="2" eaLnBrk="1" hangingPunct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What tasks will this class perform?</a:t>
            </a:r>
          </a:p>
          <a:p>
            <a:pPr lvl="2" eaLnBrk="1" hangingPunct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What methods will you need?</a:t>
            </a:r>
          </a:p>
          <a:p>
            <a:pPr lvl="2" eaLnBrk="1" hangingPunct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What parameters will the methods need to receive?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BE79F-5CD5-4241-94ED-58737CD856C1}" type="datetime1">
              <a:rPr lang="en-US" smtClean="0"/>
              <a:t>11/16/2015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52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 smtClean="0">
                <a:ea typeface="ＭＳ Ｐゴシック" panose="020B0600070205080204" pitchFamily="34" charset="-128"/>
              </a:rPr>
              <a:t>Example Public Interface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975359" y="4248487"/>
            <a:ext cx="7543801" cy="1424918"/>
          </a:xfrm>
        </p:spPr>
        <p:txBody>
          <a:bodyPr>
            <a:noAutofit/>
          </a:bodyPr>
          <a:lstStyle/>
          <a:p>
            <a:pPr lvl="2" eaLnBrk="1" hangingPunct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Since the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‘self’</a:t>
            </a:r>
            <a:r>
              <a:rPr lang="en-US" altLang="en-US" sz="1800" dirty="0" smtClean="0">
                <a:ea typeface="ＭＳ Ｐゴシック" panose="020B0600070205080204" pitchFamily="34" charset="-128"/>
                <a:cs typeface="Consolas" panose="020B0609020204030204" pitchFamily="49" charset="0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parameter is required for all methods it was excluded for simplicity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BE79F-5CD5-4241-94ED-58737CD856C1}" type="datetime1">
              <a:rPr lang="en-US" smtClean="0"/>
              <a:t>11/16/2015</a:t>
            </a:fld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389652"/>
              </p:ext>
            </p:extLst>
          </p:nvPr>
        </p:nvGraphicFramePr>
        <p:xfrm>
          <a:off x="1143000" y="2057400"/>
          <a:ext cx="6553200" cy="217936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468091"/>
                <a:gridCol w="2085109"/>
              </a:tblGrid>
              <a:tr h="35332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Task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Method</a:t>
                      </a:r>
                      <a:endParaRPr lang="en-US" sz="1800" dirty="0"/>
                    </a:p>
                  </a:txBody>
                  <a:tcPr marT="45716" marB="45716"/>
                </a:tc>
              </a:tr>
              <a:tr h="453403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ts val="600"/>
                        </a:spcBef>
                        <a:buNone/>
                      </a:pPr>
                      <a:r>
                        <a:rPr lang="en-US" sz="2000" dirty="0" smtClean="0"/>
                        <a:t>Add the price of an item</a:t>
                      </a:r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ts val="200"/>
                        </a:spcBef>
                      </a:pPr>
                      <a:r>
                        <a:rPr lang="en-US" sz="1800" dirty="0" smtClean="0"/>
                        <a:t>addItem(price)</a:t>
                      </a:r>
                      <a:endParaRPr lang="en-US" sz="1800" dirty="0" smtClean="0">
                        <a:solidFill>
                          <a:srgbClr val="333333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T="45716" marB="45716"/>
                </a:tc>
              </a:tr>
              <a:tr h="453403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Get the total amount owed</a:t>
                      </a:r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getTotal()</a:t>
                      </a:r>
                      <a:endParaRPr lang="en-US" sz="1800" dirty="0" smtClean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T="45716" marB="45716"/>
                </a:tc>
              </a:tr>
              <a:tr h="453403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Get the count of items purchased</a:t>
                      </a:r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getCount()</a:t>
                      </a:r>
                      <a:endParaRPr lang="en-US" sz="1800" dirty="0" smtClean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T="45716" marB="45716"/>
                </a:tc>
              </a:tr>
              <a:tr h="453403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Clear the cash register for a new sale</a:t>
                      </a:r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clear()</a:t>
                      </a:r>
                      <a:endParaRPr lang="en-US" sz="1800" dirty="0" smtClean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T="45716" marB="45716"/>
                </a:tc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>
          <a:xfrm>
            <a:off x="975359" y="1407406"/>
            <a:ext cx="7543801" cy="1183394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lang="en-US" altLang="en-US" dirty="0" smtClean="0">
                <a:ea typeface="ＭＳ Ｐゴシック" panose="020B0600070205080204" pitchFamily="34" charset="-128"/>
              </a:rPr>
              <a:t>Example:  A Cash Register 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Writing the Public Interface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419100" y="964038"/>
            <a:ext cx="8686800" cy="5257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rgbClr val="00B0F0"/>
                </a:solidFill>
              </a:rPr>
              <a:t>## A simulated cash register that tracks the item count and the total amount due.</a:t>
            </a:r>
          </a:p>
          <a:p>
            <a:pPr>
              <a:defRPr/>
            </a:pPr>
            <a:r>
              <a:rPr lang="en-US" dirty="0">
                <a:solidFill>
                  <a:srgbClr val="00B0F0"/>
                </a:solidFill>
              </a:rPr>
              <a:t>#</a:t>
            </a:r>
          </a:p>
          <a:p>
            <a:pPr>
              <a:defRPr/>
            </a:pPr>
            <a:r>
              <a:rPr lang="en-US" dirty="0"/>
              <a:t>class CashRegister :</a:t>
            </a:r>
            <a:endParaRPr lang="en-US" kern="0" dirty="0">
              <a:solidFill>
                <a:srgbClr val="00B0F0"/>
              </a:solidFill>
              <a:latin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solidFill>
                  <a:srgbClr val="00B0F0"/>
                </a:solidFill>
                <a:latin typeface="Consolas" pitchFamily="49" charset="0"/>
              </a:rPr>
              <a:t>  ## Adds an item to this cash register.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solidFill>
                  <a:srgbClr val="00B0F0"/>
                </a:solidFill>
                <a:latin typeface="Consolas" pitchFamily="49" charset="0"/>
              </a:rPr>
              <a:t>  # @param price: the price of this item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solidFill>
                  <a:srgbClr val="00B0F0"/>
                </a:solidFill>
                <a:latin typeface="Consolas" pitchFamily="49" charset="0"/>
              </a:rPr>
              <a:t>  # 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  </a:t>
            </a:r>
            <a:r>
              <a:rPr lang="en-US" dirty="0">
                <a:solidFill>
                  <a:srgbClr val="0033CC"/>
                </a:solidFill>
              </a:rPr>
              <a:t>def addItem(self, price) :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 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</a:t>
            </a:r>
            <a:r>
              <a:rPr lang="en-US" kern="0" dirty="0">
                <a:solidFill>
                  <a:srgbClr val="00B0F0"/>
                </a:solidFill>
                <a:latin typeface="Consolas" pitchFamily="49" charset="0"/>
              </a:rPr>
              <a:t># Method body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solidFill>
                  <a:srgbClr val="00B0F0"/>
                </a:solidFill>
                <a:latin typeface="Consolas" pitchFamily="49" charset="0"/>
              </a:rPr>
              <a:t> 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solidFill>
                  <a:srgbClr val="00B0F0"/>
                </a:solidFill>
                <a:latin typeface="Consolas" pitchFamily="49" charset="0"/>
              </a:rPr>
              <a:t>  ##  Gets the price of all items in the current sale.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solidFill>
                  <a:srgbClr val="00B0F0"/>
                </a:solidFill>
                <a:latin typeface="Consolas" pitchFamily="49" charset="0"/>
              </a:rPr>
              <a:t>  #  @return the total price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solidFill>
                  <a:srgbClr val="00B0F0"/>
                </a:solidFill>
                <a:latin typeface="Consolas" pitchFamily="49" charset="0"/>
              </a:rPr>
              <a:t>  #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def getTotal(self):  </a:t>
            </a:r>
            <a:r>
              <a:rPr lang="en-US" kern="0" dirty="0">
                <a:latin typeface="Consolas" pitchFamily="49" charset="0"/>
              </a:rPr>
              <a:t>...</a:t>
            </a:r>
          </a:p>
        </p:txBody>
      </p:sp>
      <p:sp>
        <p:nvSpPr>
          <p:cNvPr id="30724" name="TextBox 6"/>
          <p:cNvSpPr txBox="1">
            <a:spLocks noChangeArrowheads="1"/>
          </p:cNvSpPr>
          <p:nvPr/>
        </p:nvSpPr>
        <p:spPr bwMode="auto">
          <a:xfrm>
            <a:off x="3429000" y="2743200"/>
            <a:ext cx="4038600" cy="646331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+mn-lt"/>
                <a:cs typeface="Arial" panose="020B0604020202020204" pitchFamily="34" charset="0"/>
              </a:rPr>
              <a:t>The method declarations make up the </a:t>
            </a:r>
            <a:r>
              <a:rPr lang="en-US" altLang="en-US" i="1" dirty="0">
                <a:latin typeface="+mn-lt"/>
                <a:cs typeface="Arial" panose="020B0604020202020204" pitchFamily="34" charset="0"/>
              </a:rPr>
              <a:t>public interface </a:t>
            </a:r>
            <a:r>
              <a:rPr lang="en-US" altLang="en-US" dirty="0">
                <a:latin typeface="+mn-lt"/>
                <a:cs typeface="Arial" panose="020B0604020202020204" pitchFamily="34" charset="0"/>
              </a:rPr>
              <a:t>of the class</a:t>
            </a:r>
          </a:p>
        </p:txBody>
      </p:sp>
      <p:sp>
        <p:nvSpPr>
          <p:cNvPr id="30725" name="TextBox 6"/>
          <p:cNvSpPr txBox="1">
            <a:spLocks noChangeArrowheads="1"/>
          </p:cNvSpPr>
          <p:nvPr/>
        </p:nvSpPr>
        <p:spPr bwMode="auto">
          <a:xfrm>
            <a:off x="3419856" y="5029200"/>
            <a:ext cx="4648200" cy="646331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+mn-lt"/>
                <a:cs typeface="Arial" panose="020B0604020202020204" pitchFamily="34" charset="0"/>
              </a:rPr>
              <a:t>The data and method bodies make up the </a:t>
            </a:r>
            <a:r>
              <a:rPr lang="en-US" altLang="en-US" i="1" dirty="0">
                <a:latin typeface="+mn-lt"/>
                <a:cs typeface="Arial" panose="020B0604020202020204" pitchFamily="34" charset="0"/>
              </a:rPr>
              <a:t>private implementation</a:t>
            </a:r>
            <a:r>
              <a:rPr lang="en-US" altLang="en-US" dirty="0">
                <a:latin typeface="+mn-lt"/>
                <a:cs typeface="Arial" panose="020B0604020202020204" pitchFamily="34" charset="0"/>
              </a:rPr>
              <a:t> of the class</a:t>
            </a:r>
          </a:p>
        </p:txBody>
      </p:sp>
      <p:sp>
        <p:nvSpPr>
          <p:cNvPr id="30728" name="TextBox 6"/>
          <p:cNvSpPr txBox="1">
            <a:spLocks noChangeArrowheads="1"/>
          </p:cNvSpPr>
          <p:nvPr/>
        </p:nvSpPr>
        <p:spPr bwMode="auto">
          <a:xfrm>
            <a:off x="5647309" y="1635790"/>
            <a:ext cx="3292475" cy="92333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+mn-lt"/>
                <a:cs typeface="Arial" panose="020B0604020202020204" pitchFamily="34" charset="0"/>
              </a:rPr>
              <a:t>Class comments document the class and the behavior of each method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7788C-94B0-4322-B503-F98C0D80C9C5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Using the Class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508480"/>
          </a:xfrm>
        </p:spPr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After defining the class we can now construct an object: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1763486"/>
            <a:ext cx="7467600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register1 = CashRegister()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# Constructs a CashRegister object</a:t>
            </a:r>
            <a:endParaRPr lang="en-US" kern="0" dirty="0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31751" name="Picture 2" descr="U:\PC\publisher\2013 wiley slides\Ch 5-9, FM\Chapter  9\Media\Illustrations\py_09_03_300dp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2169" y="3505200"/>
            <a:ext cx="4919663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4BE70-6FF7-4333-AE01-162874D57212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22958" y="2736048"/>
            <a:ext cx="7543801" cy="171848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en-US" dirty="0" smtClean="0">
                <a:ea typeface="ＭＳ Ｐゴシック" panose="020B0600070205080204" pitchFamily="34" charset="-128"/>
              </a:rPr>
              <a:t>This statement defines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register1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variable and initializes it with a reference to a new </a:t>
            </a:r>
            <a:r>
              <a:rPr lang="en-US" altLang="en-US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CashRegister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object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Using Methods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Now that an object has been constructed, we are ready to invoke a method: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2133600"/>
            <a:ext cx="7467600" cy="533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register1.addItem(1.95) # Invokes a method.</a:t>
            </a:r>
            <a:endParaRPr lang="en-US" kern="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14B83-7959-4778-8E00-5EE2999EA7E2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anose="020B0600070205080204" pitchFamily="34" charset="-128"/>
              </a:rPr>
              <a:t>Accessor and Mutator Methods</a:t>
            </a:r>
          </a:p>
        </p:txBody>
      </p:sp>
      <p:sp>
        <p:nvSpPr>
          <p:cNvPr id="33795" name="Content Placeholder 9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2021594"/>
          </a:xfrm>
        </p:spPr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Many methods fall into two categories:</a:t>
            </a:r>
            <a:endParaRPr lang="en-US" altLang="en-US" sz="2400" dirty="0" smtClean="0">
              <a:solidFill>
                <a:srgbClr val="0033CC"/>
              </a:solidFill>
              <a:latin typeface="Consolas" panose="020B0609020204030204" pitchFamily="49" charset="0"/>
              <a:ea typeface="ＭＳ Ｐゴシック" panose="020B0600070205080204" pitchFamily="34" charset="-128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dirty="0" smtClean="0">
                <a:ea typeface="ＭＳ Ｐゴシック" panose="020B0600070205080204" pitchFamily="34" charset="-128"/>
              </a:rPr>
              <a:t>1) </a:t>
            </a:r>
            <a:r>
              <a:rPr lang="en-US" altLang="en-US" i="1" u="sng" dirty="0" smtClean="0">
                <a:ea typeface="ＭＳ Ｐゴシック" panose="020B0600070205080204" pitchFamily="34" charset="-128"/>
              </a:rPr>
              <a:t>Accessor Methods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:   	</a:t>
            </a:r>
            <a:r>
              <a:rPr lang="fr-FR" altLang="ja-JP" dirty="0" smtClean="0">
                <a:ea typeface="ＭＳ Ｐゴシック" panose="020B0600070205080204" pitchFamily="34" charset="-128"/>
              </a:rPr>
              <a:t>'</a:t>
            </a:r>
            <a:r>
              <a:rPr lang="en-US" altLang="ja-JP" b="1" dirty="0" smtClean="0">
                <a:ea typeface="ＭＳ Ｐゴシック" panose="020B0600070205080204" pitchFamily="34" charset="-128"/>
              </a:rPr>
              <a:t>get</a:t>
            </a:r>
            <a:r>
              <a:rPr lang="fr-FR" altLang="ja-JP" dirty="0" smtClean="0">
                <a:ea typeface="ＭＳ Ｐゴシック" panose="020B0600070205080204" pitchFamily="34" charset="-128"/>
              </a:rPr>
              <a:t>'</a:t>
            </a:r>
            <a:r>
              <a:rPr lang="en-US" altLang="ja-JP" dirty="0" smtClean="0">
                <a:ea typeface="ＭＳ Ｐゴシック" panose="020B0600070205080204" pitchFamily="34" charset="-128"/>
              </a:rPr>
              <a:t> methods</a:t>
            </a:r>
          </a:p>
          <a:p>
            <a:pPr lvl="2"/>
            <a:r>
              <a:rPr lang="en-US" altLang="en-US" dirty="0" smtClean="0">
                <a:ea typeface="ＭＳ Ｐゴシック" panose="020B0600070205080204" pitchFamily="34" charset="-128"/>
              </a:rPr>
              <a:t>Asks the object for information without changing it</a:t>
            </a:r>
          </a:p>
          <a:p>
            <a:pPr lvl="2"/>
            <a:r>
              <a:rPr lang="en-US" altLang="en-US" dirty="0" smtClean="0">
                <a:ea typeface="ＭＳ Ｐゴシック" panose="020B0600070205080204" pitchFamily="34" charset="-128"/>
              </a:rPr>
              <a:t>Normally returns the current value of an attribute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B060D-91D2-468D-83F9-9AA288F305E4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2457450" y="4800600"/>
            <a:ext cx="4229100" cy="762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def addItem(self, price):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def clear(self):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692404" y="2819400"/>
            <a:ext cx="3352800" cy="609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def getTotal(self):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def getCount(self):</a:t>
            </a:r>
          </a:p>
        </p:txBody>
      </p:sp>
      <p:sp>
        <p:nvSpPr>
          <p:cNvPr id="8" name="Content Placeholder 9"/>
          <p:cNvSpPr txBox="1">
            <a:spLocks/>
          </p:cNvSpPr>
          <p:nvPr/>
        </p:nvSpPr>
        <p:spPr>
          <a:xfrm>
            <a:off x="838200" y="3589160"/>
            <a:ext cx="7543801" cy="113524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buFont typeface="Wingdings" panose="05000000000000000000" pitchFamily="2" charset="2"/>
              <a:buNone/>
            </a:pPr>
            <a:r>
              <a:rPr lang="en-US" altLang="en-US" dirty="0" smtClean="0">
                <a:ea typeface="ＭＳ Ｐゴシック" panose="020B0600070205080204" pitchFamily="34" charset="-128"/>
              </a:rPr>
              <a:t>2) </a:t>
            </a:r>
            <a:r>
              <a:rPr lang="en-US" altLang="en-US" i="1" u="sng" dirty="0" err="1" smtClean="0">
                <a:ea typeface="ＭＳ Ｐゴシック" panose="020B0600070205080204" pitchFamily="34" charset="-128"/>
              </a:rPr>
              <a:t>Mutator</a:t>
            </a:r>
            <a:r>
              <a:rPr lang="en-US" altLang="en-US" i="1" u="sng" dirty="0" smtClean="0">
                <a:ea typeface="ＭＳ Ｐゴシック" panose="020B0600070205080204" pitchFamily="34" charset="-128"/>
              </a:rPr>
              <a:t> Methods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:		</a:t>
            </a:r>
            <a:r>
              <a:rPr lang="fr-FR" altLang="ja-JP" dirty="0" smtClean="0">
                <a:ea typeface="ＭＳ Ｐゴシック" panose="020B0600070205080204" pitchFamily="34" charset="-128"/>
              </a:rPr>
              <a:t>'</a:t>
            </a:r>
            <a:r>
              <a:rPr lang="en-US" altLang="ja-JP" b="1" dirty="0" smtClean="0">
                <a:ea typeface="ＭＳ Ｐゴシック" panose="020B0600070205080204" pitchFamily="34" charset="-128"/>
              </a:rPr>
              <a:t>set</a:t>
            </a:r>
            <a:r>
              <a:rPr lang="fr-FR" altLang="ja-JP" dirty="0" smtClean="0">
                <a:ea typeface="ＭＳ Ｐゴシック" panose="020B0600070205080204" pitchFamily="34" charset="-128"/>
              </a:rPr>
              <a:t>'</a:t>
            </a:r>
            <a:r>
              <a:rPr lang="en-US" altLang="ja-JP" dirty="0" smtClean="0">
                <a:ea typeface="ＭＳ Ｐゴシック" panose="020B0600070205080204" pitchFamily="34" charset="-128"/>
              </a:rPr>
              <a:t> methods</a:t>
            </a:r>
          </a:p>
          <a:p>
            <a:pPr lvl="2" fontAlgn="auto"/>
            <a:r>
              <a:rPr lang="en-US" altLang="en-US" dirty="0" smtClean="0">
                <a:ea typeface="ＭＳ Ｐゴシック" panose="020B0600070205080204" pitchFamily="34" charset="-128"/>
              </a:rPr>
              <a:t>Changes values in the object</a:t>
            </a:r>
          </a:p>
          <a:p>
            <a:pPr lvl="2" fontAlgn="auto"/>
            <a:r>
              <a:rPr lang="en-US" altLang="en-US" dirty="0" smtClean="0">
                <a:ea typeface="ＭＳ Ｐゴシック" panose="020B0600070205080204" pitchFamily="34" charset="-128"/>
              </a:rPr>
              <a:t>Usually take a parameter that will change an instance variable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Instance Variables of Objects</a:t>
            </a:r>
          </a:p>
        </p:txBody>
      </p:sp>
      <p:sp>
        <p:nvSpPr>
          <p:cNvPr id="34819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Each object of a class has a separate set of instance variables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6863" y="6420557"/>
            <a:ext cx="1854203" cy="365125"/>
          </a:xfrm>
        </p:spPr>
        <p:txBody>
          <a:bodyPr/>
          <a:lstStyle/>
          <a:p>
            <a:fld id="{CFE63B77-CC50-49D7-B179-768D2BC7D094}" type="datetime1">
              <a:rPr lang="en-US" smtClean="0"/>
              <a:t>11/16/2015</a:t>
            </a:fld>
            <a:endParaRPr lang="en-US" dirty="0"/>
          </a:p>
        </p:txBody>
      </p:sp>
      <p:pic>
        <p:nvPicPr>
          <p:cNvPr id="34820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057400"/>
            <a:ext cx="6781800" cy="35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1" name="TextBox 6"/>
          <p:cNvSpPr txBox="1">
            <a:spLocks noChangeArrowheads="1"/>
          </p:cNvSpPr>
          <p:nvPr/>
        </p:nvSpPr>
        <p:spPr bwMode="auto">
          <a:xfrm>
            <a:off x="579119" y="2793134"/>
            <a:ext cx="3276600" cy="92333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dirty="0">
                <a:latin typeface="+mn-lt"/>
                <a:cs typeface="Arial" panose="020B0604020202020204" pitchFamily="34" charset="0"/>
              </a:rPr>
              <a:t>The values stored in instance variables make up the </a:t>
            </a:r>
            <a:r>
              <a:rPr lang="en-US" altLang="en-US" b="1" dirty="0">
                <a:latin typeface="+mn-lt"/>
                <a:cs typeface="Arial" panose="020B0604020202020204" pitchFamily="34" charset="0"/>
              </a:rPr>
              <a:t>state </a:t>
            </a:r>
            <a:r>
              <a:rPr lang="en-US" altLang="en-US" dirty="0">
                <a:latin typeface="+mn-lt"/>
                <a:cs typeface="Arial" panose="020B0604020202020204" pitchFamily="34" charset="0"/>
              </a:rPr>
              <a:t>of the object.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 smtClean="0">
                <a:ea typeface="ＭＳ Ｐゴシック" panose="020B0600070205080204" pitchFamily="34" charset="-128"/>
              </a:rPr>
              <a:t>Designing the Data Representation</a:t>
            </a:r>
          </a:p>
        </p:txBody>
      </p:sp>
      <p:sp>
        <p:nvSpPr>
          <p:cNvPr id="35843" name="Content Placeholder 6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2326394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An object stores data in instance variables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Variables declared inside the class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All methods inside the class have access to them</a:t>
            </a:r>
          </a:p>
          <a:p>
            <a:pPr lvl="2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Can change or access them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What data will our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CashRegister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methods need?</a:t>
            </a:r>
          </a:p>
          <a:p>
            <a:pPr lvl="1"/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83985-EC93-4698-931D-24F0775BAFCD}" type="datetime1">
              <a:rPr lang="en-US" smtClean="0"/>
              <a:t>11/16/2015</a:t>
            </a:fld>
            <a:endParaRPr lang="en-US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607832"/>
              </p:ext>
            </p:extLst>
          </p:nvPr>
        </p:nvGraphicFramePr>
        <p:xfrm>
          <a:off x="552451" y="3394076"/>
          <a:ext cx="8039099" cy="20923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203933"/>
                <a:gridCol w="1917583"/>
                <a:gridCol w="1917583"/>
              </a:tblGrid>
              <a:tr h="34672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Task</a:t>
                      </a:r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Method</a:t>
                      </a:r>
                      <a:endParaRPr lang="en-US" sz="1800" dirty="0"/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Data Needed</a:t>
                      </a:r>
                      <a:endParaRPr lang="en-US" sz="1800" dirty="0"/>
                    </a:p>
                  </a:txBody>
                  <a:tcPr marT="45725" marB="45725"/>
                </a:tc>
              </a:tr>
              <a:tr h="504257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ts val="600"/>
                        </a:spcBef>
                        <a:buNone/>
                      </a:pPr>
                      <a:r>
                        <a:rPr lang="en-US" sz="2000" dirty="0" smtClean="0"/>
                        <a:t>Add the price of an item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ts val="200"/>
                        </a:spcBef>
                      </a:pPr>
                      <a:r>
                        <a:rPr lang="en-US" sz="1800" dirty="0" smtClean="0"/>
                        <a:t>addItem(price)</a:t>
                      </a:r>
                      <a:endParaRPr lang="en-US" sz="1800" dirty="0" smtClean="0">
                        <a:solidFill>
                          <a:srgbClr val="333333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total, count</a:t>
                      </a:r>
                      <a:endParaRPr lang="en-US" sz="18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T="45725" marB="45725"/>
                </a:tc>
              </a:tr>
              <a:tr h="375615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Get the total amount owed</a:t>
                      </a:r>
                      <a:endParaRPr 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getTotal()</a:t>
                      </a:r>
                      <a:endParaRPr lang="en-US" sz="1800" dirty="0" smtClean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total</a:t>
                      </a:r>
                      <a:endParaRPr lang="en-US" sz="18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T="45725" marB="45725"/>
                </a:tc>
              </a:tr>
              <a:tr h="375615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Get the count of items purchased</a:t>
                      </a:r>
                      <a:endParaRPr 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getCount()</a:t>
                      </a:r>
                      <a:endParaRPr lang="en-US" sz="1800" dirty="0" smtClean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count</a:t>
                      </a:r>
                      <a:endParaRPr lang="en-US" sz="18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T="45725" marB="45725"/>
                </a:tc>
              </a:tr>
              <a:tr h="429797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Clear cash register for a new sale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clear()</a:t>
                      </a:r>
                      <a:endParaRPr lang="en-US" sz="1800" dirty="0" smtClean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total, count</a:t>
                      </a:r>
                      <a:endParaRPr lang="en-US" sz="18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T="45725" marB="45725"/>
                </a:tc>
              </a:tr>
            </a:tbl>
          </a:graphicData>
        </a:graphic>
      </p:graphicFrame>
      <p:sp>
        <p:nvSpPr>
          <p:cNvPr id="35870" name="TextBox 6"/>
          <p:cNvSpPr txBox="1">
            <a:spLocks noChangeArrowheads="1"/>
          </p:cNvSpPr>
          <p:nvPr/>
        </p:nvSpPr>
        <p:spPr bwMode="auto">
          <a:xfrm>
            <a:off x="952500" y="5562600"/>
            <a:ext cx="7239000" cy="400110"/>
          </a:xfrm>
          <a:prstGeom prst="rect">
            <a:avLst/>
          </a:prstGeom>
          <a:noFill/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dirty="0">
                <a:latin typeface="+mn-lt"/>
                <a:cs typeface="Arial" panose="020B0604020202020204" pitchFamily="34" charset="0"/>
              </a:rPr>
              <a:t>An object holds instance variables that are accessed by methods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Programming Tip 9.1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All instance variables should be private and most methods should be public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Although most object-oriented languages provide a mechanism to explicitly hide or protect private members from outside access, Python does not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It is common practice among Python programmers to use names that begin with a single underscore for private instance variables and methods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The single underscore serves as a flag to the class user that those members are private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9F32-9551-4033-AEA2-E4B74D9DE6A4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Programming Tip 9.1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You should always use encapsulation, in which all instance variables are private and are only manipulated with methods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Typically, methods are public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However, sometimes you have a method that is used only as a helper method by other methods 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In that case, you should identify the helper method as private by using a name that begins with a single underscore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BB3AA-A605-4B5A-BF0A-157E7948632F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Constructors</a:t>
            </a:r>
          </a:p>
        </p:txBody>
      </p:sp>
      <p:sp>
        <p:nvSpPr>
          <p:cNvPr id="38915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A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constructor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is a method that initializes instance variables of an object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It is automatically called when an object is created</a:t>
            </a:r>
            <a:endParaRPr lang="en-US" altLang="en-US" sz="6600" dirty="0" smtClean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ED181-6EF6-4A49-BC44-17375DAC9FD3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2430463" y="4383794"/>
            <a:ext cx="4283075" cy="1143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_ _init_ _(self)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self._itemCount = 0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self._totalPrice = 0</a:t>
            </a:r>
            <a:endParaRPr lang="en-US" b="1" kern="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020763" y="2286000"/>
            <a:ext cx="7102475" cy="1066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# Calling a method that matches the name of the class 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# invokes the constructor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register = CashRegister()  </a:t>
            </a:r>
          </a:p>
        </p:txBody>
      </p:sp>
      <p:sp>
        <p:nvSpPr>
          <p:cNvPr id="7" name="Content Placeholder 6"/>
          <p:cNvSpPr txBox="1">
            <a:spLocks/>
          </p:cNvSpPr>
          <p:nvPr/>
        </p:nvSpPr>
        <p:spPr>
          <a:xfrm>
            <a:off x="1020763" y="3592409"/>
            <a:ext cx="7543801" cy="70216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en-US" dirty="0" smtClean="0">
                <a:ea typeface="ＭＳ Ｐゴシック" panose="020B0600070205080204" pitchFamily="34" charset="-128"/>
              </a:rPr>
              <a:t>Python uses the special name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 _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init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 _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for the constructor because its purpose is to initialize an instance of the class:</a:t>
            </a:r>
            <a:endParaRPr lang="en-US" altLang="en-US" sz="6600" dirty="0" smtClean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dirty="0" smtClean="0">
                <a:ea typeface="ＭＳ Ｐゴシック" panose="020B0600070205080204" pitchFamily="34" charset="-128"/>
              </a:rPr>
              <a:t>Default and Named Arguments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Only one constructor can be defined per class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But you can a define constructor with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default argument values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that simulate multiple definitions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432560" y="2357846"/>
            <a:ext cx="6278881" cy="994954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class BankAccount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__init__(self, initialBalance = 0.0)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self._balance = initialBalance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237296" y="4419600"/>
            <a:ext cx="6715125" cy="457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joesAccount = BankAccount()   # Balance is set to 0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19E59-3502-4548-8693-B768C962122C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22959" y="3613020"/>
            <a:ext cx="7543801" cy="76369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lang="en-US" altLang="en-US" dirty="0" smtClean="0">
                <a:ea typeface="ＭＳ Ｐゴシック" panose="020B0600070205080204" pitchFamily="34" charset="-128"/>
              </a:rPr>
              <a:t>If no value is passed to the constructor when a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BankAccount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object is created the default value will be used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dirty="0" smtClean="0">
                <a:ea typeface="ＭＳ Ｐゴシック" panose="020B0600070205080204" pitchFamily="34" charset="-128"/>
              </a:rPr>
              <a:t>Default and Named Arguments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1183394"/>
          </a:xfrm>
        </p:spPr>
        <p:txBody>
          <a:bodyPr/>
          <a:lstStyle/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If a value is passed to the constructor that value will be used instead of the default one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166938" y="1981200"/>
            <a:ext cx="4810125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joesAccount = BankAccount(499.95) 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# Balance is set to 499.95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939FB-2982-4AA1-8790-942DFFEEC22A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22959" y="2819074"/>
            <a:ext cx="7543801" cy="101047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en-US" dirty="0" smtClean="0">
                <a:ea typeface="ＭＳ Ｐゴシック" panose="020B0600070205080204" pitchFamily="34" charset="-128"/>
              </a:rPr>
              <a:t>Default arguments can be used in any method and not just constructors</a:t>
            </a:r>
          </a:p>
          <a:p>
            <a:pPr fontAlgn="auto"/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Syntax: Constructors</a:t>
            </a:r>
          </a:p>
        </p:txBody>
      </p:sp>
      <p:pic>
        <p:nvPicPr>
          <p:cNvPr id="41989" name="Picture 2" descr="U:\PC\publisher\2013 wiley slides\Ch 5-9, FM\Chapter  9\Media\Illustrations\py_syn_09_01_300dp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8534400" cy="325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B2447-4A80-4722-A67A-C685AEE1E6E9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Constructors: </a:t>
            </a:r>
            <a:r>
              <a:rPr lang="en-US" altLang="en-US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Self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The first parameter variable of every constructor must be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self</a:t>
            </a:r>
            <a:endParaRPr lang="en-US" altLang="en-US" dirty="0" smtClean="0">
              <a:ea typeface="ＭＳ Ｐゴシック" panose="020B0600070205080204" pitchFamily="34" charset="-128"/>
            </a:endParaRP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When the constructor is invoked to construct a new object,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self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parameter variable is set to the object that is being initialized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572544" y="3328987"/>
            <a:ext cx="3998912" cy="1066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_ _init_ _(self)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self._itemCount = 0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self._totalPrice = 0</a:t>
            </a:r>
          </a:p>
          <a:p>
            <a:pPr>
              <a:defRPr/>
            </a:pPr>
            <a:endParaRPr lang="en-US" b="1" kern="0" dirty="0"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5155962" y="3038305"/>
            <a:ext cx="1371600" cy="419100"/>
          </a:xfrm>
          <a:prstGeom prst="straightConnector1">
            <a:avLst/>
          </a:prstGeom>
          <a:ln w="38100">
            <a:solidFill>
              <a:srgbClr val="00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514862" y="2506599"/>
            <a:ext cx="2070100" cy="7841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Refers to the object being initialized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2572544" y="4572000"/>
            <a:ext cx="3998912" cy="457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anose="020B0609020204030204" pitchFamily="49" charset="0"/>
                <a:cs typeface="Consolas" pitchFamily="49" charset="0"/>
              </a:rPr>
              <a:t>register = CashRegister()  </a:t>
            </a:r>
          </a:p>
          <a:p>
            <a:pPr>
              <a:defRPr/>
            </a:pPr>
            <a:endParaRPr lang="en-US" b="1" kern="0" dirty="0"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3048000" y="5029200"/>
            <a:ext cx="0" cy="454538"/>
          </a:xfrm>
          <a:prstGeom prst="straightConnector1">
            <a:avLst/>
          </a:prstGeom>
          <a:ln w="38100">
            <a:solidFill>
              <a:srgbClr val="00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286000" y="5558612"/>
            <a:ext cx="5270500" cy="6164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After the constructor ends this is a reference to the newly created object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25488" y="6400800"/>
            <a:ext cx="1854203" cy="365125"/>
          </a:xfrm>
        </p:spPr>
        <p:txBody>
          <a:bodyPr/>
          <a:lstStyle/>
          <a:p>
            <a:fld id="{1ECF8CED-C492-489A-9A8E-FC76CA5BAB25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Object References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822959" y="3505200"/>
            <a:ext cx="7543801" cy="585787"/>
          </a:xfrm>
        </p:spPr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This reference then allows methods of the object to be invoked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00088" y="1962150"/>
            <a:ext cx="8007350" cy="457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register = CashRegister()  </a:t>
            </a:r>
          </a:p>
          <a:p>
            <a:pPr>
              <a:defRPr/>
            </a:pPr>
            <a:endParaRPr lang="en-US" b="1" kern="0" dirty="0"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1574800" y="2324100"/>
            <a:ext cx="1371600" cy="609600"/>
          </a:xfrm>
          <a:prstGeom prst="straightConnector1">
            <a:avLst/>
          </a:prstGeom>
          <a:ln w="38100">
            <a:solidFill>
              <a:srgbClr val="00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35288" y="2667000"/>
            <a:ext cx="5268912" cy="533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After the constructor ends this is a reference to the newly created object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700088" y="4357687"/>
            <a:ext cx="8007350" cy="457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print("Your total $", register.getTotal())</a:t>
            </a:r>
          </a:p>
          <a:p>
            <a:pPr>
              <a:defRPr/>
            </a:pPr>
            <a:endParaRPr lang="en-US" b="1" kern="0" dirty="0">
              <a:latin typeface="Consolas" pitchFamily="49" charset="0"/>
              <a:cs typeface="Consolas" pitchFamily="49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3581400" y="4662487"/>
            <a:ext cx="990600" cy="609600"/>
          </a:xfrm>
          <a:prstGeom prst="straightConnector1">
            <a:avLst/>
          </a:prstGeom>
          <a:ln w="38100">
            <a:solidFill>
              <a:srgbClr val="00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752600" y="5257800"/>
            <a:ext cx="20066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tx1"/>
                </a:solidFill>
              </a:rPr>
              <a:t>Call the method through the reference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308B2-C3FD-4144-B1E7-76C98286AC29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Common Error 9.1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After an object has been constructed, you should not directly call the constructor on </a:t>
            </a:r>
            <a:r>
              <a:rPr lang="en-US" dirty="0" smtClean="0"/>
              <a:t>that object </a:t>
            </a:r>
            <a:r>
              <a:rPr lang="en-US" dirty="0"/>
              <a:t>again</a:t>
            </a:r>
            <a:r>
              <a:rPr lang="en-US" dirty="0" smtClean="0"/>
              <a:t>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840992" y="2133600"/>
            <a:ext cx="5462017" cy="914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register1 = CashRegister()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register1._ _init_ _()   # Bad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3B0B6-F989-4DB3-A9DE-C67F0BB2F0F5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Common Error 9.1 (2)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The constructor can set a new </a:t>
            </a:r>
            <a:r>
              <a:rPr lang="en-US" altLang="en-US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CashRegiste</a:t>
            </a:r>
            <a:r>
              <a:rPr lang="en-US" altLang="en-US" smtClean="0">
                <a:ea typeface="ＭＳ Ｐゴシック" panose="020B0600070205080204" pitchFamily="34" charset="-128"/>
              </a:rPr>
              <a:t>r object to the cleared state, but you should not call the constructor on an existing object. Instead, replace the object with a new one:</a:t>
            </a:r>
          </a:p>
          <a:p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46086" name="TextBox 6"/>
          <p:cNvSpPr txBox="1">
            <a:spLocks noChangeArrowheads="1"/>
          </p:cNvSpPr>
          <p:nvPr/>
        </p:nvSpPr>
        <p:spPr bwMode="auto">
          <a:xfrm>
            <a:off x="914400" y="3785175"/>
            <a:ext cx="7772400" cy="1015663"/>
          </a:xfrm>
          <a:prstGeom prst="rect">
            <a:avLst/>
          </a:prstGeom>
          <a:noFill/>
          <a:ln>
            <a:solidFill>
              <a:schemeClr val="tx1"/>
            </a:solidFill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2000" dirty="0"/>
              <a:t>In general, you should never call a Python method that starts with a double underscore. The are intended for specific internal purposes (in this case, to initialize a newly created object).</a:t>
            </a:r>
            <a:endParaRPr lang="en-US" altLang="en-US" sz="2000" dirty="0">
              <a:cs typeface="Arial" panose="020B0604020202020204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2260092" y="2418806"/>
            <a:ext cx="4623817" cy="914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register1 = CashRegister()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register1 = CashRegister()   # OK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AB41-DDB3-4B7A-A99F-243F058FA3D2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 smtClean="0">
                <a:ea typeface="ＭＳ Ｐゴシック" panose="020B0600070205080204" pitchFamily="34" charset="-128"/>
              </a:rPr>
              <a:t>Implementing Methods</a:t>
            </a:r>
          </a:p>
        </p:txBody>
      </p:sp>
      <p:sp>
        <p:nvSpPr>
          <p:cNvPr id="4710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Implementing a method is very similar to implementing a function except that you access the </a:t>
            </a:r>
            <a:r>
              <a:rPr lang="en-US" altLang="en-US" dirty="0" smtClean="0">
                <a:solidFill>
                  <a:srgbClr val="0033CC"/>
                </a:solidFill>
                <a:ea typeface="ＭＳ Ｐゴシック" panose="020B0600070205080204" pitchFamily="34" charset="-128"/>
              </a:rPr>
              <a:t>instance variables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of the object in the method body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E12A-F14F-45D3-8303-4F91ED9F2BD1}" type="datetime1">
              <a:rPr lang="en-US" smtClean="0"/>
              <a:t>11/16/2015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487263"/>
              </p:ext>
            </p:extLst>
          </p:nvPr>
        </p:nvGraphicFramePr>
        <p:xfrm>
          <a:off x="1219200" y="3616810"/>
          <a:ext cx="6705600" cy="22431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572000"/>
                <a:gridCol w="2133600"/>
              </a:tblGrid>
              <a:tr h="36575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Task</a:t>
                      </a:r>
                      <a:endParaRPr lang="en-US" sz="1800" dirty="0"/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Method</a:t>
                      </a:r>
                      <a:endParaRPr lang="en-US" sz="1800" dirty="0"/>
                    </a:p>
                  </a:txBody>
                  <a:tcPr marT="45716" marB="45716"/>
                </a:tc>
              </a:tr>
              <a:tr h="469347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ts val="600"/>
                        </a:spcBef>
                        <a:buNone/>
                      </a:pPr>
                      <a:r>
                        <a:rPr lang="en-US" sz="2000" dirty="0" smtClean="0"/>
                        <a:t>Add the price of an item</a:t>
                      </a:r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ts val="200"/>
                        </a:spcBef>
                      </a:pPr>
                      <a:r>
                        <a:rPr lang="en-US" sz="1800" dirty="0" smtClean="0"/>
                        <a:t>addItem(price)</a:t>
                      </a:r>
                      <a:endParaRPr lang="en-US" sz="1800" dirty="0" smtClean="0">
                        <a:solidFill>
                          <a:srgbClr val="333333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T="45716" marB="45716"/>
                </a:tc>
              </a:tr>
              <a:tr h="469347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Get the total amount owed</a:t>
                      </a:r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getTotal()</a:t>
                      </a:r>
                      <a:endParaRPr lang="en-US" sz="1800" dirty="0" smtClean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T="45716" marB="45716"/>
                </a:tc>
              </a:tr>
              <a:tr h="469347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Get the count of items purchased</a:t>
                      </a:r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getCount()</a:t>
                      </a:r>
                      <a:endParaRPr lang="en-US" sz="1800" dirty="0" smtClean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T="45716" marB="45716"/>
                </a:tc>
              </a:tr>
              <a:tr h="469347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Clear the cash register for a new sale</a:t>
                      </a:r>
                    </a:p>
                  </a:txBody>
                  <a:tcPr marT="45716" marB="45716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clear()</a:t>
                      </a:r>
                      <a:endParaRPr lang="en-US" sz="1800" dirty="0" smtClean="0"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marT="45716" marB="45716"/>
                </a:tc>
              </a:tr>
            </a:tbl>
          </a:graphicData>
        </a:graphic>
      </p:graphicFrame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1447800" y="2286000"/>
            <a:ext cx="6248400" cy="990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addItem(self, </a:t>
            </a:r>
            <a:r>
              <a:rPr lang="en-US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price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):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self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._itemCount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= self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._itemCount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+ 1     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self.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_totalPrice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= self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._totalPrice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+ </a:t>
            </a:r>
            <a:r>
              <a:rPr lang="en-US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price</a:t>
            </a: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Syntax: Instance Methods</a:t>
            </a:r>
          </a:p>
        </p:txBody>
      </p:sp>
      <p:sp>
        <p:nvSpPr>
          <p:cNvPr id="48131" name="Content Placeholder 6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1640594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Use instance variables inside methods of the class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Similar to the constructor, all other instance methods must include the self parameter as the first parameter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You must specify the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self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implicit parameter when using instance variables inside the class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86D1-54D0-4104-9CD3-1F8227C43772}" type="datetime1">
              <a:rPr lang="en-US" smtClean="0"/>
              <a:t>11/16/2015</a:t>
            </a:fld>
            <a:endParaRPr lang="en-US" dirty="0"/>
          </a:p>
        </p:txBody>
      </p:sp>
      <p:pic>
        <p:nvPicPr>
          <p:cNvPr id="48134" name="Picture 6" descr="U:\PC\publisher\2013 wiley slides\Ch 5-9, FM\Chapter  9\Media\Illustrations\py_syn_09_02_300dp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35" y="3048000"/>
            <a:ext cx="8328931" cy="326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Invoking Instance Methods</a:t>
            </a:r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As with the constructor, every method must include the special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self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parameter variable, and it must be listed first. 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When a method is called, a reference to the object on which the method was invoked (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register1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) is automatically passed to the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self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parameter variable: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86000" y="3276600"/>
            <a:ext cx="4572000" cy="1398588"/>
            <a:chOff x="2057400" y="3276600"/>
            <a:chExt cx="4572000" cy="1398588"/>
          </a:xfrm>
        </p:grpSpPr>
        <p:sp>
          <p:nvSpPr>
            <p:cNvPr id="6" name="Content Placeholder 2"/>
            <p:cNvSpPr txBox="1">
              <a:spLocks/>
            </p:cNvSpPr>
            <p:nvPr/>
          </p:nvSpPr>
          <p:spPr bwMode="auto">
            <a:xfrm>
              <a:off x="2057400" y="3276600"/>
              <a:ext cx="4267200" cy="4953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18900000" algn="bl" rotWithShape="0">
                <a:srgbClr val="808080">
                  <a:alpha val="39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eaLnBrk="0" hangingPunct="0">
                <a:buClr>
                  <a:srgbClr val="835E01"/>
                </a:buClr>
                <a:buSzPct val="60000"/>
                <a:defRPr/>
              </a:pPr>
              <a:r>
                <a:rPr lang="en-US" dirty="0">
                  <a:latin typeface="Consolas" pitchFamily="49" charset="0"/>
                  <a:cs typeface="Consolas" pitchFamily="49" charset="0"/>
                </a:rPr>
                <a:t>register1.addItem(2.95)</a:t>
              </a:r>
            </a:p>
            <a:p>
              <a:pPr marL="342900" indent="-342900" eaLnBrk="0" hangingPunct="0">
                <a:buClr>
                  <a:srgbClr val="835E01"/>
                </a:buClr>
                <a:buSzPct val="60000"/>
                <a:buFont typeface="Wingdings" pitchFamily="2" charset="2"/>
                <a:buNone/>
                <a:defRPr/>
              </a:pPr>
              <a:endParaRPr lang="en-US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8" name="Content Placeholder 2"/>
            <p:cNvSpPr txBox="1">
              <a:spLocks/>
            </p:cNvSpPr>
            <p:nvPr/>
          </p:nvSpPr>
          <p:spPr bwMode="auto">
            <a:xfrm>
              <a:off x="2362200" y="4179888"/>
              <a:ext cx="4267200" cy="4953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>
              <a:outerShdw blurRad="50800" dist="38100" dir="18900000" algn="bl" rotWithShape="0">
                <a:srgbClr val="808080">
                  <a:alpha val="39998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342900" indent="-342900" eaLnBrk="0" hangingPunct="0">
                <a:buClr>
                  <a:srgbClr val="835E01"/>
                </a:buClr>
                <a:buSzPct val="60000"/>
                <a:buFont typeface="Wingdings" pitchFamily="2" charset="2"/>
                <a:buNone/>
                <a:defRPr/>
              </a:pPr>
              <a:r>
                <a:rPr lang="en-US" dirty="0">
                  <a:latin typeface="Consolas" pitchFamily="49" charset="0"/>
                  <a:cs typeface="Consolas" pitchFamily="49" charset="0"/>
                </a:rPr>
                <a:t>def addItem(self, price):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2895600" y="3581400"/>
              <a:ext cx="1371600" cy="685800"/>
            </a:xfrm>
            <a:prstGeom prst="straightConnector1">
              <a:avLst/>
            </a:prstGeom>
            <a:ln w="38100">
              <a:solidFill>
                <a:srgbClr val="0033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206A4-F3C9-491B-BE45-D47A21B65A65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Tracing The Method Call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143000" y="1295400"/>
            <a:ext cx="6858000" cy="1190625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register1 = CashRegister()   #1 New object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register1.addItem(2.95)      #2  Calling method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…                            #3 After method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82947" name="Picture 3" descr="U:\PC\publisher\2013 wiley slides\Ch 5-9, FM\Chapter  9\Media\Illustrations\py_09_04_300dp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921"/>
          <a:stretch>
            <a:fillRect/>
          </a:stretch>
        </p:blipFill>
        <p:spPr bwMode="auto">
          <a:xfrm>
            <a:off x="381000" y="2592388"/>
            <a:ext cx="3844925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48" name="Picture 4" descr="U:\PC\publisher\2013 wiley slides\Ch 5-9, FM\Chapter  9\Media\Illustrations\py_09_04_300dp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168" b="34856"/>
          <a:stretch>
            <a:fillRect/>
          </a:stretch>
        </p:blipFill>
        <p:spPr bwMode="auto">
          <a:xfrm>
            <a:off x="589757" y="3491706"/>
            <a:ext cx="3886200" cy="139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49" name="Picture 5" descr="U:\PC\publisher\2013 wiley slides\Ch 5-9, FM\Chapter  9\Media\Illustrations\py_09_04_300dp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282" r="3514" b="2"/>
          <a:stretch>
            <a:fillRect/>
          </a:stretch>
        </p:blipFill>
        <p:spPr bwMode="auto">
          <a:xfrm>
            <a:off x="1295400" y="4655591"/>
            <a:ext cx="3989387" cy="157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4725988" y="2667000"/>
            <a:ext cx="3998912" cy="1524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addItem(self, price):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self._itemCount =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self._itemCount + 1     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self._totalPrice =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self._totalPrice + price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7CB78-9233-477A-A138-8F8C95725B30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 smtClean="0">
                <a:ea typeface="ＭＳ Ｐゴシック" panose="020B0600070205080204" pitchFamily="34" charset="-128"/>
              </a:rPr>
              <a:t>Accessing Instance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To access an instance variable, such as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_itemCount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/>
              <a:t>or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_totalPrice</a:t>
            </a:r>
            <a:r>
              <a:rPr lang="en-US" dirty="0"/>
              <a:t>, in a method, </a:t>
            </a:r>
            <a:r>
              <a:rPr lang="en-US" dirty="0" smtClean="0"/>
              <a:t>you must </a:t>
            </a:r>
            <a:r>
              <a:rPr lang="en-US" dirty="0"/>
              <a:t>access the variable name through the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self</a:t>
            </a:r>
            <a:r>
              <a:rPr lang="en-US" dirty="0"/>
              <a:t> </a:t>
            </a:r>
            <a:r>
              <a:rPr lang="en-US" dirty="0" smtClean="0"/>
              <a:t>reference</a:t>
            </a:r>
          </a:p>
          <a:p>
            <a:pPr lvl="1">
              <a:defRPr/>
            </a:pPr>
            <a:r>
              <a:rPr lang="en-US" dirty="0" smtClean="0"/>
              <a:t>This </a:t>
            </a:r>
            <a:r>
              <a:rPr lang="en-US" dirty="0"/>
              <a:t>indicates that </a:t>
            </a:r>
            <a:r>
              <a:rPr lang="en-US" dirty="0" smtClean="0"/>
              <a:t>you want </a:t>
            </a:r>
            <a:r>
              <a:rPr lang="en-US" dirty="0"/>
              <a:t>to access the instance variables of the object on which the method is </a:t>
            </a:r>
            <a:r>
              <a:rPr lang="en-US" dirty="0" smtClean="0"/>
              <a:t>invoked, and </a:t>
            </a:r>
            <a:r>
              <a:rPr lang="en-US" dirty="0"/>
              <a:t>not those of some other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CashRegister</a:t>
            </a:r>
            <a:r>
              <a:rPr lang="en-US" dirty="0"/>
              <a:t> </a:t>
            </a:r>
            <a:r>
              <a:rPr lang="en-US" dirty="0" smtClean="0"/>
              <a:t>object</a:t>
            </a:r>
            <a:endParaRPr lang="en-US" dirty="0"/>
          </a:p>
          <a:p>
            <a:pPr>
              <a:defRPr/>
            </a:pPr>
            <a:r>
              <a:rPr lang="en-US" dirty="0"/>
              <a:t>The first statement in the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addItem() </a:t>
            </a:r>
            <a:r>
              <a:rPr lang="en-US" dirty="0"/>
              <a:t>method </a:t>
            </a:r>
            <a:r>
              <a:rPr lang="en-US" dirty="0" smtClean="0"/>
              <a:t>is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self._itemCount = self._itemCount + 1</a:t>
            </a:r>
            <a:endParaRPr lang="en-US" sz="1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B22EA-8B85-4C40-AFFE-E9D765E6812B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 smtClean="0">
                <a:ea typeface="ＭＳ Ｐゴシック" panose="020B0600070205080204" pitchFamily="34" charset="-128"/>
              </a:rPr>
              <a:t>Accessing Instance Variables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Which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itemCount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is incremented? 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In this call, it is the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itemCount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of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register1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object.</a:t>
            </a:r>
          </a:p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pic>
        <p:nvPicPr>
          <p:cNvPr id="52230" name="Picture 4" descr="U:\PC\publisher\2013 wiley slides\Ch 5-9, FM\Chapter  9\Media\Illustrations\py_09_04_300dp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0" t="41147" r="3880" b="34856"/>
          <a:stretch>
            <a:fillRect/>
          </a:stretch>
        </p:blipFill>
        <p:spPr bwMode="auto">
          <a:xfrm>
            <a:off x="2057400" y="2216150"/>
            <a:ext cx="5029200" cy="167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59865-B36D-4015-B8DF-7665648010F6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smtClean="0">
                <a:ea typeface="ＭＳ Ｐゴシック" panose="020B0600070205080204" pitchFamily="34" charset="-128"/>
              </a:rPr>
              <a:t>Calling One Method Within Another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When one method needs to call </a:t>
            </a:r>
            <a:r>
              <a:rPr lang="en-US" altLang="en-US" dirty="0" smtClean="0">
                <a:solidFill>
                  <a:srgbClr val="0033CC"/>
                </a:solidFill>
                <a:ea typeface="ＭＳ Ｐゴシック" panose="020B0600070205080204" pitchFamily="34" charset="-128"/>
              </a:rPr>
              <a:t>another method on the same object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, you invoke the method on the </a:t>
            </a:r>
            <a:r>
              <a:rPr lang="en-US" altLang="en-US" dirty="0" smtClean="0">
                <a:solidFill>
                  <a:srgbClr val="00B050"/>
                </a:solidFill>
                <a:ea typeface="ＭＳ Ｐゴシック" panose="020B0600070205080204" pitchFamily="34" charset="-128"/>
              </a:rPr>
              <a:t>self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parameter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790700" y="2209800"/>
            <a:ext cx="5562600" cy="1143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def addItems(self, quantity, price) :</a:t>
            </a:r>
          </a:p>
          <a:p>
            <a:pPr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for i in range(quantity) :</a:t>
            </a:r>
          </a:p>
          <a:p>
            <a:pPr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sz="20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self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.</a:t>
            </a:r>
            <a:r>
              <a:rPr lang="en-US" sz="20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addItem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(price)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1576-E002-4580-A15E-E262FC8FC0AF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anose="020B0600070205080204" pitchFamily="34" charset="-128"/>
              </a:rPr>
              <a:t>Example: </a:t>
            </a:r>
            <a:r>
              <a:rPr lang="en-US" altLang="en-US" sz="360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CashRegister.py</a:t>
            </a:r>
            <a:r>
              <a:rPr lang="en-US" altLang="en-US" sz="3600" smtClean="0">
                <a:ea typeface="ＭＳ Ｐゴシック" panose="020B0600070205080204" pitchFamily="34" charset="-128"/>
              </a:rPr>
              <a:t> (1)</a:t>
            </a:r>
          </a:p>
        </p:txBody>
      </p:sp>
      <p:pic>
        <p:nvPicPr>
          <p:cNvPr id="54277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18" b="32782"/>
          <a:stretch>
            <a:fillRect/>
          </a:stretch>
        </p:blipFill>
        <p:spPr>
          <a:xfrm>
            <a:off x="0" y="1143000"/>
            <a:ext cx="6696075" cy="3581400"/>
          </a:xfrm>
        </p:spPr>
      </p:pic>
      <p:pic>
        <p:nvPicPr>
          <p:cNvPr id="54278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39" r="33835"/>
          <a:stretch>
            <a:fillRect/>
          </a:stretch>
        </p:blipFill>
        <p:spPr bwMode="auto">
          <a:xfrm>
            <a:off x="4222750" y="4114800"/>
            <a:ext cx="4691063" cy="2252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F1546-CA51-4185-9438-058A101CF316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Programming Tip 9.2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Instance variables should only be defined in the constructor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All variables, including instance variables, are created at run time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There is nothing to prevent you from creating instance variables in any method of a class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The constructor is invoked before any method can be called, so any instance variables that were created in the constructor are sure to be available in all methods</a:t>
            </a:r>
          </a:p>
        </p:txBody>
      </p:sp>
      <p:pic>
        <p:nvPicPr>
          <p:cNvPr id="5530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31763"/>
            <a:ext cx="623888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90D0F-B13D-4DDA-A7EC-B337EE044B01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Class Variables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They are a value properly belongs to a class, not to any object of the class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Class variables are often called “static variables”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Class variables are declared at the same level as methods 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In contrast, instance variables are created in the constructor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906EC-19FB-48FA-99D2-1100A349F136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solidFill>
                  <a:srgbClr val="0033CC"/>
                </a:solidFill>
                <a:ea typeface="ＭＳ Ｐゴシック" panose="020B0600070205080204" pitchFamily="34" charset="-128"/>
              </a:rPr>
              <a:t>Class Variables</a:t>
            </a:r>
            <a:r>
              <a:rPr lang="en-US" altLang="en-US" smtClean="0">
                <a:ea typeface="ＭＳ Ｐゴシック" panose="020B0600070205080204" pitchFamily="34" charset="-128"/>
              </a:rPr>
              <a:t>: Example (1)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We want to assign bank account numbers sequentially: the first account is assigned number 1001, the next with number 1002, and so on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To solve this problem, we need to have a single value of </a:t>
            </a:r>
            <a:r>
              <a:rPr lang="en-US" altLang="en-US" sz="1800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</a:t>
            </a:r>
            <a:r>
              <a:rPr lang="en-US" altLang="en-US" sz="1800" dirty="0" err="1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lastAssignedNumber</a:t>
            </a:r>
            <a:r>
              <a:rPr lang="en-US" altLang="en-US" sz="1800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that is a property of the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class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, not any object of the class</a:t>
            </a:r>
          </a:p>
          <a:p>
            <a:endParaRPr lang="en-US" altLang="en-US" dirty="0" smtClean="0">
              <a:ea typeface="ＭＳ Ｐゴシック" panose="020B0600070205080204" pitchFamily="34" charset="-128"/>
            </a:endParaRPr>
          </a:p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257300" y="3276600"/>
            <a:ext cx="6629400" cy="2438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class BankAccount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_lastAssignedNumber = 1000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# A class variable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_ _init_ _(self)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self._balance = 0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BankAccount._lastAssignedNumber =     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   BankAccount._lastAssignedNumber + 1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self._accountNumber = 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   BankAccount._lastAssignedNumber</a:t>
            </a:r>
            <a:endParaRPr lang="en-US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24C6-77F9-4835-87C8-509F7CB3B1EB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Class Variables: Example (2)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Every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BankAccount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object has its 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own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_balance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and 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_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account-Numbe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instance variables, but there is only a single copy of the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lastAssignedNumber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variable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That variable is stored in a separate location, outside any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BankAccoun</a:t>
            </a:r>
            <a:r>
              <a:rPr lang="en-US" altLang="en-US" sz="1800" dirty="0" err="1" smtClean="0">
                <a:ea typeface="ＭＳ Ｐゴシック" panose="020B0600070205080204" pitchFamily="34" charset="-128"/>
              </a:rPr>
              <a:t>t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object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Like instance variables, class variables should always be private to ensure that methods of other classes do not change their values. However, class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constants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can be public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76979-E94D-40DD-99B8-90F004A2E5A7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Class Variables: Example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For </a:t>
            </a:r>
            <a:r>
              <a:rPr lang="en-US" dirty="0" smtClean="0"/>
              <a:t>example, the 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BankAccount</a:t>
            </a:r>
            <a:r>
              <a:rPr lang="en-US" dirty="0" smtClean="0"/>
              <a:t> class </a:t>
            </a:r>
            <a:r>
              <a:rPr lang="en-US" dirty="0"/>
              <a:t>can define a public constant value, such </a:t>
            </a:r>
            <a:r>
              <a:rPr lang="en-US" dirty="0" smtClean="0"/>
              <a:t>as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636044" y="2209800"/>
            <a:ext cx="3871912" cy="990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class BankAccount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OVERDRAFT_FEE = 29.95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. . 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D7275-C721-48CB-B779-88ACE5BD9122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22959" y="3562050"/>
            <a:ext cx="7543801" cy="82014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defRPr/>
            </a:pPr>
            <a:r>
              <a:rPr lang="en-US" dirty="0" smtClean="0"/>
              <a:t>Methods from any class can refer to such a constant as </a:t>
            </a:r>
            <a:r>
              <a:rPr lang="en-US" sz="1800" dirty="0" err="1" smtClean="0">
                <a:latin typeface="Consolas" pitchFamily="49" charset="0"/>
                <a:cs typeface="Consolas" pitchFamily="49" charset="0"/>
              </a:rPr>
              <a:t>BankAccount.OVERDRAFT_FEE</a:t>
            </a:r>
            <a:endParaRPr lang="en-US" sz="1800" dirty="0" smtClean="0"/>
          </a:p>
          <a:p>
            <a:pPr fontAlgn="auto"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 smtClean="0">
                <a:ea typeface="ＭＳ Ｐゴシック" panose="020B0600070205080204" pitchFamily="34" charset="-128"/>
              </a:rPr>
              <a:t>Testing a Class</a:t>
            </a:r>
          </a:p>
        </p:txBody>
      </p:sp>
      <p:sp>
        <p:nvSpPr>
          <p:cNvPr id="60419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458200" cy="5105400"/>
          </a:xfrm>
        </p:spPr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In the long run, your class may become a part of a larger program that interacts with users, stores data in files, and so on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You should </a:t>
            </a:r>
            <a:r>
              <a:rPr lang="en-US" altLang="en-US" dirty="0">
                <a:ea typeface="ＭＳ Ｐゴシック" panose="020B0600070205080204" pitchFamily="34" charset="-128"/>
              </a:rPr>
              <a:t>always test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your class </a:t>
            </a:r>
            <a:r>
              <a:rPr lang="en-US" altLang="en-US" dirty="0">
                <a:ea typeface="ＭＳ Ｐゴシック" panose="020B0600070205080204" pitchFamily="34" charset="-128"/>
              </a:rPr>
              <a:t>in isolation integrating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a class into a program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Testing in isolation, outside a complete program, is called </a:t>
            </a:r>
            <a:r>
              <a:rPr lang="en-US" altLang="en-US" b="1" dirty="0" smtClean="0">
                <a:ea typeface="ＭＳ Ｐゴシック" panose="020B0600070205080204" pitchFamily="34" charset="-128"/>
              </a:rPr>
              <a:t>unit testing</a:t>
            </a:r>
            <a:endParaRPr lang="en-US" altLang="en-US" dirty="0" smtClean="0">
              <a:latin typeface="Consolas" panose="020B0609020204030204" pitchFamily="49" charset="0"/>
              <a:ea typeface="ＭＳ Ｐゴシック" panose="020B0600070205080204" pitchFamily="34" charset="-128"/>
              <a:cs typeface="Consolas" panose="020B0609020204030204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A55E4-3159-4113-92E3-6F207369792F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smtClean="0">
                <a:ea typeface="ＭＳ Ｐゴシック" panose="020B0600070205080204" pitchFamily="34" charset="-128"/>
              </a:rPr>
              <a:t>Choices for Testing: The Python shell</a:t>
            </a:r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Some interactive development environments provide access to the Python shell in which individual statements can be executed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You can test a class simply by constructing an object, calling methods, and verifying that you get the expected return values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975360" y="3019214"/>
            <a:ext cx="7391400" cy="2819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&gt;&gt;&gt; from cashregister import CashRegister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&gt;&gt;&gt; reg = CashRegister()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&gt;&gt;&gt; reg.addItem(1.95)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&gt;&gt;&gt; reg.addItem(0.95)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&gt;&gt;&gt; reg.addItem(2.50)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&gt;&gt;&gt; print(reg.getCount())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3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&gt;&gt;&gt; print(reg.getTotal())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5.4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&gt;&gt;&gt;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4C736-24DA-4BD0-92FB-29534D43FB3F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anose="020B0600070205080204" pitchFamily="34" charset="-128"/>
              </a:rPr>
              <a:t>Choices for Testing: Test Drivers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Interactive testing is quick and convenient but it has a drawback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When you find and fix a mistake, you need to type in the tests again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As your classes get more complex, you should write tester programs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A tester program is a driver module that imports the class and contains statements to run methods of your class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65E84-0643-42D3-A1B1-AEA0476D2CD3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smtClean="0">
                <a:ea typeface="ＭＳ Ｐゴシック" panose="020B0600070205080204" pitchFamily="34" charset="-128"/>
              </a:rPr>
              <a:t>Steps Performed by a Tester Program</a:t>
            </a: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dirty="0" smtClean="0">
                <a:ea typeface="ＭＳ Ｐゴシック" panose="020B0600070205080204" pitchFamily="34" charset="-128"/>
              </a:rPr>
              <a:t>Construct one or more objects of the class that is being tested</a:t>
            </a:r>
          </a:p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dirty="0" smtClean="0">
                <a:ea typeface="ＭＳ Ｐゴシック" panose="020B0600070205080204" pitchFamily="34" charset="-128"/>
              </a:rPr>
              <a:t>Invoke one or more methods</a:t>
            </a:r>
          </a:p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dirty="0" smtClean="0">
                <a:ea typeface="ＭＳ Ｐゴシック" panose="020B0600070205080204" pitchFamily="34" charset="-128"/>
              </a:rPr>
              <a:t>Print out one or more results</a:t>
            </a:r>
          </a:p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dirty="0" smtClean="0">
                <a:ea typeface="ＭＳ Ｐゴシック" panose="020B0600070205080204" pitchFamily="34" charset="-128"/>
              </a:rPr>
              <a:t>Print the expected results</a:t>
            </a:r>
          </a:p>
          <a:p>
            <a:pPr marL="514350" indent="-514350">
              <a:buSzPct val="100000"/>
              <a:buFont typeface="Arial" panose="020B0604020202020204" pitchFamily="34" charset="0"/>
              <a:buAutoNum type="arabicPeriod"/>
            </a:pPr>
            <a:r>
              <a:rPr lang="en-US" altLang="en-US" dirty="0" smtClean="0">
                <a:ea typeface="ＭＳ Ｐゴシック" panose="020B0600070205080204" pitchFamily="34" charset="-128"/>
              </a:rPr>
              <a:t>Compare the computed results with the expected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C41D-9D97-4741-A0E2-D5FB3E2572B7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Example Test Program</a:t>
            </a:r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It runs and tests the methods of the </a:t>
            </a:r>
            <a:r>
              <a:rPr lang="en-US" altLang="en-US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CashRegister</a:t>
            </a:r>
            <a:r>
              <a:rPr lang="en-US" altLang="en-US" dirty="0" smtClean="0">
                <a:ea typeface="ＭＳ Ｐゴシック" panose="020B0600070205080204" pitchFamily="34" charset="-128"/>
                <a:cs typeface="Consolas" panose="020B0609020204030204" pitchFamily="49" charset="0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class</a:t>
            </a:r>
          </a:p>
        </p:txBody>
      </p:sp>
      <p:pic>
        <p:nvPicPr>
          <p:cNvPr id="64518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12" y="1752600"/>
            <a:ext cx="4903788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9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03" r="44231"/>
          <a:stretch>
            <a:fillRect/>
          </a:stretch>
        </p:blipFill>
        <p:spPr bwMode="auto">
          <a:xfrm>
            <a:off x="5068888" y="4800600"/>
            <a:ext cx="3730625" cy="136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20" name="TextBox 6"/>
          <p:cNvSpPr txBox="1">
            <a:spLocks noChangeArrowheads="1"/>
          </p:cNvSpPr>
          <p:nvPr/>
        </p:nvSpPr>
        <p:spPr bwMode="auto">
          <a:xfrm>
            <a:off x="5057775" y="4419600"/>
            <a:ext cx="2914650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Program execution</a:t>
            </a:r>
            <a:endParaRPr lang="en-US" altLang="en-US"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2FA4F-AD23-4726-9A8F-BAC36DB311B6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Test Drivers: Plan Beforehand</a:t>
            </a: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Thinking about the sample program: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We add three items totaling $5.40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When displaying the method results, we also display messages that describe the values we expect to see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This is a very important step. You want to spend some time thinking about what the expected result is before you run a test program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This thought process will help you understand how your program should behave, and it can help you track down errors at an early stage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F5235-6C8B-4FCD-A020-F3DEA8D8855A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Test Drivers: Using Modules</a:t>
            </a:r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>
          <a:xfrm>
            <a:off x="975359" y="2913045"/>
            <a:ext cx="7543801" cy="1245559"/>
          </a:xfrm>
        </p:spPr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The specific details for running the program depend on your development environment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048511" y="2209800"/>
            <a:ext cx="5580889" cy="381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from cashregister import CashRegister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9336-660A-41A4-8634-F9575A90FAC9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75359" y="1407406"/>
            <a:ext cx="7543801" cy="110474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en-US" dirty="0" smtClean="0">
                <a:ea typeface="ＭＳ Ｐゴシック" panose="020B0600070205080204" pitchFamily="34" charset="-128"/>
              </a:rPr>
              <a:t>You need to import the class you are testing (here, the </a:t>
            </a:r>
            <a:r>
              <a:rPr lang="en-US" altLang="en-US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CashRegister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class) into the driver module: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anose="020B0600070205080204" pitchFamily="34" charset="-128"/>
              </a:rPr>
              <a:t>Steps to Implementing a Class</a:t>
            </a:r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484894"/>
          </a:xfrm>
        </p:spPr>
        <p:txBody>
          <a:bodyPr/>
          <a:lstStyle/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en-US" dirty="0" smtClean="0">
                <a:ea typeface="ＭＳ Ｐゴシック" panose="020B0600070205080204" pitchFamily="34" charset="-128"/>
              </a:rPr>
              <a:t>1) Get an informal list of responsibilities for your objects</a:t>
            </a:r>
            <a:endParaRPr lang="en-US" altLang="en-US" sz="2400" dirty="0" smtClean="0">
              <a:ea typeface="ＭＳ Ｐゴシック" panose="020B0600070205080204" pitchFamily="34" charset="-128"/>
            </a:endParaRP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en-US" sz="2400" dirty="0" smtClean="0">
              <a:ea typeface="ＭＳ Ｐゴシック" panose="020B0600070205080204" pitchFamily="34" charset="-128"/>
            </a:endParaRP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en-US" sz="2400" dirty="0" smtClean="0">
              <a:ea typeface="ＭＳ Ｐゴシック" panose="020B0600070205080204" pitchFamily="34" charset="-128"/>
            </a:endParaRPr>
          </a:p>
          <a:p>
            <a:pPr>
              <a:spcBef>
                <a:spcPts val="200"/>
              </a:spcBef>
            </a:pPr>
            <a:endParaRPr lang="en-US" altLang="en-US" sz="2400" dirty="0" smtClean="0">
              <a:ea typeface="ＭＳ Ｐゴシック" panose="020B0600070205080204" pitchFamily="34" charset="-128"/>
            </a:endParaRP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en-US" sz="2400" dirty="0" smtClean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D5D2-9009-41AE-9EA9-3A8D37DD139E}" type="datetime1">
              <a:rPr lang="en-US" smtClean="0"/>
              <a:t>11/16/2015</a:t>
            </a:fld>
            <a:endParaRPr lang="en-US" dirty="0"/>
          </a:p>
        </p:txBody>
      </p:sp>
      <p:pic>
        <p:nvPicPr>
          <p:cNvPr id="67590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8071" y="1739900"/>
            <a:ext cx="19335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91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810000"/>
            <a:ext cx="1438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822957" y="2912814"/>
            <a:ext cx="7543801" cy="11257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lang="en-US" altLang="en-US" dirty="0" smtClean="0">
                <a:ea typeface="ＭＳ Ｐゴシック" panose="020B0600070205080204" pitchFamily="34" charset="-128"/>
              </a:rPr>
              <a:t>There is a hidden responsibility as well. We need to be able to find out how much money is in the account.</a:t>
            </a:r>
          </a:p>
          <a:p>
            <a:pPr fontAlgn="auto"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en-US" sz="2400" dirty="0" smtClean="0">
              <a:ea typeface="ＭＳ Ｐゴシック" panose="020B0600070205080204" pitchFamily="34" charset="-128"/>
            </a:endParaRPr>
          </a:p>
          <a:p>
            <a:pPr fontAlgn="auto"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en-US" sz="2400" dirty="0" smtClean="0">
              <a:ea typeface="ＭＳ Ｐゴシック" panose="020B0600070205080204" pitchFamily="34" charset="-128"/>
            </a:endParaRPr>
          </a:p>
          <a:p>
            <a:pPr fontAlgn="auto"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en-US" sz="2400" dirty="0" smtClean="0">
              <a:ea typeface="ＭＳ Ｐゴシック" panose="020B0600070205080204" pitchFamily="34" charset="-128"/>
            </a:endParaRPr>
          </a:p>
          <a:p>
            <a:pPr fontAlgn="auto">
              <a:spcBef>
                <a:spcPts val="200"/>
              </a:spcBef>
            </a:pPr>
            <a:endParaRPr lang="en-US" altLang="en-US" sz="2400" dirty="0" smtClean="0">
              <a:ea typeface="ＭＳ Ｐゴシック" panose="020B0600070205080204" pitchFamily="34" charset="-128"/>
            </a:endParaRPr>
          </a:p>
          <a:p>
            <a:pPr fontAlgn="auto"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en-US" sz="2400" dirty="0" smtClean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Steps to Implementing a Class</a:t>
            </a:r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649994"/>
          </a:xfrm>
        </p:spPr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2) Specify the public interface</a:t>
            </a:r>
          </a:p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pic>
        <p:nvPicPr>
          <p:cNvPr id="6861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2"/>
          <a:stretch>
            <a:fillRect/>
          </a:stretch>
        </p:blipFill>
        <p:spPr bwMode="auto">
          <a:xfrm>
            <a:off x="1713486" y="1719072"/>
            <a:ext cx="5029200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5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0" y="4937514"/>
            <a:ext cx="7621588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B2519-4A31-47D3-9423-EFCE5B7820C7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22959" y="4436872"/>
            <a:ext cx="7543801" cy="88250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en-US" dirty="0" smtClean="0">
                <a:ea typeface="ＭＳ Ｐゴシック" panose="020B0600070205080204" pitchFamily="34" charset="-128"/>
              </a:rPr>
              <a:t>3) Document the public interface</a:t>
            </a:r>
          </a:p>
          <a:p>
            <a:pPr fontAlgn="auto"/>
            <a:endParaRPr lang="en-US" altLang="en-US" dirty="0" smtClean="0">
              <a:ea typeface="ＭＳ Ｐゴシック" panose="020B0600070205080204" pitchFamily="34" charset="-128"/>
            </a:endParaRPr>
          </a:p>
          <a:p>
            <a:pPr fontAlgn="auto"/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Steps to Implementing a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649994"/>
          </a:xfrm>
        </p:spPr>
        <p:txBody>
          <a:bodyPr>
            <a:normAutofit/>
          </a:bodyPr>
          <a:lstStyle/>
          <a:p>
            <a:pPr marL="57150" indent="0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dirty="0"/>
              <a:t>4) Determine the instance </a:t>
            </a:r>
            <a:r>
              <a:rPr lang="en-US" dirty="0" smtClean="0"/>
              <a:t>variables</a:t>
            </a:r>
            <a:endParaRPr lang="en-US" dirty="0">
              <a:ea typeface="ＭＳ Ｐゴシック" pitchFamily="34" charset="-128"/>
            </a:endParaRPr>
          </a:p>
          <a:p>
            <a:pPr>
              <a:defRPr/>
            </a:pPr>
            <a:endParaRPr lang="en-US" dirty="0"/>
          </a:p>
        </p:txBody>
      </p:sp>
      <p:pic>
        <p:nvPicPr>
          <p:cNvPr id="69638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46678"/>
            <a:ext cx="39147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9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992" y="2742195"/>
            <a:ext cx="300037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475C2-359F-449D-AEED-C803383FEA8A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17097" y="2323606"/>
            <a:ext cx="7543801" cy="83717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 fontAlgn="auto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dirty="0" smtClean="0"/>
              <a:t>5) Implement constructors and methods</a:t>
            </a:r>
            <a:endParaRPr lang="en-US" dirty="0" smtClean="0">
              <a:ea typeface="ＭＳ Ｐゴシック" pitchFamily="34" charset="-128"/>
            </a:endParaRPr>
          </a:p>
          <a:p>
            <a:pPr fontAlgn="auto">
              <a:defRPr/>
            </a:pP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17097" y="3939129"/>
            <a:ext cx="7543801" cy="106577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 fontAlgn="auto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dirty="0" smtClean="0"/>
              <a:t>6) Test your class</a:t>
            </a:r>
            <a:endParaRPr lang="en-US" dirty="0" smtClean="0">
              <a:ea typeface="ＭＳ Ｐゴシック" pitchFamily="34" charset="-128"/>
            </a:endParaRPr>
          </a:p>
          <a:p>
            <a:pPr fontAlgn="auto"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 smtClean="0">
                <a:ea typeface="ＭＳ Ｐゴシック" panose="020B0600070205080204" pitchFamily="34" charset="-128"/>
              </a:rPr>
              <a:t>Problem Solving: Tracing Objects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649994"/>
          </a:xfrm>
        </p:spPr>
        <p:txBody>
          <a:bodyPr>
            <a:normAutofit/>
          </a:bodyPr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Use an Index card for each object:</a:t>
            </a:r>
          </a:p>
        </p:txBody>
      </p:sp>
      <p:pic>
        <p:nvPicPr>
          <p:cNvPr id="450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3500" y="1600200"/>
            <a:ext cx="6477000" cy="208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7F4B-F765-41CA-B1B9-00383C51723F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9600" y="3782807"/>
            <a:ext cx="7543801" cy="12781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lang="en-US" altLang="en-US" dirty="0" smtClean="0">
                <a:ea typeface="ＭＳ Ｐゴシック" panose="020B0600070205080204" pitchFamily="34" charset="-128"/>
              </a:rPr>
              <a:t>An object is manipulated through the public interface (front of the card).</a:t>
            </a:r>
          </a:p>
          <a:p>
            <a:pPr lvl="1" fontAlgn="auto"/>
            <a:r>
              <a:rPr lang="en-US" altLang="en-US" dirty="0" smtClean="0">
                <a:ea typeface="ＭＳ Ｐゴシック" panose="020B0600070205080204" pitchFamily="34" charset="-128"/>
              </a:rPr>
              <a:t>The encapsulated data is on the back of the card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Mutator Methods and Cards</a:t>
            </a:r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As mutator methods are called, keep track of the value of instance variables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85800" y="2133600"/>
            <a:ext cx="7924800" cy="1066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register2 = CashRegister(7.5)   # 7.5 percent sales tax</a:t>
            </a:r>
          </a:p>
          <a:p>
            <a:pPr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register2.addItem(3.95, False)  # Not taxable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register2.addItem(19.95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, True)  # Taxable</a:t>
            </a:r>
            <a:endParaRPr lang="en-US" sz="2000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pic>
        <p:nvPicPr>
          <p:cNvPr id="4608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81138" y="3352800"/>
            <a:ext cx="6181725" cy="200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278F9-4770-4ACC-9CCF-697964A05FAA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 smtClean="0">
                <a:ea typeface="ＭＳ Ｐゴシック" panose="020B0600070205080204" pitchFamily="34" charset="-128"/>
              </a:rPr>
              <a:t>Problem Solving: Patterns for Object Data</a:t>
            </a:r>
          </a:p>
        </p:txBody>
      </p:sp>
      <p:sp>
        <p:nvSpPr>
          <p:cNvPr id="727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Common patterns when designing instance variables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Keeping a Total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Counting Events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Collecting Values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Managing Object Properties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Modeling Objects with Distinct States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Describing the Position of an Object</a:t>
            </a:r>
          </a:p>
          <a:p>
            <a:pPr lvl="1"/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CBC53-49AF-4933-9544-CFF658C9F807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Patterns:  Keeping a Total</a:t>
            </a:r>
          </a:p>
        </p:txBody>
      </p:sp>
      <p:sp>
        <p:nvSpPr>
          <p:cNvPr id="73731" name="Content Placeholder 2"/>
          <p:cNvSpPr>
            <a:spLocks noGrp="1"/>
          </p:cNvSpPr>
          <p:nvPr>
            <p:ph idx="1"/>
          </p:nvPr>
        </p:nvSpPr>
        <p:spPr>
          <a:xfrm>
            <a:off x="822960" y="1143000"/>
            <a:ext cx="3291840" cy="510540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Examples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Bank account balance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Cash Register total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Car gas tank fuel level</a:t>
            </a:r>
          </a:p>
          <a:p>
            <a:pPr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Variables needed</a:t>
            </a:r>
          </a:p>
          <a:p>
            <a:pPr lvl="1">
              <a:spcBef>
                <a:spcPts val="300"/>
              </a:spcBef>
            </a:pPr>
            <a:r>
              <a:rPr lang="en-US" altLang="en-US" sz="1800" dirty="0" err="1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totalPrice</a:t>
            </a:r>
            <a:endParaRPr lang="en-US" altLang="en-US" sz="1800" dirty="0" smtClean="0">
              <a:ea typeface="ＭＳ Ｐゴシック" panose="020B0600070205080204" pitchFamily="34" charset="-128"/>
            </a:endParaRPr>
          </a:p>
          <a:p>
            <a:pPr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Methods Required</a:t>
            </a:r>
          </a:p>
          <a:p>
            <a:pPr lvl="1">
              <a:spcBef>
                <a:spcPts val="300"/>
              </a:spcBef>
            </a:pP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add (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addItem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)</a:t>
            </a:r>
          </a:p>
          <a:p>
            <a:pPr lvl="1">
              <a:spcBef>
                <a:spcPts val="300"/>
              </a:spcBef>
            </a:pP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clear</a:t>
            </a:r>
          </a:p>
          <a:p>
            <a:pPr lvl="1">
              <a:spcBef>
                <a:spcPts val="300"/>
              </a:spcBef>
            </a:pP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getTotal</a:t>
            </a:r>
            <a:endParaRPr lang="en-US" altLang="en-US" sz="1800" dirty="0" smtClean="0">
              <a:latin typeface="Consolas" panose="020B0609020204030204" pitchFamily="49" charset="0"/>
              <a:ea typeface="ＭＳ Ｐゴシック" panose="020B0600070205080204" pitchFamily="34" charset="-128"/>
              <a:cs typeface="Consolas" panose="020B0609020204030204" pitchFamily="49" charset="0"/>
            </a:endParaRPr>
          </a:p>
          <a:p>
            <a:pPr lvl="1">
              <a:spcBef>
                <a:spcPts val="300"/>
              </a:spcBef>
            </a:pP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886200" y="1295400"/>
            <a:ext cx="4724400" cy="3886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  <a:cs typeface="Consolas" pitchFamily="49" charset="0"/>
              </a:rPr>
              <a:t>class CashRegister 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  <a:cs typeface="Consolas" pitchFamily="49" charset="0"/>
              </a:rPr>
              <a:t>    def addItem(self, price):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self._itemCount =  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   self._itemCount + 1</a:t>
            </a:r>
            <a:r>
              <a:rPr lang="en-US" kern="0" dirty="0">
                <a:latin typeface="Consolas" pitchFamily="49" charset="0"/>
                <a:cs typeface="Consolas" pitchFamily="49" charset="0"/>
              </a:rPr>
              <a:t> 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_totalPrice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=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   self.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_totalPrice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+ price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kern="0" dirty="0">
              <a:latin typeface="Consolas" pitchFamily="49" charset="0"/>
              <a:cs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  <a:cs typeface="Consolas" pitchFamily="49" charset="0"/>
              </a:rPr>
              <a:t>    def clear(self):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  <a:cs typeface="Consolas" pitchFamily="49" charset="0"/>
              </a:rPr>
              <a:t>        self._itemCount = 0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  <a:cs typeface="Consolas" pitchFamily="49" charset="0"/>
              </a:rPr>
              <a:t>        self.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_totalPrice</a:t>
            </a:r>
            <a:r>
              <a:rPr lang="en-US" kern="0" dirty="0">
                <a:latin typeface="Consolas" pitchFamily="49" charset="0"/>
                <a:cs typeface="Consolas" pitchFamily="49" charset="0"/>
              </a:rPr>
              <a:t> = 0.0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kern="0" dirty="0">
              <a:latin typeface="Consolas" pitchFamily="49" charset="0"/>
              <a:cs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  <a:cs typeface="Consolas" pitchFamily="49" charset="0"/>
              </a:rPr>
              <a:t>    def getTotal(self):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  <a:cs typeface="Consolas" pitchFamily="49" charset="0"/>
              </a:rPr>
              <a:t>        return self.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_totalPrice</a:t>
            </a:r>
            <a:endParaRPr lang="en-US" kern="0" dirty="0">
              <a:latin typeface="Consolas" pitchFamily="49" charset="0"/>
              <a:cs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  <a:cs typeface="Consolas" pitchFamily="49" charset="0"/>
              </a:rPr>
              <a:t>   </a:t>
            </a:r>
            <a:endParaRPr lang="en-US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EFA89-B7E4-4D14-AF12-38CC66397626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733800" y="1219200"/>
            <a:ext cx="4724400" cy="40386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class CashRegister: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  <a:cs typeface="Consolas" pitchFamily="49" charset="0"/>
              </a:rPr>
              <a:t>    def addItem(self, price):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._itemCount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=  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   self.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_itemCount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+ 1</a:t>
            </a:r>
            <a:r>
              <a:rPr lang="en-US" kern="0" dirty="0">
                <a:latin typeface="Consolas" pitchFamily="49" charset="0"/>
                <a:cs typeface="Consolas" pitchFamily="49" charset="0"/>
              </a:rPr>
              <a:t> 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self._totalPrice =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   self._totalPrice + price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def clear(self):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        </a:t>
            </a:r>
            <a:r>
              <a:rPr lang="en-US" kern="0" dirty="0">
                <a:latin typeface="Consolas" pitchFamily="49" charset="0"/>
              </a:rPr>
              <a:t>self.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_itemCount = 0</a:t>
            </a:r>
            <a:endParaRPr lang="en-US" kern="0" dirty="0">
              <a:latin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    self._totalPrice = 0.0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def getCount(self):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    </a:t>
            </a:r>
            <a:r>
              <a:rPr lang="en-US" kern="0" dirty="0">
                <a:latin typeface="Consolas" pitchFamily="49" charset="0"/>
              </a:rPr>
              <a:t>    return self.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_itemCount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kern="0" dirty="0">
              <a:latin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</a:t>
            </a:r>
            <a:endParaRPr lang="en-US" kern="0" dirty="0">
              <a:solidFill>
                <a:srgbClr val="333333"/>
              </a:solidFill>
              <a:latin typeface="Consolas" pitchFamily="49" charset="0"/>
            </a:endParaRPr>
          </a:p>
        </p:txBody>
      </p:sp>
      <p:sp>
        <p:nvSpPr>
          <p:cNvPr id="7475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Patterns:  Counting Events</a:t>
            </a:r>
          </a:p>
        </p:txBody>
      </p:sp>
      <p:sp>
        <p:nvSpPr>
          <p:cNvPr id="74756" name="Content Placeholder 2"/>
          <p:cNvSpPr>
            <a:spLocks noGrp="1"/>
          </p:cNvSpPr>
          <p:nvPr>
            <p:ph idx="1"/>
          </p:nvPr>
        </p:nvSpPr>
        <p:spPr>
          <a:xfrm>
            <a:off x="914400" y="1143000"/>
            <a:ext cx="3505200" cy="510540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Examples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Cash Register items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Bank transaction fee</a:t>
            </a:r>
          </a:p>
          <a:p>
            <a:pPr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Variables needed</a:t>
            </a:r>
          </a:p>
          <a:p>
            <a:pPr lvl="1">
              <a:spcBef>
                <a:spcPts val="300"/>
              </a:spcBef>
            </a:pPr>
            <a:r>
              <a:rPr lang="en-US" altLang="en-US" dirty="0" err="1" smtClean="0">
                <a:solidFill>
                  <a:srgbClr val="0033CC"/>
                </a:solidFill>
                <a:ea typeface="ＭＳ Ｐゴシック" panose="020B0600070205080204" pitchFamily="34" charset="-128"/>
              </a:rPr>
              <a:t>itemCount</a:t>
            </a:r>
            <a:endParaRPr lang="en-US" altLang="en-US" dirty="0" smtClean="0">
              <a:solidFill>
                <a:srgbClr val="0033CC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Methods Required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Add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Clear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Optional: </a:t>
            </a:r>
            <a:r>
              <a:rPr lang="en-US" altLang="en-US" dirty="0" err="1" smtClean="0">
                <a:ea typeface="ＭＳ Ｐゴシック" panose="020B0600070205080204" pitchFamily="34" charset="-128"/>
              </a:rPr>
              <a:t>getCount</a:t>
            </a:r>
            <a:endParaRPr lang="en-US" altLang="en-US" dirty="0" smtClean="0">
              <a:ea typeface="ＭＳ Ｐゴシック" panose="020B0600070205080204" pitchFamily="34" charset="-128"/>
            </a:endParaRPr>
          </a:p>
          <a:p>
            <a:pPr lvl="1">
              <a:spcBef>
                <a:spcPts val="300"/>
              </a:spcBef>
            </a:pP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73898-A217-4FF4-9A9B-CE71777FF267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Patterns:  Collecting Values</a:t>
            </a:r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>
          <a:xfrm>
            <a:off x="822960" y="1143000"/>
            <a:ext cx="3520440" cy="510540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Examples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Multiple choice question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Shopping cart</a:t>
            </a:r>
          </a:p>
          <a:p>
            <a:pPr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Storing values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List</a:t>
            </a:r>
          </a:p>
          <a:p>
            <a:pPr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Constructor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Initialize to empty collection</a:t>
            </a:r>
          </a:p>
          <a:p>
            <a:pPr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Methods Required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Add</a:t>
            </a:r>
          </a:p>
          <a:p>
            <a:pPr lvl="1">
              <a:spcBef>
                <a:spcPts val="300"/>
              </a:spcBef>
            </a:pP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343400" y="1485900"/>
            <a:ext cx="3886200" cy="2209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  <a:cs typeface="Consolas" pitchFamily="49" charset="0"/>
              </a:rPr>
              <a:t>class Cart: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_ _init_ _(self)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self._choices = []</a:t>
            </a:r>
          </a:p>
          <a:p>
            <a:pPr>
              <a:defRPr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kern="0" dirty="0">
                <a:latin typeface="Consolas" pitchFamily="49" charset="0"/>
                <a:cs typeface="Consolas" pitchFamily="49" charset="0"/>
              </a:rPr>
              <a:t>    def addItem(self, name) :</a:t>
            </a:r>
            <a:endParaRPr lang="en-US" dirty="0">
              <a:latin typeface="Consolas" pitchFamily="49" charset="0"/>
              <a:cs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self._choices.append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  (choice)</a:t>
            </a:r>
            <a:r>
              <a:rPr lang="en-US" kern="0" dirty="0">
                <a:latin typeface="Consolas" pitchFamily="49" charset="0"/>
                <a:cs typeface="Consolas" pitchFamily="49" charset="0"/>
              </a:rPr>
              <a:t>   </a:t>
            </a:r>
            <a:endParaRPr lang="en-US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6A0E0-B749-4D6C-8146-438709E9A911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anose="020B0600070205080204" pitchFamily="34" charset="-128"/>
              </a:rPr>
              <a:t>Patterns:  Managing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143000"/>
            <a:ext cx="3291840" cy="5105400"/>
          </a:xfrm>
        </p:spPr>
        <p:txBody>
          <a:bodyPr/>
          <a:lstStyle/>
          <a:p>
            <a:pPr marL="0" indent="0"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dirty="0" smtClean="0"/>
              <a:t>A property of an object can be set and retrieved</a:t>
            </a:r>
          </a:p>
          <a:p>
            <a:pPr>
              <a:spcBef>
                <a:spcPts val="300"/>
              </a:spcBef>
              <a:defRPr/>
            </a:pPr>
            <a:r>
              <a:rPr lang="en-US" dirty="0" smtClean="0"/>
              <a:t>Examples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 smtClean="0"/>
              <a:t>Student: </a:t>
            </a:r>
            <a:r>
              <a:rPr lang="en-US" dirty="0" smtClean="0">
                <a:solidFill>
                  <a:srgbClr val="0033CC"/>
                </a:solidFill>
              </a:rPr>
              <a:t>name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00B050"/>
                </a:solidFill>
              </a:rPr>
              <a:t>ID</a:t>
            </a:r>
          </a:p>
          <a:p>
            <a:pPr>
              <a:spcBef>
                <a:spcPts val="300"/>
              </a:spcBef>
              <a:defRPr/>
            </a:pPr>
            <a:r>
              <a:rPr lang="en-US" dirty="0" smtClean="0"/>
              <a:t>Constructor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 smtClean="0"/>
              <a:t>Set a unique value</a:t>
            </a:r>
          </a:p>
          <a:p>
            <a:pPr>
              <a:spcBef>
                <a:spcPts val="300"/>
              </a:spcBef>
              <a:defRPr/>
            </a:pPr>
            <a:r>
              <a:rPr lang="en-US" dirty="0" smtClean="0"/>
              <a:t>Methods Required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 smtClean="0"/>
              <a:t>set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 smtClean="0"/>
              <a:t>get</a:t>
            </a:r>
          </a:p>
          <a:p>
            <a:pPr lvl="1">
              <a:spcBef>
                <a:spcPts val="300"/>
              </a:spcBef>
              <a:defRPr/>
            </a:pPr>
            <a:endParaRPr lang="en-US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343400" y="1219200"/>
            <a:ext cx="4267200" cy="4724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class Student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_ _init_ _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(self, aName, anId)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_name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= aName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</a:t>
            </a:r>
            <a:r>
              <a:rPr lang="en-US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_id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= anId</a:t>
            </a:r>
          </a:p>
          <a:p>
            <a:pPr>
              <a:defRPr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getName(self)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return self.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_name</a:t>
            </a:r>
          </a:p>
          <a:p>
            <a:pPr>
              <a:defRPr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setName(self, newName)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self.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_name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= newName</a:t>
            </a:r>
          </a:p>
          <a:p>
            <a:pPr>
              <a:defRPr/>
            </a:pPr>
            <a:endParaRPr lang="en-US" kern="0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getId(self)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return self.</a:t>
            </a:r>
            <a:r>
              <a:rPr lang="en-US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_id</a:t>
            </a:r>
          </a:p>
          <a:p>
            <a:pPr>
              <a:defRPr/>
            </a:pPr>
            <a:endParaRPr lang="en-US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# No setId method</a:t>
            </a:r>
            <a:r>
              <a:rPr lang="en-US" kern="0" dirty="0">
                <a:latin typeface="Consolas" pitchFamily="49" charset="0"/>
                <a:cs typeface="Consolas" pitchFamily="49" charset="0"/>
              </a:rPr>
              <a:t>   </a:t>
            </a:r>
            <a:endParaRPr lang="en-US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E2D22-2A86-425A-A40F-CB74FBFAC771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smtClean="0">
                <a:ea typeface="ＭＳ Ｐゴシック" panose="020B0600070205080204" pitchFamily="34" charset="-128"/>
              </a:rPr>
              <a:t>Patterns:  Modeling Object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143000"/>
            <a:ext cx="4130040" cy="5029200"/>
          </a:xfrm>
        </p:spPr>
        <p:txBody>
          <a:bodyPr/>
          <a:lstStyle/>
          <a:p>
            <a:pPr marL="0" indent="0">
              <a:spcBef>
                <a:spcPts val="300"/>
              </a:spcBef>
              <a:buFont typeface="Wingdings" panose="05000000000000000000" pitchFamily="2" charset="2"/>
              <a:buNone/>
              <a:defRPr/>
            </a:pPr>
            <a:r>
              <a:rPr lang="en-US" dirty="0" smtClean="0"/>
              <a:t>Some objects can be in one of a set of distinct states</a:t>
            </a:r>
          </a:p>
          <a:p>
            <a:pPr>
              <a:spcBef>
                <a:spcPts val="300"/>
              </a:spcBef>
              <a:defRPr/>
            </a:pPr>
            <a:r>
              <a:rPr lang="en-US" dirty="0" smtClean="0"/>
              <a:t>Example:  A fish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/>
              <a:t>H</a:t>
            </a:r>
            <a:r>
              <a:rPr lang="en-US" dirty="0" smtClean="0"/>
              <a:t>unger states:</a:t>
            </a:r>
          </a:p>
          <a:p>
            <a:pPr lvl="2">
              <a:spcBef>
                <a:spcPts val="300"/>
              </a:spcBef>
              <a:defRPr/>
            </a:pPr>
            <a:r>
              <a:rPr lang="en-US" dirty="0">
                <a:solidFill>
                  <a:srgbClr val="0033CC"/>
                </a:solidFill>
              </a:rPr>
              <a:t>Not </a:t>
            </a:r>
            <a:r>
              <a:rPr lang="en-US" dirty="0" smtClean="0">
                <a:solidFill>
                  <a:srgbClr val="0033CC"/>
                </a:solidFill>
              </a:rPr>
              <a:t>Hungry</a:t>
            </a:r>
          </a:p>
          <a:p>
            <a:pPr lvl="2">
              <a:spcBef>
                <a:spcPts val="300"/>
              </a:spcBef>
              <a:defRPr/>
            </a:pPr>
            <a:r>
              <a:rPr lang="en-US" dirty="0" smtClean="0">
                <a:solidFill>
                  <a:srgbClr val="0033CC"/>
                </a:solidFill>
              </a:rPr>
              <a:t>Somewhat Hungry</a:t>
            </a:r>
          </a:p>
          <a:p>
            <a:pPr lvl="2">
              <a:spcBef>
                <a:spcPts val="300"/>
              </a:spcBef>
              <a:defRPr/>
            </a:pPr>
            <a:r>
              <a:rPr lang="en-US" dirty="0" smtClean="0">
                <a:solidFill>
                  <a:srgbClr val="0033CC"/>
                </a:solidFill>
              </a:rPr>
              <a:t>Very Hungry</a:t>
            </a:r>
          </a:p>
          <a:p>
            <a:pPr>
              <a:spcBef>
                <a:spcPts val="300"/>
              </a:spcBef>
              <a:defRPr/>
            </a:pPr>
            <a:r>
              <a:rPr lang="en-US" dirty="0" smtClean="0"/>
              <a:t>Methods will change the state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 smtClean="0"/>
              <a:t>eat</a:t>
            </a:r>
          </a:p>
          <a:p>
            <a:pPr lvl="1">
              <a:spcBef>
                <a:spcPts val="300"/>
              </a:spcBef>
              <a:defRPr/>
            </a:pPr>
            <a:r>
              <a:rPr lang="en-US" dirty="0" smtClean="0"/>
              <a:t>move</a:t>
            </a:r>
          </a:p>
          <a:p>
            <a:pPr lvl="1">
              <a:spcBef>
                <a:spcPts val="300"/>
              </a:spcBef>
              <a:defRPr/>
            </a:pPr>
            <a:endParaRPr lang="en-US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861560" y="1295400"/>
            <a:ext cx="3505200" cy="4114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  <a:cs typeface="Consolas" pitchFamily="49" charset="0"/>
              </a:rPr>
              <a:t>class Fish:</a:t>
            </a:r>
          </a:p>
          <a:p>
            <a:pPr>
              <a:defRPr/>
            </a:pP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   NOT_HUNGRY = 0</a:t>
            </a:r>
          </a:p>
          <a:p>
            <a:pPr>
              <a:defRPr/>
            </a:pP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   SOMEWHAT_HUNGRY = 1</a:t>
            </a:r>
          </a:p>
          <a:p>
            <a:pPr>
              <a:defRPr/>
            </a:pP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   VERY_HUNGRY = 2</a:t>
            </a:r>
          </a:p>
          <a:p>
            <a:pPr>
              <a:defRPr/>
            </a:pPr>
            <a:r>
              <a:rPr lang="en-US" kern="0" dirty="0">
                <a:latin typeface="Consolas" pitchFamily="49" charset="0"/>
                <a:cs typeface="Consolas" pitchFamily="49" charset="0"/>
              </a:rPr>
              <a:t>  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def eat(self) :        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self._hungry =    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Fish.NOT_HUNGRY</a:t>
            </a:r>
          </a:p>
          <a:p>
            <a:pPr>
              <a:defRPr/>
            </a:pPr>
            <a:endParaRPr lang="en-US" kern="0" dirty="0">
              <a:latin typeface="Consolas" pitchFamily="49" charset="0"/>
              <a:cs typeface="Consolas" pitchFamily="49" charset="0"/>
            </a:endParaRP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def move(self)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if self._hungry &lt;    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Fish.VERY_HUNGRY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 self._hungry =  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 self._hungry + 1</a:t>
            </a:r>
            <a:endParaRPr lang="en-US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7AE0E-C162-4C50-B4AA-AED613C02B1D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Patterns:  Object Position</a:t>
            </a:r>
          </a:p>
        </p:txBody>
      </p:sp>
      <p:sp>
        <p:nvSpPr>
          <p:cNvPr id="78851" name="Content Placeholder 2"/>
          <p:cNvSpPr>
            <a:spLocks noGrp="1"/>
          </p:cNvSpPr>
          <p:nvPr>
            <p:ph idx="1"/>
          </p:nvPr>
        </p:nvSpPr>
        <p:spPr>
          <a:xfrm>
            <a:off x="822960" y="1143000"/>
            <a:ext cx="3368040" cy="510540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Examples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Game object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Bug (on a grid)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Cannonball</a:t>
            </a:r>
          </a:p>
          <a:p>
            <a:pPr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Storing values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solidFill>
                  <a:srgbClr val="0033CC"/>
                </a:solidFill>
                <a:ea typeface="ＭＳ Ｐゴシック" panose="020B0600070205080204" pitchFamily="34" charset="-128"/>
              </a:rPr>
              <a:t>Row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, </a:t>
            </a:r>
            <a:r>
              <a:rPr lang="en-US" altLang="en-US" dirty="0" smtClean="0">
                <a:solidFill>
                  <a:srgbClr val="0033CC"/>
                </a:solidFill>
                <a:ea typeface="ＭＳ Ｐゴシック" panose="020B0600070205080204" pitchFamily="34" charset="-128"/>
              </a:rPr>
              <a:t>column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, </a:t>
            </a:r>
            <a:r>
              <a:rPr lang="en-US" altLang="en-US" dirty="0" smtClean="0">
                <a:solidFill>
                  <a:srgbClr val="0033CC"/>
                </a:solidFill>
                <a:ea typeface="ＭＳ Ｐゴシック" panose="020B0600070205080204" pitchFamily="34" charset="-128"/>
              </a:rPr>
              <a:t>direction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, </a:t>
            </a:r>
            <a:r>
              <a:rPr lang="en-US" altLang="en-US" dirty="0" smtClean="0">
                <a:solidFill>
                  <a:srgbClr val="0033CC"/>
                </a:solidFill>
                <a:ea typeface="ＭＳ Ｐゴシック" panose="020B0600070205080204" pitchFamily="34" charset="-128"/>
              </a:rPr>
              <a:t>speed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. . .</a:t>
            </a:r>
          </a:p>
          <a:p>
            <a:pPr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Methods Required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move</a:t>
            </a:r>
          </a:p>
          <a:p>
            <a:pPr lvl="1">
              <a:spcBef>
                <a:spcPts val="3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turn</a:t>
            </a:r>
          </a:p>
          <a:p>
            <a:pPr lvl="1">
              <a:spcBef>
                <a:spcPts val="300"/>
              </a:spcBef>
            </a:pP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305300" y="1219200"/>
            <a:ext cx="4533900" cy="4479925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class Bug: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def _ _init_ _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(self, aRow, aColumn,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    aDirection, speed) :</a:t>
            </a:r>
            <a:endParaRPr lang="en-US" kern="0" dirty="0">
              <a:latin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    self.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_row</a:t>
            </a:r>
            <a:r>
              <a:rPr lang="en-US" kern="0" dirty="0">
                <a:latin typeface="Consolas" pitchFamily="49" charset="0"/>
              </a:rPr>
              <a:t> = aRow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    self.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_column</a:t>
            </a:r>
            <a:r>
              <a:rPr lang="en-US" kern="0" dirty="0">
                <a:latin typeface="Consolas" pitchFamily="49" charset="0"/>
              </a:rPr>
              <a:t> = aColumn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    self.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_direction</a:t>
            </a:r>
            <a:r>
              <a:rPr lang="en-US" kern="0" dirty="0">
                <a:latin typeface="Consolas" pitchFamily="49" charset="0"/>
              </a:rPr>
              <a:t> =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       direction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defRPr/>
            </a:pPr>
            <a:r>
              <a:rPr lang="en-US" kern="0" dirty="0">
                <a:latin typeface="Consolas" pitchFamily="49" charset="0"/>
              </a:rPr>
              <a:t># 0 = N, 1 = E, 2 = S, 3 = W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    . . .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kern="0" dirty="0">
              <a:latin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def moveOneUnit(self):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  if (self.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_direction</a:t>
            </a:r>
            <a:r>
              <a:rPr lang="en-US" kern="0" dirty="0">
                <a:latin typeface="Consolas" pitchFamily="49" charset="0"/>
              </a:rPr>
              <a:t> == 0):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      self.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_row</a:t>
            </a:r>
            <a:r>
              <a:rPr lang="en-US" kern="0" dirty="0">
                <a:latin typeface="Consolas" pitchFamily="49" charset="0"/>
              </a:rPr>
              <a:t> = 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         self.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_row</a:t>
            </a:r>
            <a:r>
              <a:rPr lang="en-US" kern="0" dirty="0">
                <a:latin typeface="Consolas" pitchFamily="49" charset="0"/>
              </a:rPr>
              <a:t> - 1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    . . .</a:t>
            </a:r>
          </a:p>
        </p:txBody>
      </p:sp>
      <p:pic>
        <p:nvPicPr>
          <p:cNvPr id="5325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7260" y="4724400"/>
            <a:ext cx="3352800" cy="131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24227-F09F-4EAF-B622-11ECB3E8C944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Object References</a:t>
            </a:r>
          </a:p>
        </p:txBody>
      </p:sp>
      <p:sp>
        <p:nvSpPr>
          <p:cNvPr id="798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In Python, a variable does not actually hold an object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It merely holds the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memory location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of an object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The object itself is stored in another location:</a:t>
            </a:r>
            <a:endParaRPr lang="en-US" altLang="en-US" dirty="0" smtClean="0"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5720C-0216-4F2C-B458-58DD82044613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858838" y="2674173"/>
            <a:ext cx="2895600" cy="428625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sz="2000" kern="0" dirty="0">
                <a:latin typeface="Consolas" pitchFamily="49" charset="0"/>
              </a:rPr>
              <a:t>reg1 = CashRegister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kern="0" dirty="0">
              <a:solidFill>
                <a:srgbClr val="333333"/>
              </a:solidFill>
              <a:latin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sz="2000" kern="0" dirty="0">
              <a:solidFill>
                <a:srgbClr val="333333"/>
              </a:solidFill>
              <a:latin typeface="Consolas" pitchFamily="49" charset="0"/>
            </a:endParaRPr>
          </a:p>
        </p:txBody>
      </p:sp>
      <p:pic>
        <p:nvPicPr>
          <p:cNvPr id="79879" name="Picture 11" descr="U:\PC\publisher\2013 wiley slides\Ch 5-9, FM\Chapter  9\Media\Illustrations\py_09_05_300dp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512" y="3867615"/>
            <a:ext cx="3276600" cy="123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80" name="TextBox 6"/>
          <p:cNvSpPr txBox="1">
            <a:spLocks noChangeArrowheads="1"/>
          </p:cNvSpPr>
          <p:nvPr/>
        </p:nvSpPr>
        <p:spPr bwMode="auto">
          <a:xfrm>
            <a:off x="1021399" y="3787387"/>
            <a:ext cx="1457325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Reference</a:t>
            </a:r>
            <a:endParaRPr lang="en-US" altLang="en-US">
              <a:latin typeface="+mn-lt"/>
              <a:cs typeface="Arial" panose="020B0604020202020204" pitchFamily="34" charset="0"/>
            </a:endParaRPr>
          </a:p>
        </p:txBody>
      </p:sp>
      <p:sp>
        <p:nvSpPr>
          <p:cNvPr id="79881" name="TextBox 6"/>
          <p:cNvSpPr txBox="1">
            <a:spLocks noChangeArrowheads="1"/>
          </p:cNvSpPr>
          <p:nvPr/>
        </p:nvSpPr>
        <p:spPr bwMode="auto">
          <a:xfrm>
            <a:off x="4267200" y="5225176"/>
            <a:ext cx="1457325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n-lt"/>
              </a:rPr>
              <a:t>Object</a:t>
            </a:r>
            <a:endParaRPr lang="en-US" altLang="en-US">
              <a:latin typeface="+mn-lt"/>
              <a:cs typeface="Arial" panose="020B0604020202020204" pitchFamily="34" charset="0"/>
            </a:endParaRPr>
          </a:p>
        </p:txBody>
      </p:sp>
      <p:sp>
        <p:nvSpPr>
          <p:cNvPr id="79882" name="TextBox 6"/>
          <p:cNvSpPr txBox="1">
            <a:spLocks noChangeArrowheads="1"/>
          </p:cNvSpPr>
          <p:nvPr/>
        </p:nvSpPr>
        <p:spPr bwMode="auto">
          <a:xfrm>
            <a:off x="4038600" y="2638720"/>
            <a:ext cx="4602162" cy="923330"/>
          </a:xfrm>
          <a:prstGeom prst="rect">
            <a:avLst/>
          </a:prstGeom>
          <a:noFill/>
          <a:ln>
            <a:solidFill>
              <a:schemeClr val="tx1"/>
            </a:solidFill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dirty="0">
                <a:latin typeface="+mn-lt"/>
              </a:rPr>
              <a:t>The constructor returns a reference to the new object, and that reference </a:t>
            </a:r>
            <a:r>
              <a:rPr lang="en-US" altLang="en-US" dirty="0" smtClean="0">
                <a:latin typeface="+mn-lt"/>
              </a:rPr>
              <a:t>is stored </a:t>
            </a:r>
            <a:r>
              <a:rPr lang="en-US" altLang="en-US" dirty="0">
                <a:latin typeface="+mn-lt"/>
              </a:rPr>
              <a:t>in the </a:t>
            </a:r>
            <a:r>
              <a:rPr lang="en-US" altLang="en-US" dirty="0">
                <a:latin typeface="+mn-lt"/>
                <a:cs typeface="Consolas" panose="020B0609020204030204" pitchFamily="49" charset="0"/>
              </a:rPr>
              <a:t>reg1</a:t>
            </a:r>
            <a:r>
              <a:rPr lang="en-US" altLang="en-US" dirty="0">
                <a:latin typeface="+mn-lt"/>
              </a:rPr>
              <a:t> variable.</a:t>
            </a:r>
            <a:endParaRPr lang="en-US" altLang="en-US" dirty="0"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anose="020B0600070205080204" pitchFamily="34" charset="-128"/>
              </a:rPr>
              <a:t>Shared References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1438348"/>
          </a:xfrm>
        </p:spPr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Multiple object variables may contain references to the same object (‘aliases’)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Single Reference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BE46A-E966-4C45-9C28-77AB56691D4F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874776" y="2362200"/>
            <a:ext cx="3276600" cy="457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reg1 = </a:t>
            </a:r>
            <a:r>
              <a:rPr lang="en-US" kern="0" dirty="0" err="1" smtClean="0">
                <a:latin typeface="Consolas" pitchFamily="49" charset="0"/>
              </a:rPr>
              <a:t>CashRegister</a:t>
            </a:r>
            <a:endParaRPr lang="en-US" kern="0" dirty="0" smtClean="0">
              <a:latin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kern="0" dirty="0">
              <a:solidFill>
                <a:srgbClr val="333333"/>
              </a:solidFill>
              <a:latin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kern="0" dirty="0">
              <a:solidFill>
                <a:srgbClr val="333333"/>
              </a:solidFill>
              <a:latin typeface="Consolas" pitchFamily="49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 bwMode="auto">
          <a:xfrm>
            <a:off x="875795" y="3339006"/>
            <a:ext cx="2424950" cy="446088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reg2 = reg1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kern="0" dirty="0">
              <a:solidFill>
                <a:srgbClr val="333333"/>
              </a:solidFill>
              <a:latin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kern="0" dirty="0">
              <a:solidFill>
                <a:srgbClr val="333333"/>
              </a:solidFill>
              <a:latin typeface="Consolas" pitchFamily="49" charset="0"/>
            </a:endParaRPr>
          </a:p>
        </p:txBody>
      </p:sp>
      <p:sp>
        <p:nvSpPr>
          <p:cNvPr id="80902" name="TextBox 9"/>
          <p:cNvSpPr txBox="1">
            <a:spLocks noChangeArrowheads="1"/>
          </p:cNvSpPr>
          <p:nvPr/>
        </p:nvSpPr>
        <p:spPr bwMode="auto">
          <a:xfrm>
            <a:off x="2057400" y="5751052"/>
            <a:ext cx="5853112" cy="369332"/>
          </a:xfrm>
          <a:prstGeom prst="rect">
            <a:avLst/>
          </a:prstGeom>
          <a:noFill/>
          <a:ln>
            <a:solidFill>
              <a:schemeClr val="tx1"/>
            </a:solidFill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dirty="0">
                <a:latin typeface="+mn-lt"/>
                <a:cs typeface="Arial" panose="020B0604020202020204" pitchFamily="34" charset="0"/>
              </a:rPr>
              <a:t>The internal values can be changed through either reference</a:t>
            </a:r>
          </a:p>
        </p:txBody>
      </p:sp>
      <p:pic>
        <p:nvPicPr>
          <p:cNvPr id="80905" name="Picture 11" descr="U:\PC\publisher\2013 wiley slides\Ch 5-9, FM\Chapter  9\Media\Illustrations\py_09_05_300dpi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927" y="1746850"/>
            <a:ext cx="3851253" cy="145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906" name="Picture 11" descr="U:\PC\publisher\2013 wiley slides\Ch 5-9, FM\Chapter  9\Media\Illustrations\py_09_07_300dpi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02" t="68967"/>
          <a:stretch>
            <a:fillRect/>
          </a:stretch>
        </p:blipFill>
        <p:spPr bwMode="auto">
          <a:xfrm>
            <a:off x="4976686" y="3501368"/>
            <a:ext cx="4032618" cy="1604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762000" y="2879354"/>
            <a:ext cx="7543801" cy="6153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lang="en-US" altLang="en-US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Shared 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anose="020B0600070205080204" pitchFamily="34" charset="-128"/>
              </a:rPr>
              <a:t>Testing if References are Aliases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937618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Checking if references are aliases, use the </a:t>
            </a:r>
            <a:r>
              <a:rPr lang="en-US" sz="1800" dirty="0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is</a:t>
            </a:r>
            <a:r>
              <a:rPr lang="en-US" dirty="0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smtClean="0">
                <a:cs typeface="Consolas" pitchFamily="49" charset="0"/>
              </a:rPr>
              <a:t>or</a:t>
            </a:r>
            <a:r>
              <a:rPr lang="en-US" dirty="0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dirty="0" smtClean="0">
                <a:cs typeface="Consolas" pitchFamily="49" charset="0"/>
              </a:rPr>
              <a:t>the </a:t>
            </a:r>
            <a:r>
              <a:rPr lang="en-US" sz="1800" dirty="0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not is</a:t>
            </a:r>
            <a:r>
              <a:rPr lang="en-US" dirty="0" smtClean="0"/>
              <a:t> operator: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914400" y="1752600"/>
            <a:ext cx="7063741" cy="1295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if reg1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is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reg2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print("The variables are aliases.")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if reg1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is not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reg2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print("The variables refer to different objects.")</a:t>
            </a:r>
            <a:endParaRPr lang="en-US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914400" y="3810847"/>
            <a:ext cx="6606541" cy="6477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if reg1 </a:t>
            </a:r>
            <a:r>
              <a:rPr lang="en-US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==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 reg2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print("The objects contain the same data.")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B92F8-F6B9-4AD5-B80D-1597952756A0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22959" y="3124200"/>
            <a:ext cx="7543801" cy="82098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defRPr/>
            </a:pPr>
            <a:r>
              <a:rPr lang="en-US" dirty="0" smtClean="0"/>
              <a:t>Checking if the data contained within objects are equal use the </a:t>
            </a:r>
            <a:r>
              <a:rPr lang="en-US" dirty="0" smtClean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==</a:t>
            </a:r>
            <a:r>
              <a:rPr lang="en-US" dirty="0" smtClean="0"/>
              <a:t> operator: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The </a:t>
            </a:r>
            <a:r>
              <a:rPr lang="en-US" altLang="en-US" sz="3600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None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reference</a:t>
            </a:r>
          </a:p>
        </p:txBody>
      </p:sp>
      <p:sp>
        <p:nvSpPr>
          <p:cNvPr id="82947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1276808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A reference may point to </a:t>
            </a:r>
            <a:r>
              <a:rPr lang="en-US" altLang="ja-JP" dirty="0" smtClean="0">
                <a:ea typeface="ＭＳ Ｐゴシック" panose="020B0600070205080204" pitchFamily="34" charset="-128"/>
              </a:rPr>
              <a:t>‘no’ object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You cannot invoke methods of an object via a </a:t>
            </a:r>
            <a:r>
              <a:rPr lang="en-US" altLang="en-US" sz="1800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None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reference – causes a run-time error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D85D3-51B6-4E0D-85C2-A5C785469201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219200" y="3581400"/>
            <a:ext cx="7467600" cy="2286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middleInitial = 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None</a:t>
            </a:r>
            <a:r>
              <a:rPr lang="en-US" kern="0" dirty="0">
                <a:latin typeface="Consolas" pitchFamily="49" charset="0"/>
              </a:rPr>
              <a:t> </a:t>
            </a:r>
            <a:r>
              <a:rPr lang="en-US" kern="0" dirty="0">
                <a:solidFill>
                  <a:srgbClr val="00B0F0"/>
                </a:solidFill>
                <a:latin typeface="Consolas" pitchFamily="49" charset="0"/>
              </a:rPr>
              <a:t>  # No middle initial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kern="0" dirty="0">
              <a:latin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if middleInitial is 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None</a:t>
            </a:r>
            <a:r>
              <a:rPr lang="en-US" kern="0" dirty="0">
                <a:latin typeface="Consolas" pitchFamily="49" charset="0"/>
              </a:rPr>
              <a:t> 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print(firstName, lastName)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else 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print(firstName, middleInitial + ".", + lastName)</a:t>
            </a:r>
            <a:endParaRPr lang="en-US" kern="0" dirty="0">
              <a:solidFill>
                <a:srgbClr val="333333"/>
              </a:solidFill>
              <a:latin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kern="0" dirty="0">
              <a:solidFill>
                <a:srgbClr val="333333"/>
              </a:solidFill>
              <a:latin typeface="Consolas" pitchFamily="49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203959" y="2286000"/>
            <a:ext cx="6781800" cy="685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reg = 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None</a:t>
            </a:r>
            <a:endParaRPr lang="en-US" kern="0" dirty="0">
              <a:latin typeface="Consolas" pitchFamily="49" charset="0"/>
            </a:endParaRP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print(reg.getTotal())   </a:t>
            </a:r>
            <a:r>
              <a:rPr lang="en-US" kern="0" dirty="0">
                <a:solidFill>
                  <a:srgbClr val="00B0F0"/>
                </a:solidFill>
                <a:latin typeface="Consolas" pitchFamily="49" charset="0"/>
              </a:rPr>
              <a:t># Runtime Error!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11236" y="3131898"/>
            <a:ext cx="7543801" cy="44950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lang="en-US" altLang="en-US" dirty="0" smtClean="0">
                <a:ea typeface="ＭＳ Ｐゴシック" panose="020B0600070205080204" pitchFamily="34" charset="-128"/>
              </a:rPr>
              <a:t>To test if a reference is </a:t>
            </a:r>
            <a:r>
              <a:rPr lang="en-US" altLang="en-US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None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before using it: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The </a:t>
            </a:r>
            <a:r>
              <a:rPr lang="en-US" altLang="en-US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</a:rPr>
              <a:t>self</a:t>
            </a:r>
            <a:r>
              <a:rPr lang="en-US" altLang="en-US" smtClean="0">
                <a:ea typeface="ＭＳ Ｐゴシック" panose="020B0600070205080204" pitchFamily="34" charset="-128"/>
              </a:rPr>
              <a:t> reference</a:t>
            </a:r>
          </a:p>
        </p:txBody>
      </p:sp>
      <p:sp>
        <p:nvSpPr>
          <p:cNvPr id="83971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1183394"/>
          </a:xfrm>
        </p:spPr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Every method has a reference to the object on which the method was invoked, stored in the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self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parameter variable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It is a reference to the object the method was invoked on:</a:t>
            </a:r>
          </a:p>
          <a:p>
            <a:pPr marL="228600" lvl="1" indent="0">
              <a:spcBef>
                <a:spcPts val="200"/>
              </a:spcBef>
              <a:buNone/>
            </a:pP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2535-2BCD-4789-A333-738D97EB16B8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280159" y="4800600"/>
            <a:ext cx="6629400" cy="1143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def addItem(self, price):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self</a:t>
            </a:r>
            <a:r>
              <a:rPr lang="en-US" kern="0" dirty="0">
                <a:latin typeface="Consolas" pitchFamily="49" charset="0"/>
              </a:rPr>
              <a:t>.itemCount = 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self</a:t>
            </a:r>
            <a:r>
              <a:rPr lang="en-US" kern="0" dirty="0">
                <a:latin typeface="Consolas" pitchFamily="49" charset="0"/>
              </a:rPr>
              <a:t>.itemCount + 1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latin typeface="Consolas" pitchFamily="49" charset="0"/>
              </a:rPr>
              <a:t>  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self</a:t>
            </a:r>
            <a:r>
              <a:rPr lang="en-US" kern="0" dirty="0">
                <a:latin typeface="Consolas" pitchFamily="49" charset="0"/>
              </a:rPr>
              <a:t>.totalPrice = </a:t>
            </a:r>
            <a:r>
              <a:rPr lang="en-US" kern="0" dirty="0">
                <a:solidFill>
                  <a:srgbClr val="0033CC"/>
                </a:solidFill>
                <a:latin typeface="Consolas" pitchFamily="49" charset="0"/>
              </a:rPr>
              <a:t>self</a:t>
            </a:r>
            <a:r>
              <a:rPr lang="en-US" kern="0" dirty="0">
                <a:latin typeface="Consolas" pitchFamily="49" charset="0"/>
              </a:rPr>
              <a:t>.totalPrice + price</a:t>
            </a:r>
          </a:p>
          <a:p>
            <a:pPr marL="342900" indent="-342900" eaLnBrk="0" hangingPunct="0">
              <a:buClr>
                <a:srgbClr val="835E01"/>
              </a:buClr>
              <a:buSzPct val="60000"/>
              <a:buFont typeface="Wingdings" pitchFamily="2" charset="2"/>
              <a:buNone/>
              <a:defRPr/>
            </a:pPr>
            <a:endParaRPr lang="en-US" kern="0" dirty="0">
              <a:solidFill>
                <a:srgbClr val="333333"/>
              </a:solidFill>
              <a:latin typeface="Consolas" pitchFamily="49" charset="0"/>
            </a:endParaRPr>
          </a:p>
        </p:txBody>
      </p:sp>
      <p:pic>
        <p:nvPicPr>
          <p:cNvPr id="83975" name="Picture 7" descr="U:\PC\publisher\2013 wiley slides\Ch 5-9, FM\Chapter  9\Media\Illustrations\py_09_08_300dp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943" y="2286000"/>
            <a:ext cx="4910845" cy="1923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822959" y="4212455"/>
            <a:ext cx="7543801" cy="82130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/>
            <a:r>
              <a:rPr lang="en-US" altLang="en-US" dirty="0" smtClean="0">
                <a:ea typeface="ＭＳ Ｐゴシック" panose="020B0600070205080204" pitchFamily="34" charset="-128"/>
              </a:rPr>
              <a:t>It can clarify when instance variables are used: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 smtClean="0">
                <a:solidFill>
                  <a:schemeClr val="tx1"/>
                </a:solidFill>
                <a:ea typeface="ＭＳ Ｐゴシック" panose="020B0600070205080204" pitchFamily="34" charset="-128"/>
              </a:rPr>
              <a:t>Using </a:t>
            </a:r>
            <a:r>
              <a:rPr lang="en-US" altLang="en-US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self</a:t>
            </a:r>
            <a:r>
              <a:rPr lang="en-US" altLang="en-US" dirty="0" smtClean="0">
                <a:solidFill>
                  <a:schemeClr val="tx1"/>
                </a:solidFill>
                <a:ea typeface="ＭＳ Ｐゴシック" panose="020B0600070205080204" pitchFamily="34" charset="-128"/>
              </a:rPr>
              <a:t> to Invoke Other Methods </a:t>
            </a:r>
          </a:p>
        </p:txBody>
      </p:sp>
      <p:sp>
        <p:nvSpPr>
          <p:cNvPr id="849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  <a:defRPr/>
            </a:pPr>
            <a:r>
              <a:rPr lang="en-US" dirty="0"/>
              <a:t>You can also invoke a method on </a:t>
            </a:r>
            <a:r>
              <a:rPr lang="en-US" dirty="0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self</a:t>
            </a:r>
            <a:r>
              <a:rPr lang="en-US" dirty="0" smtClean="0">
                <a:cs typeface="Consolas" pitchFamily="49" charset="0"/>
              </a:rPr>
              <a:t>:</a:t>
            </a:r>
          </a:p>
          <a:p>
            <a:pPr lvl="1">
              <a:spcBef>
                <a:spcPts val="200"/>
              </a:spcBef>
              <a:defRPr/>
            </a:pPr>
            <a:endParaRPr lang="en-US" dirty="0" smtClean="0">
              <a:ea typeface="ＭＳ Ｐゴシック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B92C2-220F-4560-82D0-5FB1B9148A08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066800" y="1828800"/>
            <a:ext cx="5715000" cy="838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_ _init_ _(self) :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 </a:t>
            </a:r>
            <a:r>
              <a:rPr lang="en-US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self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.clear()</a:t>
            </a:r>
            <a:endParaRPr lang="en-US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99513" y="2909635"/>
            <a:ext cx="7543801" cy="141471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defRPr/>
            </a:pPr>
            <a:r>
              <a:rPr lang="en-US" dirty="0" smtClean="0"/>
              <a:t>In a constructor, 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self</a:t>
            </a:r>
            <a:r>
              <a:rPr lang="en-US" dirty="0" smtClean="0"/>
              <a:t> is a reference to the object that is being constructed</a:t>
            </a:r>
          </a:p>
          <a:p>
            <a:pPr lvl="1" fontAlgn="auto">
              <a:defRPr/>
            </a:pPr>
            <a:r>
              <a:rPr lang="en-US" dirty="0" smtClean="0"/>
              <a:t>The 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clear()</a:t>
            </a:r>
            <a:r>
              <a:rPr lang="en-US" dirty="0" smtClean="0"/>
              <a:t> method is invoked on that object</a:t>
            </a:r>
          </a:p>
          <a:p>
            <a:pPr lvl="1" fontAlgn="auto">
              <a:defRPr/>
            </a:pPr>
            <a:endParaRPr lang="en-US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Passing </a:t>
            </a:r>
            <a:r>
              <a:rPr lang="en-US" altLang="en-US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self</a:t>
            </a:r>
            <a:r>
              <a:rPr lang="en-US" altLang="en-US" smtClean="0">
                <a:ea typeface="ＭＳ Ｐゴシック" panose="020B0600070205080204" pitchFamily="34" charset="-128"/>
              </a:rPr>
              <a:t> as a Parameter </a:t>
            </a:r>
          </a:p>
        </p:txBody>
      </p:sp>
      <p:sp>
        <p:nvSpPr>
          <p:cNvPr id="860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Suppose, for example, you have a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Person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class with a method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likes(self, other)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that checks, perhaps from a social network, whether a person likes another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937259" y="2362200"/>
            <a:ext cx="7315200" cy="838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def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isFriend(self</a:t>
            </a:r>
            <a:r>
              <a:rPr lang="en-US" sz="2000" dirty="0">
                <a:latin typeface="Consolas" pitchFamily="49" charset="0"/>
                <a:cs typeface="Consolas" pitchFamily="49" charset="0"/>
              </a:rPr>
              <a:t>, other) :</a:t>
            </a:r>
          </a:p>
          <a:p>
            <a:pPr>
              <a:defRPr/>
            </a:pPr>
            <a:r>
              <a:rPr lang="en-US" sz="2000" dirty="0">
                <a:latin typeface="Consolas" pitchFamily="49" charset="0"/>
                <a:cs typeface="Consolas" pitchFamily="49" charset="0"/>
              </a:rPr>
              <a:t>    return self.likes(other) and </a:t>
            </a:r>
            <a:r>
              <a:rPr lang="en-US" sz="20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other.likes(self)</a:t>
            </a:r>
            <a:endParaRPr lang="en-US" sz="2000" kern="0" dirty="0">
              <a:solidFill>
                <a:srgbClr val="0033CC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CD4C-D804-4B2C-B1F5-4AEFBD993437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Object Lifetimes: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When you construct an object with a constructor, the object is created, and the </a:t>
            </a:r>
            <a:r>
              <a:rPr lang="en-US" dirty="0" smtClean="0">
                <a:latin typeface="Consolas" pitchFamily="49" charset="0"/>
                <a:cs typeface="Consolas" pitchFamily="49" charset="0"/>
              </a:rPr>
              <a:t>self</a:t>
            </a:r>
            <a:r>
              <a:rPr lang="en-US" dirty="0" smtClean="0"/>
              <a:t> variable </a:t>
            </a:r>
            <a:r>
              <a:rPr lang="en-US" dirty="0"/>
              <a:t>of the constructor is set to the memory location of the </a:t>
            </a:r>
            <a:r>
              <a:rPr lang="en-US" dirty="0" smtClean="0"/>
              <a:t>object </a:t>
            </a:r>
          </a:p>
          <a:p>
            <a:pPr lvl="1">
              <a:defRPr/>
            </a:pPr>
            <a:r>
              <a:rPr lang="en-US" dirty="0" smtClean="0"/>
              <a:t>Initially</a:t>
            </a:r>
            <a:r>
              <a:rPr lang="en-US" dirty="0"/>
              <a:t>, </a:t>
            </a:r>
            <a:r>
              <a:rPr lang="en-US" dirty="0" smtClean="0"/>
              <a:t>the object </a:t>
            </a:r>
            <a:r>
              <a:rPr lang="en-US" dirty="0"/>
              <a:t>contains no instance </a:t>
            </a:r>
            <a:r>
              <a:rPr lang="en-US" dirty="0" smtClean="0"/>
              <a:t>variables.</a:t>
            </a:r>
          </a:p>
          <a:p>
            <a:pPr lvl="1">
              <a:defRPr/>
            </a:pPr>
            <a:r>
              <a:rPr lang="en-US" dirty="0" smtClean="0"/>
              <a:t>As </a:t>
            </a:r>
            <a:r>
              <a:rPr lang="en-US" dirty="0"/>
              <a:t>the constructor executes statements such </a:t>
            </a:r>
            <a:r>
              <a:rPr lang="en-US" dirty="0" smtClean="0"/>
              <a:t>as instance </a:t>
            </a:r>
            <a:r>
              <a:rPr lang="en-US" dirty="0"/>
              <a:t>variables are added to the </a:t>
            </a:r>
            <a:r>
              <a:rPr lang="en-US" dirty="0" smtClean="0"/>
              <a:t>object</a:t>
            </a:r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295400" y="3167796"/>
            <a:ext cx="3200400" cy="4191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self._itemCount = 0</a:t>
            </a:r>
            <a:endParaRPr lang="en-US" kern="0" dirty="0">
              <a:solidFill>
                <a:srgbClr val="0033CC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295400" y="4648200"/>
            <a:ext cx="3200400" cy="4191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reg1 = CashRegister()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B1D5D-B69F-431F-A347-90A23AFE6370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23899" y="3817098"/>
            <a:ext cx="7543801" cy="83110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defRPr/>
            </a:pPr>
            <a:r>
              <a:rPr lang="en-US" dirty="0" smtClean="0"/>
              <a:t>Finally, when the constructor exits, it returns a reference to the object, which is usually captured in a variable:</a:t>
            </a:r>
          </a:p>
          <a:p>
            <a:pPr lvl="1" fontAlgn="auto"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Object Lifetimes: Cleaning Up</a:t>
            </a:r>
          </a:p>
        </p:txBody>
      </p:sp>
      <p:sp>
        <p:nvSpPr>
          <p:cNvPr id="880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The object, and all of its instance variables, stays alive as long as there is at least one reference to it.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When an object is no longer referenced at all, it is eventually removed by a part of the virtual machine called the “garbage collector”</a:t>
            </a:r>
          </a:p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952500" y="2895600"/>
            <a:ext cx="7239000" cy="14478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reg1 = CashRegister()   # New object referenced by reg1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reg1 = CashRegister()   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# Another object referenced by reg1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   # First object will be garbage collected</a:t>
            </a:r>
          </a:p>
          <a:p>
            <a:pPr>
              <a:defRPr/>
            </a:pPr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3CFE8-B13A-475B-ABC0-276052B9D336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 smtClean="0">
                <a:ea typeface="ＭＳ Ｐゴシック" panose="020B0600070205080204" pitchFamily="34" charset="-128"/>
              </a:rPr>
              <a:t>Writing a Fraction Class</a:t>
            </a:r>
          </a:p>
        </p:txBody>
      </p:sp>
      <p:sp>
        <p:nvSpPr>
          <p:cNvPr id="8909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So far we have worked with floating-point numbers but computers store binary values, so not all real numbers can be represented precisely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In applications where the precision of real numbers is important, we can use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rational numbers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to store exact values 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This helps to reduce or eliminate round-off errors that can occur when performing arithmetic operations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A rational number is a number that can be expressed as a ratio of two integers: 7/8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The top value is called the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numerator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and the bottom value, which cannot be zero, is called the 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denominator</a:t>
            </a:r>
            <a:endParaRPr lang="en-US" altLang="en-US" dirty="0" smtClean="0"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80E48-E79F-45AE-A088-392E62B3DA3A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 smtClean="0">
                <a:ea typeface="ＭＳ Ｐゴシック" panose="020B0600070205080204" pitchFamily="34" charset="-128"/>
              </a:rPr>
              <a:t>Designing the Fraction Class</a:t>
            </a:r>
          </a:p>
        </p:txBody>
      </p:sp>
      <p:sp>
        <p:nvSpPr>
          <p:cNvPr id="901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We want to use our rational numbers as we would use integers and floating point values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Thus, our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Fraction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class must perform the following operations: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altLang="en-US" dirty="0" smtClean="0">
                <a:ea typeface="ＭＳ Ｐゴシック" panose="020B0600070205080204" pitchFamily="34" charset="-128"/>
              </a:rPr>
              <a:t>Create a rational number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altLang="en-US" dirty="0" smtClean="0">
                <a:ea typeface="ＭＳ Ｐゴシック" panose="020B0600070205080204" pitchFamily="34" charset="-128"/>
              </a:rPr>
              <a:t>Access the numerator and denominator values, individually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altLang="en-US" dirty="0" smtClean="0">
                <a:ea typeface="ＭＳ Ｐゴシック" panose="020B0600070205080204" pitchFamily="34" charset="-128"/>
              </a:rPr>
              <a:t>Determine if the rational number is negative or zero</a:t>
            </a:r>
          </a:p>
          <a:p>
            <a:pPr marL="914400" lvl="1" indent="-457200">
              <a:buFont typeface="Arial" panose="020B0604020202020204" pitchFamily="34" charset="0"/>
              <a:buAutoNum type="arabicPeriod"/>
            </a:pPr>
            <a:r>
              <a:rPr lang="en-US" altLang="en-US" dirty="0" smtClean="0">
                <a:ea typeface="ＭＳ Ｐゴシック" panose="020B0600070205080204" pitchFamily="34" charset="-128"/>
              </a:rPr>
              <a:t>Perform normal mathematical operations on two rational numbers (addition, subtraction, multiplication, division, exponentiation)</a:t>
            </a:r>
          </a:p>
          <a:p>
            <a:pPr marL="914400" lvl="1" indent="-457200">
              <a:buFont typeface="Arial" panose="020B0604020202020204" pitchFamily="34" charset="0"/>
              <a:buAutoNum type="arabicPeriod" startAt="5"/>
            </a:pPr>
            <a:r>
              <a:rPr lang="en-US" altLang="en-US" dirty="0">
                <a:ea typeface="ＭＳ Ｐゴシック" panose="020B0600070205080204" pitchFamily="34" charset="-128"/>
              </a:rPr>
              <a:t>Logically compare two rational numbers</a:t>
            </a:r>
          </a:p>
          <a:p>
            <a:pPr marL="914400" lvl="1" indent="-457200">
              <a:buFont typeface="Arial" panose="020B0604020202020204" pitchFamily="34" charset="0"/>
              <a:buAutoNum type="arabicPeriod" startAt="5"/>
            </a:pPr>
            <a:r>
              <a:rPr lang="en-US" altLang="en-US" dirty="0">
                <a:ea typeface="ＭＳ Ｐゴシック" panose="020B0600070205080204" pitchFamily="34" charset="-128"/>
              </a:rPr>
              <a:t>Produce a string representation of the rational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number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The objects of the Fraction class will be </a:t>
            </a:r>
            <a:r>
              <a:rPr lang="en-US" altLang="en-US" b="1" dirty="0">
                <a:ea typeface="ＭＳ Ｐゴシック" panose="020B0600070205080204" pitchFamily="34" charset="-128"/>
              </a:rPr>
              <a:t>immutable</a:t>
            </a:r>
            <a:r>
              <a:rPr lang="en-US" altLang="en-US" dirty="0">
                <a:ea typeface="ＭＳ Ｐゴシック" panose="020B0600070205080204" pitchFamily="34" charset="-128"/>
              </a:rPr>
              <a:t> because none of the operations modify the objects’ instance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variables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1A89E-D336-4D20-BC32-CA7AF40FE73E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Required Data Attributes</a:t>
            </a:r>
          </a:p>
        </p:txBody>
      </p:sp>
      <p:sp>
        <p:nvSpPr>
          <p:cNvPr id="92163" name="Content Placeholder 2"/>
          <p:cNvSpPr>
            <a:spLocks noGrp="1"/>
          </p:cNvSpPr>
          <p:nvPr>
            <p:ph idx="1"/>
          </p:nvPr>
        </p:nvSpPr>
        <p:spPr>
          <a:xfrm>
            <a:off x="822959" y="1255006"/>
            <a:ext cx="7543801" cy="1107194"/>
          </a:xfrm>
        </p:spPr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Because a rational number consists of two integers, we need two instance variables to store those values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:</a:t>
            </a: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219200" y="2133600"/>
            <a:ext cx="5715000" cy="762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self._numerator = 0</a:t>
            </a:r>
          </a:p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self._denominator = 1</a:t>
            </a:r>
            <a:endParaRPr lang="en-US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A5FB6-0422-4630-AED5-1C9CBB51887A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22959" y="3209372"/>
            <a:ext cx="7543801" cy="174362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en-US" dirty="0" smtClean="0">
                <a:ea typeface="ＭＳ Ｐゴシック" panose="020B0600070205080204" pitchFamily="34" charset="-128"/>
              </a:rPr>
              <a:t>At no time should the rational number be converted to a floating-point value or we will lose the precision gained from working with rational numbers</a:t>
            </a: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anose="020B0600070205080204" pitchFamily="34" charset="-128"/>
              </a:rPr>
              <a:t>Representing Values Equivalently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Signed values</a:t>
            </a:r>
          </a:p>
          <a:p>
            <a:pPr lvl="1">
              <a:defRPr/>
            </a:pPr>
            <a:r>
              <a:rPr lang="en-US" dirty="0" smtClean="0"/>
              <a:t>Negative </a:t>
            </a:r>
            <a:r>
              <a:rPr lang="en-US" dirty="0"/>
              <a:t>and positive rational numbers each have two forms that can be used </a:t>
            </a:r>
            <a:r>
              <a:rPr lang="en-US" dirty="0" smtClean="0"/>
              <a:t>to specify </a:t>
            </a:r>
            <a:r>
              <a:rPr lang="en-US" dirty="0"/>
              <a:t>the corresponding </a:t>
            </a:r>
            <a:r>
              <a:rPr lang="en-US" dirty="0" smtClean="0"/>
              <a:t>value</a:t>
            </a:r>
          </a:p>
          <a:p>
            <a:pPr lvl="1">
              <a:defRPr/>
            </a:pPr>
            <a:r>
              <a:rPr lang="en-US" dirty="0" smtClean="0"/>
              <a:t>Positive </a:t>
            </a:r>
            <a:r>
              <a:rPr lang="en-US" dirty="0"/>
              <a:t>values can be indicated as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1/2 or –1/–2</a:t>
            </a:r>
            <a:r>
              <a:rPr lang="en-US" dirty="0"/>
              <a:t>, </a:t>
            </a:r>
            <a:r>
              <a:rPr lang="en-US" dirty="0" smtClean="0"/>
              <a:t>and negative </a:t>
            </a:r>
            <a:r>
              <a:rPr lang="en-US" dirty="0"/>
              <a:t>values as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–2/5 or 2/–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 smtClean="0"/>
          </a:p>
          <a:p>
            <a:pPr lvl="1">
              <a:defRPr/>
            </a:pPr>
            <a:r>
              <a:rPr lang="en-US" dirty="0" smtClean="0"/>
              <a:t>When </a:t>
            </a:r>
            <a:r>
              <a:rPr lang="en-US" dirty="0"/>
              <a:t>performing an arithmetic operation or </a:t>
            </a:r>
            <a:r>
              <a:rPr lang="en-US" dirty="0" smtClean="0"/>
              <a:t>logically comparing </a:t>
            </a:r>
            <a:r>
              <a:rPr lang="en-US" dirty="0"/>
              <a:t>two rational numbers, it will be much easier if we have a single </a:t>
            </a:r>
            <a:r>
              <a:rPr lang="en-US" dirty="0" smtClean="0"/>
              <a:t>way to </a:t>
            </a:r>
            <a:r>
              <a:rPr lang="en-US" dirty="0"/>
              <a:t>represent a negative </a:t>
            </a:r>
            <a:r>
              <a:rPr lang="en-US" dirty="0" smtClean="0"/>
              <a:t>value</a:t>
            </a:r>
          </a:p>
          <a:p>
            <a:pPr lvl="1">
              <a:defRPr/>
            </a:pPr>
            <a:r>
              <a:rPr lang="en-US" dirty="0"/>
              <a:t>For simplicity, we choose to set only the numerator to a negative value when the rational number is negative, and both the numerator and denominator will be positive integers when the rational number is </a:t>
            </a:r>
            <a:r>
              <a:rPr lang="en-US" dirty="0" smtClean="0"/>
              <a:t>positive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1F0DA-3364-4C12-B356-3D1318205B21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anose="020B0600070205080204" pitchFamily="34" charset="-128"/>
              </a:rPr>
              <a:t>Representing Values Equivalently </a:t>
            </a:r>
          </a:p>
        </p:txBody>
      </p:sp>
      <p:sp>
        <p:nvSpPr>
          <p:cNvPr id="942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Equivalent fractions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For example, 1/4 can be written as 1/4, 2/8, 16/64, or 123/492</a:t>
            </a:r>
          </a:p>
          <a:p>
            <a:pPr lvl="1"/>
            <a:r>
              <a:rPr lang="en-US" altLang="en-US" dirty="0" smtClean="0">
                <a:ea typeface="ＭＳ Ｐゴシック" panose="020B0600070205080204" pitchFamily="34" charset="-128"/>
              </a:rPr>
              <a:t>It will be much easier to perform the operation if the number is stored in reduced form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C7120-27E1-4884-978B-F3C5F69D15D7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The Constructor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Because 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Fraction</a:t>
            </a:r>
            <a:r>
              <a:rPr lang="en-US" dirty="0" smtClean="0"/>
              <a:t> objects </a:t>
            </a:r>
            <a:r>
              <a:rPr lang="en-US" dirty="0"/>
              <a:t>are immutable, their values must be set when they are created. This </a:t>
            </a:r>
            <a:r>
              <a:rPr lang="en-US" dirty="0" smtClean="0"/>
              <a:t>requires parameter </a:t>
            </a:r>
            <a:r>
              <a:rPr lang="en-US" dirty="0"/>
              <a:t>variables for both the numerator and </a:t>
            </a:r>
            <a:r>
              <a:rPr lang="en-US" dirty="0" smtClean="0"/>
              <a:t>denominator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501138" y="2209800"/>
            <a:ext cx="6187441" cy="381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US" dirty="0">
                <a:latin typeface="Consolas" pitchFamily="49" charset="0"/>
                <a:cs typeface="Consolas" pitchFamily="49" charset="0"/>
              </a:rPr>
              <a:t>def _ _init_ _(self, numerator, denominator) :</a:t>
            </a:r>
            <a:endParaRPr lang="en-US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E8E76-4B19-498C-8268-9C0B31F9DE49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22959" y="2833435"/>
            <a:ext cx="7543801" cy="163914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defRPr/>
            </a:pPr>
            <a:r>
              <a:rPr lang="en-US" dirty="0" smtClean="0"/>
              <a:t>The method must check for special cases: </a:t>
            </a:r>
          </a:p>
          <a:p>
            <a:pPr lvl="1" fontAlgn="auto">
              <a:defRPr/>
            </a:pPr>
            <a:r>
              <a:rPr lang="en-US" dirty="0" smtClean="0">
                <a:solidFill>
                  <a:srgbClr val="0033CC"/>
                </a:solidFill>
              </a:rPr>
              <a:t>Zero denominators</a:t>
            </a:r>
          </a:p>
          <a:p>
            <a:pPr lvl="1" fontAlgn="auto">
              <a:defRPr/>
            </a:pPr>
            <a:r>
              <a:rPr lang="en-US" dirty="0" smtClean="0">
                <a:solidFill>
                  <a:srgbClr val="00B050"/>
                </a:solidFill>
              </a:rPr>
              <a:t>The number represents zero or a negative number</a:t>
            </a:r>
            <a:endParaRPr 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The Constructor</a:t>
            </a:r>
          </a:p>
        </p:txBody>
      </p:sp>
      <p:sp>
        <p:nvSpPr>
          <p:cNvPr id="6" name="Content Placeholder 2"/>
          <p:cNvSpPr txBox="1">
            <a:spLocks noGrp="1"/>
          </p:cNvSpPr>
          <p:nvPr>
            <p:ph idx="1"/>
          </p:nvPr>
        </p:nvSpPr>
        <p:spPr>
          <a:xfrm>
            <a:off x="533401" y="1255006"/>
            <a:ext cx="7833360" cy="3926594"/>
          </a:xfrm>
          <a:noFill/>
          <a:effectLst/>
          <a:extLst/>
        </p:spPr>
        <p:txBody>
          <a:bodyPr>
            <a:noAutofit/>
          </a:bodyPr>
          <a:lstStyle/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def _ _init_ _(self, numerator = 0, denominator = 1) :</a:t>
            </a:r>
          </a:p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    if </a:t>
            </a:r>
            <a:r>
              <a:rPr lang="en-US" sz="18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denominator == 0 :</a:t>
            </a:r>
          </a:p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raise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ZeroDivisionError("Denominator cannot be zero.")</a:t>
            </a:r>
          </a:p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   if </a:t>
            </a:r>
            <a:r>
              <a:rPr lang="en-US" sz="18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numerator == 0 :</a:t>
            </a:r>
          </a:p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self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._numerator = 0</a:t>
            </a:r>
          </a:p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self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._denominator = 1</a:t>
            </a:r>
          </a:p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else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:</a:t>
            </a:r>
          </a:p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       if </a:t>
            </a:r>
            <a:r>
              <a:rPr lang="en-US" sz="18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(numerator &lt; 0 and denominator &gt;= 0 or</a:t>
            </a:r>
          </a:p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           numerator </a:t>
            </a:r>
            <a:r>
              <a:rPr lang="en-US" sz="18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&gt;= 0 and denominator &lt; 0) :</a:t>
            </a:r>
          </a:p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   sign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= -1</a:t>
            </a:r>
          </a:p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else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:</a:t>
            </a:r>
          </a:p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   sign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= 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1</a:t>
            </a:r>
            <a:endParaRPr lang="en-US" sz="1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E9FC3-DE11-4782-AD42-5FBA4513D166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The Constructor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028700" y="1293813"/>
            <a:ext cx="7086600" cy="3124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10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sz="1800" kern="0" dirty="0" smtClean="0">
                <a:latin typeface="Consolas" pitchFamily="49" charset="0"/>
                <a:cs typeface="Consolas" pitchFamily="49" charset="0"/>
              </a:rPr>
              <a:t>    a = abs(numerator)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kern="0" dirty="0" smtClean="0">
                <a:latin typeface="Consolas" pitchFamily="49" charset="0"/>
                <a:cs typeface="Consolas" pitchFamily="49" charset="0"/>
              </a:rPr>
              <a:t>    b = abs(denominator)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kern="0" dirty="0" smtClean="0">
                <a:latin typeface="Consolas" pitchFamily="49" charset="0"/>
                <a:cs typeface="Consolas" pitchFamily="49" charset="0"/>
              </a:rPr>
              <a:t>    while a % b != 0 :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kern="0" dirty="0" smtClean="0">
                <a:latin typeface="Consolas" pitchFamily="49" charset="0"/>
                <a:cs typeface="Consolas" pitchFamily="49" charset="0"/>
              </a:rPr>
              <a:t>        tempA = a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kern="0" dirty="0" smtClean="0">
                <a:latin typeface="Consolas" pitchFamily="49" charset="0"/>
                <a:cs typeface="Consolas" pitchFamily="49" charset="0"/>
              </a:rPr>
              <a:t>        tempB = b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kern="0" dirty="0" smtClean="0">
                <a:latin typeface="Consolas" pitchFamily="49" charset="0"/>
                <a:cs typeface="Consolas" pitchFamily="49" charset="0"/>
              </a:rPr>
              <a:t>        a = tempB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kern="0" dirty="0" smtClean="0">
                <a:latin typeface="Consolas" pitchFamily="49" charset="0"/>
                <a:cs typeface="Consolas" pitchFamily="49" charset="0"/>
              </a:rPr>
              <a:t>        b = tempA % tempB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kern="0" dirty="0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en-US" sz="1800" kern="0" dirty="0" smtClean="0">
                <a:latin typeface="Consolas" pitchFamily="49" charset="0"/>
                <a:cs typeface="Consolas" pitchFamily="49" charset="0"/>
              </a:rPr>
              <a:t>self._numerator = abs(numerator)       # b * sign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kern="0" dirty="0" smtClean="0">
                <a:latin typeface="Consolas" pitchFamily="49" charset="0"/>
                <a:cs typeface="Consolas" pitchFamily="49" charset="0"/>
              </a:rPr>
              <a:t>    self._denominator = abs(denominator)   #b</a:t>
            </a:r>
            <a:endParaRPr lang="en-US" sz="1800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80196-185A-43C6-AFB1-E97D5BFAC749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Testing the Constructor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46125" y="1293813"/>
            <a:ext cx="7651750" cy="22875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10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frac1 = Fraction(1, 8) # Stored as 1/8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frac2 = Fraction(-2, -4) # Stored as 1/2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frac3 = Fraction(-2, 4) # Stored as -1/2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frac4 = Fraction(3, -7) # Stored as -3/7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frac5 = Fraction(0, 15) # Stored as 0/1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frac6 = Fraction(8, 0) # Error! exception is raised.</a:t>
            </a:r>
            <a:endParaRPr lang="en-US" sz="1800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C3176-9C4D-4918-B4A5-2BFDF53CE70E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Comparing Fractions (1)</a:t>
            </a:r>
          </a:p>
        </p:txBody>
      </p:sp>
      <p:sp>
        <p:nvSpPr>
          <p:cNvPr id="993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In Python, we can define and implement methods that will be called automatically when a standard Python operator (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+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,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*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,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==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,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&lt;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) is applied to an instance of the class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For example, to test whether two fractions are equal, we could implement a method:</a:t>
            </a:r>
          </a:p>
          <a:p>
            <a:pPr lvl="1"/>
            <a:r>
              <a:rPr lang="en-US" altLang="en-US" sz="1800" dirty="0" err="1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isequal</a:t>
            </a:r>
            <a:r>
              <a:rPr lang="en-US" altLang="en-US" sz="1800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()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and use it as follows:</a:t>
            </a:r>
          </a:p>
          <a:p>
            <a:endParaRPr lang="en-US" altLang="en-US" dirty="0" smtClean="0">
              <a:ea typeface="ＭＳ Ｐゴシック" panose="020B0600070205080204" pitchFamily="34" charset="-128"/>
            </a:endParaRPr>
          </a:p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371600" y="3529723"/>
            <a:ext cx="5453062" cy="762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10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if frac1.</a:t>
            </a:r>
            <a:r>
              <a:rPr lang="en-US" sz="18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isequal(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frac2</a:t>
            </a:r>
            <a:r>
              <a:rPr lang="en-US" sz="18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: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print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("The fractions are equal.")</a:t>
            </a:r>
            <a:endParaRPr lang="en-US" sz="1800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91338-143A-4E10-BD4B-06A3361E8F1D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Comparing Fractions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9091" y="3693159"/>
            <a:ext cx="7543801" cy="1488441"/>
          </a:xfrm>
        </p:spPr>
        <p:txBody>
          <a:bodyPr/>
          <a:lstStyle/>
          <a:p>
            <a:pPr marL="744538" lvl="1" indent="-287338">
              <a:buFont typeface="Wingdings" panose="05000000000000000000" pitchFamily="2" charset="2"/>
              <a:buNone/>
              <a:defRPr/>
            </a:pPr>
            <a:endParaRPr lang="en-US" dirty="0" smtClean="0">
              <a:solidFill>
                <a:srgbClr val="0033CC"/>
              </a:solidFill>
              <a:latin typeface="Consolas" pitchFamily="49" charset="0"/>
              <a:cs typeface="Consolas" pitchFamily="49" charset="0"/>
            </a:endParaRPr>
          </a:p>
          <a:p>
            <a:pPr lvl="1">
              <a:defRPr/>
            </a:pPr>
            <a:r>
              <a:rPr lang="en-US" dirty="0" smtClean="0"/>
              <a:t>Automatically calls this method when </a:t>
            </a:r>
            <a:r>
              <a:rPr lang="en-US" dirty="0"/>
              <a:t>we compare two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Fraction</a:t>
            </a:r>
            <a:r>
              <a:rPr lang="en-US" sz="1600" dirty="0"/>
              <a:t> </a:t>
            </a:r>
            <a:r>
              <a:rPr lang="en-US" dirty="0"/>
              <a:t>objects using </a:t>
            </a:r>
            <a:r>
              <a:rPr lang="en-US" dirty="0" smtClean="0"/>
              <a:t>the </a:t>
            </a:r>
            <a:r>
              <a:rPr lang="en-US" dirty="0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==</a:t>
            </a:r>
            <a:r>
              <a:rPr lang="en-US" sz="1600" dirty="0" smtClean="0"/>
              <a:t> </a:t>
            </a:r>
            <a:r>
              <a:rPr lang="en-US" dirty="0"/>
              <a:t>operator:</a:t>
            </a:r>
            <a:endParaRPr lang="en-US" dirty="0">
              <a:solidFill>
                <a:srgbClr val="0033CC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039091" y="2819400"/>
            <a:ext cx="7467600" cy="11430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10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def </a:t>
            </a:r>
            <a:r>
              <a:rPr lang="en-US" sz="18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_ _eq_ _(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self, rhsValue</a:t>
            </a:r>
            <a:r>
              <a:rPr lang="en-US" sz="18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: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return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(self._numerator == rhsValue.numerator and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   self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._denominator == rhsValue.denominator)</a:t>
            </a:r>
            <a:endParaRPr lang="en-US" sz="1800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066800" y="4876800"/>
            <a:ext cx="7239000" cy="838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10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if frac1 </a:t>
            </a:r>
            <a:r>
              <a:rPr lang="en-US" sz="18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==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frac2 : # Calls frac1._ _eq_ _(frac2)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print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("The fractions are equal.")</a:t>
            </a:r>
            <a:endParaRPr lang="en-US" sz="1800" kern="0" dirty="0">
              <a:solidFill>
                <a:srgbClr val="333333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FA57-91BD-4647-BB32-32BA7E3A3FB8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75359" y="1407406"/>
            <a:ext cx="7543801" cy="461408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defRPr/>
            </a:pPr>
            <a:r>
              <a:rPr lang="en-US" dirty="0" smtClean="0"/>
              <a:t>Of course, we would prefer to use the operator </a:t>
            </a:r>
            <a:r>
              <a:rPr lang="en-US" dirty="0" smtClean="0">
                <a:solidFill>
                  <a:srgbClr val="0033CC"/>
                </a:solidFill>
              </a:rPr>
              <a:t>==</a:t>
            </a:r>
            <a:endParaRPr lang="en-US" dirty="0" smtClean="0"/>
          </a:p>
          <a:p>
            <a:pPr lvl="1" fontAlgn="auto">
              <a:defRPr/>
            </a:pPr>
            <a:r>
              <a:rPr lang="en-US" dirty="0" smtClean="0"/>
              <a:t>This is achieved by defining the special method: </a:t>
            </a:r>
            <a:endParaRPr lang="en-US" dirty="0" smtClean="0">
              <a:solidFill>
                <a:srgbClr val="0033CC"/>
              </a:solidFill>
              <a:latin typeface="Consolas" pitchFamily="49" charset="0"/>
              <a:cs typeface="Consolas" pitchFamily="49" charset="0"/>
            </a:endParaRPr>
          </a:p>
          <a:p>
            <a:pPr marL="744538" lvl="1" indent="-287338" fontAlgn="auto">
              <a:buFont typeface="Wingdings" panose="05000000000000000000" pitchFamily="2" charset="2"/>
              <a:buNone/>
              <a:defRPr/>
            </a:pPr>
            <a:r>
              <a:rPr lang="en-US" sz="1800" dirty="0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	_ _</a:t>
            </a:r>
            <a:r>
              <a:rPr lang="en-US" sz="1800" dirty="0" err="1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eq</a:t>
            </a:r>
            <a:r>
              <a:rPr lang="en-US" sz="1800" dirty="0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_ _():</a:t>
            </a:r>
          </a:p>
          <a:p>
            <a:pPr marL="744538" lvl="1" indent="-287338" fontAlgn="auto">
              <a:buFont typeface="Wingdings" panose="05000000000000000000" pitchFamily="2" charset="2"/>
              <a:buNone/>
              <a:defRPr/>
            </a:pPr>
            <a:endParaRPr lang="en-US" sz="1800" dirty="0" smtClean="0">
              <a:solidFill>
                <a:srgbClr val="0033CC"/>
              </a:solidFill>
              <a:latin typeface="Consolas" pitchFamily="49" charset="0"/>
              <a:cs typeface="Consolas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Special Methods</a:t>
            </a:r>
          </a:p>
        </p:txBody>
      </p:sp>
      <p:sp>
        <p:nvSpPr>
          <p:cNvPr id="101379" name="Content Placeholder 2"/>
          <p:cNvSpPr>
            <a:spLocks noGrp="1"/>
          </p:cNvSpPr>
          <p:nvPr>
            <p:ph idx="1"/>
          </p:nvPr>
        </p:nvSpPr>
        <p:spPr>
          <a:xfrm>
            <a:off x="975359" y="3125137"/>
            <a:ext cx="7543801" cy="857779"/>
          </a:xfrm>
        </p:spPr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Then the </a:t>
            </a:r>
            <a:r>
              <a:rPr lang="en-US" altLang="en-US" sz="1800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 _float_ _()</a:t>
            </a:r>
            <a:r>
              <a:rPr lang="en-US" altLang="en-US" sz="1800" dirty="0" smtClean="0">
                <a:solidFill>
                  <a:srgbClr val="0033CC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special method is called.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Here is a definition of that method: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907954" y="2514599"/>
            <a:ext cx="3328093" cy="428831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10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x = </a:t>
            </a:r>
            <a:r>
              <a:rPr lang="en-US" sz="1800" dirty="0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float(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frac1</a:t>
            </a:r>
            <a:r>
              <a:rPr lang="en-US" sz="1800" dirty="0" smtClean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)</a:t>
            </a:r>
            <a:endParaRPr lang="en-US" sz="1800" kern="0" dirty="0">
              <a:solidFill>
                <a:srgbClr val="0033CC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549227" y="3949062"/>
            <a:ext cx="6045546" cy="9144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10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def </a:t>
            </a:r>
            <a:r>
              <a:rPr lang="en-US" sz="18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_ _float_ _(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self</a:t>
            </a:r>
            <a:r>
              <a:rPr lang="en-US" sz="18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: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return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self._numerator / self._denominator</a:t>
            </a:r>
            <a:endParaRPr lang="en-US" sz="1800" kern="0" dirty="0">
              <a:solidFill>
                <a:srgbClr val="0033CC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FBEB0-87E8-4D7F-A349-13BE9536E45A}" type="datetime1">
              <a:rPr lang="en-US" smtClean="0"/>
              <a:t>11/16/2015</a:t>
            </a:fld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75359" y="1407406"/>
            <a:ext cx="7543801" cy="461408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altLang="en-US" dirty="0" smtClean="0">
                <a:ea typeface="ＭＳ Ｐゴシック" panose="020B0600070205080204" pitchFamily="34" charset="-128"/>
              </a:rPr>
              <a:t>Some special methods are called when an instance of the class is passed to a built-in function. For example, suppose you attempt to convert a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Fraction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object to a floating point number using the </a:t>
            </a:r>
            <a:r>
              <a:rPr lang="en-US" altLang="en-US" sz="1800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float()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function: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Common Special Methods</a:t>
            </a:r>
          </a:p>
        </p:txBody>
      </p:sp>
      <p:pic>
        <p:nvPicPr>
          <p:cNvPr id="102403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520"/>
          <a:stretch>
            <a:fillRect/>
          </a:stretch>
        </p:blipFill>
        <p:spPr>
          <a:xfrm>
            <a:off x="304800" y="1143000"/>
            <a:ext cx="8458200" cy="4768850"/>
          </a:xfr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888BF-EBEA-4187-A90E-C1EFDAF8E8A8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Common Special Methods</a:t>
            </a:r>
          </a:p>
        </p:txBody>
      </p:sp>
      <p:pic>
        <p:nvPicPr>
          <p:cNvPr id="103429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337"/>
          <a:stretch>
            <a:fillRect/>
          </a:stretch>
        </p:blipFill>
        <p:spPr bwMode="auto">
          <a:xfrm>
            <a:off x="304800" y="1143000"/>
            <a:ext cx="845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30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03" b="-2"/>
          <a:stretch>
            <a:fillRect/>
          </a:stretch>
        </p:blipFill>
        <p:spPr bwMode="auto">
          <a:xfrm>
            <a:off x="304800" y="1639888"/>
            <a:ext cx="8458200" cy="452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DE825-6921-4D26-92F0-CB068E913622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Addition of Fractions</a:t>
            </a:r>
          </a:p>
        </p:txBody>
      </p:sp>
      <p:sp>
        <p:nvSpPr>
          <p:cNvPr id="1044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All of the arithmetic operations that can be performed on a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Fraction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object should return the result in a new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Fraction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object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For example, when the statement below is executed,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frac1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should be added to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frac2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and the result returned as a new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Fraction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object that is assigned to the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newFra</a:t>
            </a:r>
            <a:r>
              <a:rPr lang="en-US" altLang="en-US" sz="1800" dirty="0" err="1" smtClean="0">
                <a:ea typeface="ＭＳ Ｐゴシック" panose="020B0600070205080204" pitchFamily="34" charset="-128"/>
              </a:rPr>
              <a:t>c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variable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2552700" y="3200400"/>
            <a:ext cx="4038600" cy="457200"/>
          </a:xfrm>
          <a:prstGeom prst="rect">
            <a:avLst/>
          </a:prstGeom>
          <a:solidFill>
            <a:srgbClr val="D9D9D9"/>
          </a:solidFill>
          <a:ln>
            <a:noFill/>
          </a:ln>
          <a:effectLst>
            <a:outerShdw blurRad="50800" dist="38100" dir="18900000" algn="bl" rotWithShape="0">
              <a:srgbClr val="808080">
                <a:alpha val="39998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10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newFrac = frac1 + frac2</a:t>
            </a:r>
            <a:endParaRPr lang="en-US" sz="1800" kern="0" dirty="0">
              <a:solidFill>
                <a:srgbClr val="0033CC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F87F5-3748-40C7-BC64-A3C293161E60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Fractional Addition</a:t>
            </a:r>
          </a:p>
        </p:txBody>
      </p:sp>
      <p:sp>
        <p:nvSpPr>
          <p:cNvPr id="1054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From elementary arithmetic, you know that two fractions must have a common denominator in order to add them. If they do not have a common denominator, we can still add them using the formula:</a:t>
            </a:r>
          </a:p>
        </p:txBody>
      </p:sp>
      <p:pic>
        <p:nvPicPr>
          <p:cNvPr id="105478" name="Picture 2" descr="U:\PC\publisher\2013 wiley slides\Ch 5-9, FM\Chapter  9\Media\Illustrations\eqn_9_05_300dp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900" y="2438400"/>
            <a:ext cx="3124200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E1F29-EC69-4DF2-B580-6BA76C57FED1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>
                <a:ea typeface="ＭＳ Ｐゴシック" panose="020B0600070205080204" pitchFamily="34" charset="-128"/>
              </a:rPr>
              <a:t>Defining the Method For Addition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104900" y="1295400"/>
            <a:ext cx="6934200" cy="19050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10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def </a:t>
            </a:r>
            <a:r>
              <a:rPr lang="en-US" sz="18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_ _add_ _(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self, rhsValue</a:t>
            </a:r>
            <a:r>
              <a:rPr lang="en-US" sz="18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: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num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= (self._numerator * rhsValue._denominator +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self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._denominator * rhsValue._numerator)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den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= self._denominator * rhsValue._denominator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return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Fraction(num, den)</a:t>
            </a:r>
            <a:endParaRPr lang="en-US" sz="1800" kern="0" dirty="0">
              <a:solidFill>
                <a:srgbClr val="0033CC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D928C-5059-4361-B0E4-609E47EE6B5C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Logic: Less Than</a:t>
            </a:r>
          </a:p>
        </p:txBody>
      </p:sp>
      <p:sp>
        <p:nvSpPr>
          <p:cNvPr id="1075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Note that </a:t>
            </a:r>
            <a:r>
              <a:rPr lang="en-US" altLang="en-US" i="1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</a:t>
            </a:r>
            <a:r>
              <a:rPr lang="en-US" altLang="en-US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/ </a:t>
            </a:r>
            <a:r>
              <a:rPr lang="en-US" altLang="en-US" i="1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 </a:t>
            </a:r>
            <a:r>
              <a:rPr lang="en-US" altLang="en-US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&lt; </a:t>
            </a:r>
            <a:r>
              <a:rPr lang="en-US" altLang="en-US" i="1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 </a:t>
            </a:r>
            <a:r>
              <a:rPr lang="en-US" altLang="en-US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/ </a:t>
            </a:r>
            <a:r>
              <a:rPr lang="en-US" altLang="en-US" i="1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</a:t>
            </a:r>
            <a:r>
              <a:rPr lang="en-US" altLang="en-US" i="1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when </a:t>
            </a:r>
            <a:r>
              <a:rPr lang="en-US" altLang="en-US" i="1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 </a:t>
            </a:r>
            <a:r>
              <a:rPr lang="en-US" altLang="en-US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· </a:t>
            </a:r>
            <a:r>
              <a:rPr lang="en-US" altLang="en-US" i="1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</a:t>
            </a:r>
            <a:r>
              <a:rPr lang="en-US" altLang="en-US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&lt; </a:t>
            </a:r>
            <a:r>
              <a:rPr lang="en-US" altLang="en-US" i="1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 </a:t>
            </a:r>
            <a:r>
              <a:rPr lang="en-US" altLang="en-US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· </a:t>
            </a:r>
            <a:r>
              <a:rPr lang="en-US" altLang="en-US" i="1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. (Multiply both sides with </a:t>
            </a:r>
            <a:r>
              <a:rPr lang="en-US" altLang="en-US" i="1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 </a:t>
            </a:r>
            <a:r>
              <a:rPr lang="en-US" altLang="en-US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· </a:t>
            </a:r>
            <a:r>
              <a:rPr lang="en-US" altLang="en-US" i="1" dirty="0" smtClean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.)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Based on this observation, the less than operation is implemented by the </a:t>
            </a:r>
            <a:r>
              <a:rPr lang="en-US" altLang="en-US" sz="1800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 _</a:t>
            </a:r>
            <a:r>
              <a:rPr lang="en-US" altLang="en-US" sz="1800" dirty="0" err="1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lt</a:t>
            </a:r>
            <a:r>
              <a:rPr lang="en-US" altLang="en-US" sz="1800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 _()</a:t>
            </a:r>
            <a:r>
              <a:rPr lang="en-US" altLang="en-US" dirty="0" smtClean="0">
                <a:solidFill>
                  <a:srgbClr val="0033CC"/>
                </a:solidFill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method as follows: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1154430" y="2914350"/>
            <a:ext cx="6835141" cy="1295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10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def </a:t>
            </a:r>
            <a:r>
              <a:rPr lang="en-US" sz="18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_ _lt_ _(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self, rhsValue</a:t>
            </a:r>
            <a:r>
              <a:rPr lang="en-US" sz="1800" dirty="0">
                <a:solidFill>
                  <a:srgbClr val="0033CC"/>
                </a:solidFill>
                <a:latin typeface="Consolas" pitchFamily="49" charset="0"/>
                <a:cs typeface="Consolas" pitchFamily="49" charset="0"/>
              </a:rPr>
              <a:t>)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: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return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(self._numerator * rhsValue._denominator  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    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   self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._denominator * rhsValue._numerator)</a:t>
            </a:r>
            <a:endParaRPr lang="en-US" sz="1800" kern="0" dirty="0">
              <a:solidFill>
                <a:srgbClr val="0033CC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02091-2FF2-482B-A52B-4474A0ED8192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Fraction.py</a:t>
            </a:r>
          </a:p>
        </p:txBody>
      </p:sp>
      <p:pic>
        <p:nvPicPr>
          <p:cNvPr id="108547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361"/>
          <a:stretch>
            <a:fillRect/>
          </a:stretch>
        </p:blipFill>
        <p:spPr>
          <a:xfrm>
            <a:off x="533400" y="1219200"/>
            <a:ext cx="7391400" cy="2909888"/>
          </a:xfrm>
        </p:spPr>
      </p:pic>
      <p:pic>
        <p:nvPicPr>
          <p:cNvPr id="108550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55"/>
          <a:stretch>
            <a:fillRect/>
          </a:stretch>
        </p:blipFill>
        <p:spPr bwMode="auto">
          <a:xfrm>
            <a:off x="3429000" y="2971800"/>
            <a:ext cx="5599112" cy="320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B442B-62DF-4989-91F5-D2DB7F668BF2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Fraction.py</a:t>
            </a:r>
          </a:p>
        </p:txBody>
      </p:sp>
      <p:pic>
        <p:nvPicPr>
          <p:cNvPr id="109571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295400"/>
            <a:ext cx="7315200" cy="3640138"/>
          </a:xfrm>
        </p:spPr>
      </p:pic>
      <p:pic>
        <p:nvPicPr>
          <p:cNvPr id="109574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8" y="4953000"/>
            <a:ext cx="7024687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3A03C-FBB3-43A6-992B-7DAB4DF5F4D1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Fraction.py</a:t>
            </a:r>
          </a:p>
        </p:txBody>
      </p:sp>
      <p:pic>
        <p:nvPicPr>
          <p:cNvPr id="110595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1143000"/>
            <a:ext cx="5943600" cy="5356225"/>
          </a:xfr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20DE4-E0BD-4585-A08D-012AE4C3089C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Fraction.py</a:t>
            </a: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pic>
        <p:nvPicPr>
          <p:cNvPr id="111619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2947" y="1600200"/>
            <a:ext cx="7743825" cy="1981200"/>
          </a:xfr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DE48-6484-4C55-92A8-669603EAEF1E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Checking Type</a:t>
            </a:r>
          </a:p>
        </p:txBody>
      </p:sp>
      <p:sp>
        <p:nvSpPr>
          <p:cNvPr id="1126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To ensure that, Python provides the built-in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isinstance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()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function that can be used to check the type of object referenced by a variable.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For example, the constructor for the 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Fraction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class requires two integers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47266" y="2743200"/>
            <a:ext cx="8449469" cy="2057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35E01"/>
              </a:buClr>
              <a:buSzPct val="10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class Fraction :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def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_ _init_ _(self, numerator, denominator) :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if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(not isinstance(numerator, int) or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    not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isinstance(denominator, int)) :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   raise TypeError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smtClean="0">
                <a:latin typeface="Consolas" pitchFamily="49" charset="0"/>
                <a:cs typeface="Consolas" pitchFamily="49" charset="0"/>
              </a:rPr>
              <a:t>             ("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The numerator and denominator must be integers.")</a:t>
            </a:r>
            <a:endParaRPr lang="en-US" sz="1800" kern="0" dirty="0">
              <a:solidFill>
                <a:srgbClr val="0033CC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8D337-E8A8-4125-9A22-CE040A3CAF36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Summary: Classes and Objects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class describes a set of objects with the same behavior</a:t>
            </a:r>
          </a:p>
          <a:p>
            <a:pPr lvl="1"/>
            <a:r>
              <a:rPr lang="en-US" dirty="0" smtClean="0"/>
              <a:t>Every class has a public interface: a collection of methods through which the objects of the class can be manipulated</a:t>
            </a:r>
          </a:p>
          <a:p>
            <a:pPr lvl="1"/>
            <a:r>
              <a:rPr lang="en-US" dirty="0" smtClean="0"/>
              <a:t>Encapsulation is the act of providing a public interface and hiding the implementation details</a:t>
            </a:r>
          </a:p>
          <a:p>
            <a:pPr lvl="1"/>
            <a:r>
              <a:rPr lang="en-US" dirty="0" smtClean="0"/>
              <a:t>Encapsulation enables changes in the implementation without affecting users of a class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2722-0740-4E2C-A203-7D1FDE085F45}" type="datetime1">
              <a:rPr lang="en-US" smtClean="0"/>
              <a:pPr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Summary:  Variables and Methods</a:t>
            </a:r>
          </a:p>
        </p:txBody>
      </p:sp>
      <p:sp>
        <p:nvSpPr>
          <p:cNvPr id="1146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An object</a:t>
            </a:r>
            <a:r>
              <a:rPr lang="en-US" altLang="ja-JP" dirty="0" smtClean="0"/>
              <a:t>’s instance variables store the data required for executing its methods</a:t>
            </a:r>
          </a:p>
          <a:p>
            <a:r>
              <a:rPr lang="en-US" altLang="en-US" dirty="0" smtClean="0"/>
              <a:t>Each object of a class has its own set of instance variables</a:t>
            </a:r>
          </a:p>
          <a:p>
            <a:r>
              <a:rPr lang="en-US" altLang="en-US" dirty="0" smtClean="0"/>
              <a:t>An instance method can access the instance variables of the object on which it acts</a:t>
            </a:r>
          </a:p>
          <a:p>
            <a:r>
              <a:rPr lang="en-US" altLang="en-US" dirty="0" smtClean="0"/>
              <a:t>A private instance variable should only be accessed by the methods of its own class</a:t>
            </a:r>
          </a:p>
          <a:p>
            <a:r>
              <a:rPr lang="en-US" altLang="en-US" dirty="0" smtClean="0"/>
              <a:t>Class variables have a single copy of the variable shared among all of the instances of the class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0E34D-7D88-4214-B7FE-351C55534817}" type="datetime1">
              <a:rPr lang="en-US" smtClean="0"/>
              <a:pPr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smtClean="0">
                <a:ea typeface="ＭＳ Ｐゴシック" panose="020B0600070205080204" pitchFamily="34" charset="-128"/>
              </a:rPr>
              <a:t>Summary: Method Headers, Data</a:t>
            </a:r>
          </a:p>
        </p:txBody>
      </p:sp>
      <p:sp>
        <p:nvSpPr>
          <p:cNvPr id="1157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Method Headers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You can use method headers and method comments to specify the public interface of a class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A </a:t>
            </a:r>
            <a:r>
              <a:rPr lang="en-US" altLang="en-US" dirty="0" err="1" smtClean="0">
                <a:ea typeface="ＭＳ Ｐゴシック" panose="020B0600070205080204" pitchFamily="34" charset="-128"/>
              </a:rPr>
              <a:t>mutator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method changes the object on which it operates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An accessor method does not change the object on which it operates</a:t>
            </a:r>
          </a:p>
          <a:p>
            <a:pPr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Data Representation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For each accessor method, an object must either store or compute the result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Commonly, there is more than one way of representing the data of an object, and you must make a choice</a:t>
            </a:r>
          </a:p>
          <a:p>
            <a:pPr lvl="1">
              <a:spcBef>
                <a:spcPts val="2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Be sure that your data representation supports method calls in any order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A1F7D-94C3-4C85-A099-DF9D7D972383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Summary: Constructors</a:t>
            </a:r>
          </a:p>
        </p:txBody>
      </p:sp>
      <p:sp>
        <p:nvSpPr>
          <p:cNvPr id="1167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 constructor initializes the object</a:t>
            </a:r>
            <a:r>
              <a:rPr lang="en-US" altLang="ja-JP" dirty="0" smtClean="0"/>
              <a:t>’s instance variables </a:t>
            </a:r>
          </a:p>
          <a:p>
            <a:r>
              <a:rPr lang="en-US" altLang="en-US" dirty="0" smtClean="0"/>
              <a:t>A constructor is invoked when an object is created</a:t>
            </a:r>
          </a:p>
          <a:p>
            <a:r>
              <a:rPr lang="en-US" altLang="en-US" dirty="0" smtClean="0"/>
              <a:t>The constructor is defined using the special method name: 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_ _</a:t>
            </a:r>
            <a:r>
              <a:rPr lang="en-US" altLang="en-US" sz="18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altLang="en-US" sz="1800" dirty="0" smtClean="0">
                <a:latin typeface="Consolas" panose="020B0609020204030204" pitchFamily="49" charset="0"/>
                <a:cs typeface="Consolas" panose="020B0609020204030204" pitchFamily="49" charset="0"/>
              </a:rPr>
              <a:t>_ _()</a:t>
            </a:r>
            <a:endParaRPr lang="en-US" altLang="en-US" dirty="0" smtClean="0"/>
          </a:p>
          <a:p>
            <a:r>
              <a:rPr lang="en-US" altLang="en-US" dirty="0" smtClean="0"/>
              <a:t>Default arguments can be used with a constructor to provide different ways of creating an object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10517-AFB3-4E69-97A7-0A6F79DB1DF2}" type="datetime1">
              <a:rPr lang="en-US" smtClean="0"/>
              <a:pPr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smtClean="0">
                <a:ea typeface="ＭＳ Ｐゴシック" panose="020B0600070205080204" pitchFamily="34" charset="-128"/>
              </a:rPr>
              <a:t>Summary: Method Implementation</a:t>
            </a:r>
          </a:p>
        </p:txBody>
      </p:sp>
      <p:sp>
        <p:nvSpPr>
          <p:cNvPr id="1177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The object on which a method is applied is automatically passed to the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self</a:t>
            </a:r>
            <a:r>
              <a:rPr lang="en-US" altLang="en-US" dirty="0" err="1" smtClean="0">
                <a:ea typeface="ＭＳ Ｐゴシック" panose="020B0600070205080204" pitchFamily="34" charset="-128"/>
              </a:rPr>
              <a:t> parameter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variable of the method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In a method, you access instance variables through the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self</a:t>
            </a:r>
            <a:r>
              <a:rPr lang="en-US" altLang="en-US" dirty="0" err="1" smtClean="0">
                <a:ea typeface="ＭＳ Ｐゴシック" panose="020B0600070205080204" pitchFamily="34" charset="-128"/>
              </a:rPr>
              <a:t> parameter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variable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8340C-DBFA-40A0-969C-E435DB500027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Summary: Testing Classes</a:t>
            </a:r>
          </a:p>
        </p:txBody>
      </p:sp>
      <p:sp>
        <p:nvSpPr>
          <p:cNvPr id="1187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A unit test verifies that a class works correctly in isolation, outside a complete program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To test a class, use an environment for interactive testing, or write a tester class to execute test instructions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Determining the expected result in advance is an important part of testing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91707-753A-41D6-B681-EEEB769B7A61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>
                <a:ea typeface="ＭＳ Ｐゴシック" panose="020B0600070205080204" pitchFamily="34" charset="-128"/>
              </a:rPr>
              <a:t>Summary: Object Tracing</a:t>
            </a:r>
          </a:p>
        </p:txBody>
      </p:sp>
      <p:sp>
        <p:nvSpPr>
          <p:cNvPr id="1198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Object tracing is used to visualize object behavior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Write the methods on the front of a card, and the instance variables on the back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Update the values of the instance variables when a </a:t>
            </a:r>
            <a:r>
              <a:rPr lang="en-US" altLang="en-US" dirty="0" err="1" smtClean="0">
                <a:ea typeface="ＭＳ Ｐゴシック" panose="020B0600070205080204" pitchFamily="34" charset="-128"/>
              </a:rPr>
              <a:t>mutator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method is called</a:t>
            </a:r>
          </a:p>
          <a:p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D3350-BDC3-4F63-A20F-33636B2C6E10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smtClean="0">
                <a:ea typeface="ＭＳ Ｐゴシック" panose="020B0600070205080204" pitchFamily="34" charset="-128"/>
              </a:rPr>
              <a:t>Summary: Patterns for Classes</a:t>
            </a:r>
          </a:p>
        </p:txBody>
      </p:sp>
      <p:sp>
        <p:nvSpPr>
          <p:cNvPr id="1208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An instance variable for the total is updated in methods that increase or decrease the total amount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A counter that counts events is incremented in methods that correspond to the events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An object can collect other objects in a list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An object property can be accessed with a getter method and changed with a setter method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If your object can have one of several states that affect the behavior, supply an instance variable for the current state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9BBA4-BD76-4783-85DF-98822B0FBA3E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smtClean="0">
                <a:ea typeface="ＭＳ Ｐゴシック" panose="020B0600070205080204" pitchFamily="34" charset="-128"/>
              </a:rPr>
              <a:t>Summary: Patterns for Classes</a:t>
            </a:r>
          </a:p>
        </p:txBody>
      </p:sp>
      <p:sp>
        <p:nvSpPr>
          <p:cNvPr id="1218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To model a moving object, you need to store and update its position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4C867-F6F9-4B1F-BF27-FBCBD0A8BE40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smtClean="0">
                <a:ea typeface="ＭＳ Ｐゴシック" panose="020B0600070205080204" pitchFamily="34" charset="-128"/>
              </a:rPr>
              <a:t>Summary: Object References</a:t>
            </a:r>
          </a:p>
        </p:txBody>
      </p:sp>
      <p:sp>
        <p:nvSpPr>
          <p:cNvPr id="1228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An object reference specifies the location of an object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Multiple object variables can contain references to the same object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Use the 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is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and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is not</a:t>
            </a:r>
            <a:r>
              <a:rPr lang="en-US" altLang="en-US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operators to test whether two variables are aliases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The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Non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e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reference refers to no object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9CA55-5B44-4027-AF27-666AFEC5A1BB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 smtClean="0">
                <a:ea typeface="ＭＳ Ｐゴシック" panose="020B0600070205080204" pitchFamily="34" charset="-128"/>
              </a:rPr>
              <a:t>Summary: Defining Special Methods</a:t>
            </a:r>
          </a:p>
        </p:txBody>
      </p:sp>
      <p:sp>
        <p:nvSpPr>
          <p:cNvPr id="1239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</a:rPr>
              <a:t>To use a standard operator with objects, define the corresponding special method</a:t>
            </a:r>
          </a:p>
          <a:p>
            <a:r>
              <a:rPr lang="en-US" altLang="en-US" dirty="0" smtClean="0">
                <a:ea typeface="ＭＳ Ｐゴシック" panose="020B0600070205080204" pitchFamily="34" charset="-128"/>
              </a:rPr>
              <a:t>Define the special 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 _</a:t>
            </a:r>
            <a:r>
              <a:rPr lang="en-US" altLang="en-US" sz="1800" dirty="0" err="1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repr</a:t>
            </a:r>
            <a:r>
              <a:rPr lang="en-US" altLang="en-US" sz="1800" dirty="0" smtClean="0">
                <a:latin typeface="Consolas" panose="020B0609020204030204" pitchFamily="49" charset="0"/>
                <a:ea typeface="ＭＳ Ｐゴシック" panose="020B0600070205080204" pitchFamily="34" charset="-128"/>
                <a:cs typeface="Consolas" panose="020B0609020204030204" pitchFamily="49" charset="0"/>
              </a:rPr>
              <a:t>_ _()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 method to create a string representation of an object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3746B-4060-4DB2-BA7B-129FA3143066}" type="datetime1">
              <a:rPr lang="en-US" smtClean="0"/>
              <a:t>11/16/2015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44af493363444fa191aa20d1fd842df69d6d72a"/>
</p:tagLst>
</file>

<file path=ppt/theme/theme1.xml><?xml version="1.0" encoding="utf-8"?>
<a:theme xmlns:a="http://schemas.openxmlformats.org/drawingml/2006/main" name="RMC Presentation">
  <a:themeElements>
    <a:clrScheme name="Custom 1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FFFF00"/>
      </a:accent1>
      <a:accent2>
        <a:srgbClr val="000000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MC Presentation" id="{F133566A-6107-4ECA-B6E3-BC26A31F9F4B}" vid="{0E2C91F3-DABD-4653-8A6F-0A5A5848A15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7111</TotalTime>
  <Words>6602</Words>
  <Application>Microsoft Office PowerPoint</Application>
  <PresentationFormat>On-screen Show (4:3)</PresentationFormat>
  <Paragraphs>909</Paragraphs>
  <Slides>112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20" baseType="lpstr">
      <vt:lpstr>ＭＳ Ｐゴシック</vt:lpstr>
      <vt:lpstr>Arial</vt:lpstr>
      <vt:lpstr>Calibri</vt:lpstr>
      <vt:lpstr>Calibri Light</vt:lpstr>
      <vt:lpstr>Consolas</vt:lpstr>
      <vt:lpstr>Times New Roman</vt:lpstr>
      <vt:lpstr>Wingdings</vt:lpstr>
      <vt:lpstr>RMC Presentation</vt:lpstr>
      <vt:lpstr>Chapter Nine</vt:lpstr>
      <vt:lpstr>Chapter Goals</vt:lpstr>
      <vt:lpstr>Contents</vt:lpstr>
      <vt:lpstr>Object-Oriented Programming</vt:lpstr>
      <vt:lpstr>Objects and Programs</vt:lpstr>
      <vt:lpstr>Objects and Programs</vt:lpstr>
      <vt:lpstr>Python Classes</vt:lpstr>
      <vt:lpstr>Python Classes</vt:lpstr>
      <vt:lpstr>Public Interfaces</vt:lpstr>
      <vt:lpstr>Public Interfaces</vt:lpstr>
      <vt:lpstr>Implementing a Simple Class</vt:lpstr>
      <vt:lpstr>Using the Counter Class</vt:lpstr>
      <vt:lpstr>Using the Counter Class</vt:lpstr>
      <vt:lpstr>Instance Variables</vt:lpstr>
      <vt:lpstr>Instance Variables</vt:lpstr>
      <vt:lpstr>Class Methods</vt:lpstr>
      <vt:lpstr>Class Methods and Attributes</vt:lpstr>
      <vt:lpstr>Example of Encapsulation</vt:lpstr>
      <vt:lpstr>Complete Simple Class Example</vt:lpstr>
      <vt:lpstr>Public Interface of a Class</vt:lpstr>
      <vt:lpstr>Example Public Interface</vt:lpstr>
      <vt:lpstr>Writing the Public Interface</vt:lpstr>
      <vt:lpstr>Using the Class</vt:lpstr>
      <vt:lpstr>Using Methods</vt:lpstr>
      <vt:lpstr>Accessor and Mutator Methods</vt:lpstr>
      <vt:lpstr>Instance Variables of Objects</vt:lpstr>
      <vt:lpstr>Designing the Data Representation</vt:lpstr>
      <vt:lpstr>Programming Tip 9.1</vt:lpstr>
      <vt:lpstr>Programming Tip 9.1</vt:lpstr>
      <vt:lpstr>Constructors</vt:lpstr>
      <vt:lpstr>Default and Named Arguments</vt:lpstr>
      <vt:lpstr>Default and Named Arguments</vt:lpstr>
      <vt:lpstr>Syntax: Constructors</vt:lpstr>
      <vt:lpstr>Constructors: Self</vt:lpstr>
      <vt:lpstr>Object References</vt:lpstr>
      <vt:lpstr>Common Error 9.1 (1)</vt:lpstr>
      <vt:lpstr>Common Error 9.1 (2)</vt:lpstr>
      <vt:lpstr>Implementing Methods</vt:lpstr>
      <vt:lpstr>Syntax: Instance Methods</vt:lpstr>
      <vt:lpstr>Invoking Instance Methods</vt:lpstr>
      <vt:lpstr>Tracing The Method Call</vt:lpstr>
      <vt:lpstr>Accessing Instance Variables</vt:lpstr>
      <vt:lpstr>Accessing Instance Variables</vt:lpstr>
      <vt:lpstr>Calling One Method Within Another</vt:lpstr>
      <vt:lpstr>Example: CashRegister.py (1)</vt:lpstr>
      <vt:lpstr>Programming Tip 9.2</vt:lpstr>
      <vt:lpstr>Class Variables</vt:lpstr>
      <vt:lpstr>Class Variables: Example (1)</vt:lpstr>
      <vt:lpstr>Class Variables: Example (2)</vt:lpstr>
      <vt:lpstr>Class Variables: Example (3)</vt:lpstr>
      <vt:lpstr>Testing a Class</vt:lpstr>
      <vt:lpstr>Choices for Testing: The Python shell</vt:lpstr>
      <vt:lpstr>Choices for Testing: Test Drivers</vt:lpstr>
      <vt:lpstr>Steps Performed by a Tester Program</vt:lpstr>
      <vt:lpstr>Example Test Program</vt:lpstr>
      <vt:lpstr>Test Drivers: Plan Beforehand</vt:lpstr>
      <vt:lpstr>Test Drivers: Using Modules</vt:lpstr>
      <vt:lpstr>Steps to Implementing a Class</vt:lpstr>
      <vt:lpstr>Steps to Implementing a Class</vt:lpstr>
      <vt:lpstr>Steps to Implementing a Class</vt:lpstr>
      <vt:lpstr>Problem Solving: Tracing Objects</vt:lpstr>
      <vt:lpstr>Mutator Methods and Cards</vt:lpstr>
      <vt:lpstr>Problem Solving: Patterns for Object Data</vt:lpstr>
      <vt:lpstr>Patterns:  Keeping a Total</vt:lpstr>
      <vt:lpstr>Patterns:  Counting Events</vt:lpstr>
      <vt:lpstr>Patterns:  Collecting Values</vt:lpstr>
      <vt:lpstr>Patterns:  Managing Properties</vt:lpstr>
      <vt:lpstr>Patterns:  Modeling Object States</vt:lpstr>
      <vt:lpstr>Patterns:  Object Position</vt:lpstr>
      <vt:lpstr>Object References</vt:lpstr>
      <vt:lpstr>Shared References</vt:lpstr>
      <vt:lpstr>Testing if References are Aliases</vt:lpstr>
      <vt:lpstr>The None reference</vt:lpstr>
      <vt:lpstr>The self reference</vt:lpstr>
      <vt:lpstr>Using self to Invoke Other Methods </vt:lpstr>
      <vt:lpstr>Passing self as a Parameter </vt:lpstr>
      <vt:lpstr>Object Lifetimes: Creation</vt:lpstr>
      <vt:lpstr>Object Lifetimes: Cleaning Up</vt:lpstr>
      <vt:lpstr>Writing a Fraction Class</vt:lpstr>
      <vt:lpstr>Designing the Fraction Class</vt:lpstr>
      <vt:lpstr>Required Data Attributes</vt:lpstr>
      <vt:lpstr>Representing Values Equivalently </vt:lpstr>
      <vt:lpstr>Representing Values Equivalently </vt:lpstr>
      <vt:lpstr>The Constructor (1)</vt:lpstr>
      <vt:lpstr>The Constructor</vt:lpstr>
      <vt:lpstr>The Constructor</vt:lpstr>
      <vt:lpstr>Testing the Constructor</vt:lpstr>
      <vt:lpstr>Comparing Fractions (1)</vt:lpstr>
      <vt:lpstr>Comparing Fractions (2)</vt:lpstr>
      <vt:lpstr>Special Methods</vt:lpstr>
      <vt:lpstr>Common Special Methods</vt:lpstr>
      <vt:lpstr>Common Special Methods</vt:lpstr>
      <vt:lpstr>Addition of Fractions</vt:lpstr>
      <vt:lpstr>Fractional Addition</vt:lpstr>
      <vt:lpstr>Defining the Method For Addition</vt:lpstr>
      <vt:lpstr>Logic: Less Than</vt:lpstr>
      <vt:lpstr>Fraction.py</vt:lpstr>
      <vt:lpstr>Fraction.py</vt:lpstr>
      <vt:lpstr>Fraction.py</vt:lpstr>
      <vt:lpstr>Fraction.py</vt:lpstr>
      <vt:lpstr>Checking Type</vt:lpstr>
      <vt:lpstr>Summary: Classes and Objects</vt:lpstr>
      <vt:lpstr>Summary:  Variables and Methods</vt:lpstr>
      <vt:lpstr>Summary: Method Headers, Data</vt:lpstr>
      <vt:lpstr>Summary: Constructors</vt:lpstr>
      <vt:lpstr>Summary: Method Implementation</vt:lpstr>
      <vt:lpstr>Summary: Testing Classes</vt:lpstr>
      <vt:lpstr>Summary: Object Tracing</vt:lpstr>
      <vt:lpstr>Summary: Patterns for Classes</vt:lpstr>
      <vt:lpstr>Summary: Patterns for Classes</vt:lpstr>
      <vt:lpstr>Summary: Object References</vt:lpstr>
      <vt:lpstr>Summary: Defining Special Methods</vt:lpstr>
    </vt:vector>
  </TitlesOfParts>
  <Company>Technetrain.com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8:  Objects and Classes</dc:title>
  <dc:subject>Java for Everyone 2e</dc:subject>
  <dc:description>Based on bjlo_ch08_8.pdf</dc:description>
  <cp:lastModifiedBy>Amanda Stouder</cp:lastModifiedBy>
  <cp:revision>598</cp:revision>
  <dcterms:created xsi:type="dcterms:W3CDTF">2007-02-01T21:32:19Z</dcterms:created>
  <dcterms:modified xsi:type="dcterms:W3CDTF">2015-11-16T15:44:56Z</dcterms:modified>
  <cp:contentStatus>Final Draft</cp:contentStatus>
</cp:coreProperties>
</file>